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312" r:id="rId4"/>
    <p:sldId id="313" r:id="rId5"/>
    <p:sldId id="314" r:id="rId6"/>
    <p:sldId id="315" r:id="rId7"/>
    <p:sldId id="316" r:id="rId8"/>
    <p:sldId id="317" r:id="rId9"/>
    <p:sldId id="265" r:id="rId10"/>
    <p:sldId id="266" r:id="rId11"/>
    <p:sldId id="267" r:id="rId12"/>
    <p:sldId id="259" r:id="rId13"/>
    <p:sldId id="269" r:id="rId14"/>
    <p:sldId id="271" r:id="rId15"/>
    <p:sldId id="272" r:id="rId16"/>
    <p:sldId id="273" r:id="rId17"/>
    <p:sldId id="311" r:id="rId18"/>
    <p:sldId id="318" r:id="rId19"/>
    <p:sldId id="310" r:id="rId20"/>
    <p:sldId id="275" r:id="rId21"/>
    <p:sldId id="276" r:id="rId22"/>
    <p:sldId id="261" r:id="rId23"/>
    <p:sldId id="277" r:id="rId24"/>
    <p:sldId id="268" r:id="rId25"/>
    <p:sldId id="270" r:id="rId26"/>
    <p:sldId id="319" r:id="rId27"/>
    <p:sldId id="320" r:id="rId28"/>
    <p:sldId id="279" r:id="rId29"/>
  </p:sldIdLst>
  <p:sldSz cx="14630400" cy="8229600"/>
  <p:notesSz cx="8229600" cy="14630400"/>
  <p:embeddedFontLst>
    <p:embeddedFont>
      <p:font typeface="Aptos Narrow" panose="020B0004020202020204" pitchFamily="34" charset="0"/>
      <p:regular r:id="rId31"/>
      <p:bold r:id="rId32"/>
      <p:italic r:id="rId33"/>
      <p:boldItalic r:id="rId34"/>
    </p:embeddedFont>
    <p:embeddedFont>
      <p:font typeface="Arial Rounded MT Bold" panose="020F0704030504030204" pitchFamily="34" charset="0"/>
      <p:regular r:id="rId35"/>
    </p:embeddedFont>
    <p:embeddedFont>
      <p:font typeface="Quattrocento" panose="02020502030000000404" pitchFamily="18" charset="0"/>
      <p:regular r:id="rId36"/>
      <p:bold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332"/>
    <a:srgbClr val="F9EEE7"/>
    <a:srgbClr val="948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938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79180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899510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04812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0253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57003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26746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40928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27192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32995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A047B1-3350-47E8-ABF9-836F8C157C74}" type="slidenum">
              <a:rPr lang="en-US" smtClean="0"/>
              <a:t>19</a:t>
            </a:fld>
            <a:endParaRPr lang="en-US"/>
          </a:p>
        </p:txBody>
      </p:sp>
    </p:spTree>
    <p:extLst>
      <p:ext uri="{BB962C8B-B14F-4D97-AF65-F5344CB8AC3E}">
        <p14:creationId xmlns:p14="http://schemas.microsoft.com/office/powerpoint/2010/main" val="2986425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3" name="Google Shape;64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txBody>
          <a:bodyPr/>
          <a:lstStyle/>
          <a:p>
            <a:endParaRPr lang="en-US"/>
          </a:p>
        </p:txBody>
      </p:sp>
      <p:sp>
        <p:nvSpPr>
          <p:cNvPr id="3" name="Shape 1"/>
          <p:cNvSpPr/>
          <p:nvPr/>
        </p:nvSpPr>
        <p:spPr>
          <a:xfrm>
            <a:off x="0" y="0"/>
            <a:ext cx="14630400" cy="8229600"/>
          </a:xfrm>
          <a:prstGeom prst="rect">
            <a:avLst/>
          </a:prstGeom>
          <a:solidFill>
            <a:srgbClr val="123332"/>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txBody>
          <a:bodyPr/>
          <a:lstStyle/>
          <a:p>
            <a:endParaRPr lang="en-US"/>
          </a:p>
        </p:txBody>
      </p:sp>
      <p:sp>
        <p:nvSpPr>
          <p:cNvPr id="3" name="Shape 1"/>
          <p:cNvSpPr/>
          <p:nvPr/>
        </p:nvSpPr>
        <p:spPr>
          <a:xfrm>
            <a:off x="0" y="0"/>
            <a:ext cx="14630400" cy="8229600"/>
          </a:xfrm>
          <a:prstGeom prst="rect">
            <a:avLst/>
          </a:prstGeom>
          <a:solidFill>
            <a:srgbClr val="123332"/>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txBody>
          <a:bodyPr/>
          <a:lstStyle/>
          <a:p>
            <a:endParaRPr lang="en-US"/>
          </a:p>
        </p:txBody>
      </p:sp>
      <p:sp>
        <p:nvSpPr>
          <p:cNvPr id="3" name="Shape 1"/>
          <p:cNvSpPr/>
          <p:nvPr/>
        </p:nvSpPr>
        <p:spPr>
          <a:xfrm>
            <a:off x="0" y="0"/>
            <a:ext cx="14630400" cy="8229600"/>
          </a:xfrm>
          <a:prstGeom prst="rect">
            <a:avLst/>
          </a:prstGeom>
          <a:solidFill>
            <a:srgbClr val="123332"/>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365760" y="5085080"/>
            <a:ext cx="1706880" cy="292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2499360" y="5085080"/>
            <a:ext cx="2316480" cy="292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5242560" y="5085080"/>
            <a:ext cx="1706880" cy="292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1795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14.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4.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7.sv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8.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8.xml"/><Relationship Id="rId4"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slideLayout" Target="../slideLayouts/slideLayout9.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BD2CEEF-FDB9-97FE-00F3-0B6BEC2FABFE}"/>
              </a:ext>
            </a:extLst>
          </p:cNvPr>
          <p:cNvSpPr/>
          <p:nvPr/>
        </p:nvSpPr>
        <p:spPr>
          <a:xfrm>
            <a:off x="-350706" y="-439142"/>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5" name="Freeform 13">
            <a:extLst>
              <a:ext uri="{FF2B5EF4-FFF2-40B4-BE49-F238E27FC236}">
                <a16:creationId xmlns:a16="http://schemas.microsoft.com/office/drawing/2014/main" id="{569ADBFD-BE8A-6F6C-F83F-A7B74D674CEE}"/>
              </a:ext>
            </a:extLst>
          </p:cNvPr>
          <p:cNvSpPr/>
          <p:nvPr/>
        </p:nvSpPr>
        <p:spPr>
          <a:xfrm>
            <a:off x="0" y="0"/>
            <a:ext cx="4245802" cy="2526193"/>
          </a:xfrm>
          <a:custGeom>
            <a:avLst/>
            <a:gdLst/>
            <a:ahLst/>
            <a:cxnLst/>
            <a:rect l="l" t="t" r="r" b="b"/>
            <a:pathLst>
              <a:path w="4769223" h="4552440">
                <a:moveTo>
                  <a:pt x="0" y="0"/>
                </a:moveTo>
                <a:lnTo>
                  <a:pt x="4769223" y="0"/>
                </a:lnTo>
                <a:lnTo>
                  <a:pt x="4769223" y="4552440"/>
                </a:lnTo>
                <a:lnTo>
                  <a:pt x="0" y="45524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13">
            <a:extLst>
              <a:ext uri="{FF2B5EF4-FFF2-40B4-BE49-F238E27FC236}">
                <a16:creationId xmlns:a16="http://schemas.microsoft.com/office/drawing/2014/main" id="{1F62BAF5-6B45-A1A7-DFF9-1E53784D5B96}"/>
              </a:ext>
            </a:extLst>
          </p:cNvPr>
          <p:cNvSpPr/>
          <p:nvPr/>
        </p:nvSpPr>
        <p:spPr>
          <a:xfrm flipV="1">
            <a:off x="0" y="5739693"/>
            <a:ext cx="4245802" cy="2526193"/>
          </a:xfrm>
          <a:custGeom>
            <a:avLst/>
            <a:gdLst/>
            <a:ahLst/>
            <a:cxnLst/>
            <a:rect l="l" t="t" r="r" b="b"/>
            <a:pathLst>
              <a:path w="4769223" h="4552440">
                <a:moveTo>
                  <a:pt x="0" y="0"/>
                </a:moveTo>
                <a:lnTo>
                  <a:pt x="4769223" y="0"/>
                </a:lnTo>
                <a:lnTo>
                  <a:pt x="4769223" y="4552440"/>
                </a:lnTo>
                <a:lnTo>
                  <a:pt x="0" y="45524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Rectangle 16">
            <a:extLst>
              <a:ext uri="{FF2B5EF4-FFF2-40B4-BE49-F238E27FC236}">
                <a16:creationId xmlns:a16="http://schemas.microsoft.com/office/drawing/2014/main" id="{ABC2D4B6-C45E-6DD6-DEDF-465B1585A6A6}"/>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3">
            <a:extLst>
              <a:ext uri="{FF2B5EF4-FFF2-40B4-BE49-F238E27FC236}">
                <a16:creationId xmlns:a16="http://schemas.microsoft.com/office/drawing/2014/main" id="{B75F589C-C071-9489-F792-7FE104F5F183}"/>
              </a:ext>
            </a:extLst>
          </p:cNvPr>
          <p:cNvSpPr/>
          <p:nvPr/>
        </p:nvSpPr>
        <p:spPr>
          <a:xfrm flipH="1">
            <a:off x="10384600" y="0"/>
            <a:ext cx="4245802" cy="2526193"/>
          </a:xfrm>
          <a:custGeom>
            <a:avLst/>
            <a:gdLst/>
            <a:ahLst/>
            <a:cxnLst/>
            <a:rect l="l" t="t" r="r" b="b"/>
            <a:pathLst>
              <a:path w="4769223" h="4552440">
                <a:moveTo>
                  <a:pt x="0" y="0"/>
                </a:moveTo>
                <a:lnTo>
                  <a:pt x="4769223" y="0"/>
                </a:lnTo>
                <a:lnTo>
                  <a:pt x="4769223" y="4552440"/>
                </a:lnTo>
                <a:lnTo>
                  <a:pt x="0" y="45524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3">
            <a:extLst>
              <a:ext uri="{FF2B5EF4-FFF2-40B4-BE49-F238E27FC236}">
                <a16:creationId xmlns:a16="http://schemas.microsoft.com/office/drawing/2014/main" id="{1244E1A0-06C7-BCE0-E2F9-8C72BB6130B4}"/>
              </a:ext>
            </a:extLst>
          </p:cNvPr>
          <p:cNvSpPr/>
          <p:nvPr/>
        </p:nvSpPr>
        <p:spPr>
          <a:xfrm flipH="1" flipV="1">
            <a:off x="10384600" y="5739693"/>
            <a:ext cx="4245802" cy="2526193"/>
          </a:xfrm>
          <a:custGeom>
            <a:avLst/>
            <a:gdLst/>
            <a:ahLst/>
            <a:cxnLst/>
            <a:rect l="l" t="t" r="r" b="b"/>
            <a:pathLst>
              <a:path w="4769223" h="4552440">
                <a:moveTo>
                  <a:pt x="0" y="0"/>
                </a:moveTo>
                <a:lnTo>
                  <a:pt x="4769223" y="0"/>
                </a:lnTo>
                <a:lnTo>
                  <a:pt x="4769223" y="4552440"/>
                </a:lnTo>
                <a:lnTo>
                  <a:pt x="0" y="45524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4" name="Picture 3" descr="A logo with text on it">
            <a:extLst>
              <a:ext uri="{FF2B5EF4-FFF2-40B4-BE49-F238E27FC236}">
                <a16:creationId xmlns:a16="http://schemas.microsoft.com/office/drawing/2014/main" id="{8ADC374B-C7B3-A892-2773-7BDF23591479}"/>
              </a:ext>
            </a:extLst>
          </p:cNvPr>
          <p:cNvPicPr>
            <a:picLocks noChangeAspect="1"/>
          </p:cNvPicPr>
          <p:nvPr/>
        </p:nvPicPr>
        <p:blipFill>
          <a:blip r:embed="rId9"/>
          <a:stretch>
            <a:fillRect/>
          </a:stretch>
        </p:blipFill>
        <p:spPr>
          <a:xfrm>
            <a:off x="370940" y="-750773"/>
            <a:ext cx="12881000" cy="888685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51B77AF-63AC-9E25-5B88-4A46EDFF867B}"/>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9">
            <a:extLst>
              <a:ext uri="{FF2B5EF4-FFF2-40B4-BE49-F238E27FC236}">
                <a16:creationId xmlns:a16="http://schemas.microsoft.com/office/drawing/2014/main" id="{31E3A342-E7D9-9D70-C86C-A8ADAF775DEE}"/>
              </a:ext>
            </a:extLst>
          </p:cNvPr>
          <p:cNvSpPr/>
          <p:nvPr/>
        </p:nvSpPr>
        <p:spPr>
          <a:xfrm>
            <a:off x="10201857" y="4889464"/>
            <a:ext cx="1308763" cy="1355592"/>
          </a:xfrm>
          <a:custGeom>
            <a:avLst/>
            <a:gdLst/>
            <a:ahLst/>
            <a:cxnLst/>
            <a:rect l="l" t="t" r="r" b="b"/>
            <a:pathLst>
              <a:path w="1308763" h="1355592">
                <a:moveTo>
                  <a:pt x="0" y="0"/>
                </a:moveTo>
                <a:lnTo>
                  <a:pt x="1308763" y="0"/>
                </a:lnTo>
                <a:lnTo>
                  <a:pt x="1308763" y="1355592"/>
                </a:lnTo>
                <a:lnTo>
                  <a:pt x="0" y="13555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9">
            <a:extLst>
              <a:ext uri="{FF2B5EF4-FFF2-40B4-BE49-F238E27FC236}">
                <a16:creationId xmlns:a16="http://schemas.microsoft.com/office/drawing/2014/main" id="{8CC89686-BED7-A40F-B00E-08B72B6BD953}"/>
              </a:ext>
            </a:extLst>
          </p:cNvPr>
          <p:cNvSpPr/>
          <p:nvPr/>
        </p:nvSpPr>
        <p:spPr>
          <a:xfrm>
            <a:off x="-104636" y="5380117"/>
            <a:ext cx="1308763" cy="1355592"/>
          </a:xfrm>
          <a:custGeom>
            <a:avLst/>
            <a:gdLst/>
            <a:ahLst/>
            <a:cxnLst/>
            <a:rect l="l" t="t" r="r" b="b"/>
            <a:pathLst>
              <a:path w="1308763" h="1355592">
                <a:moveTo>
                  <a:pt x="0" y="0"/>
                </a:moveTo>
                <a:lnTo>
                  <a:pt x="1308763" y="0"/>
                </a:lnTo>
                <a:lnTo>
                  <a:pt x="1308763" y="1355592"/>
                </a:lnTo>
                <a:lnTo>
                  <a:pt x="0" y="13555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pic>
        <p:nvPicPr>
          <p:cNvPr id="12" name="Picture 11" descr="A blue and white machine">
            <a:extLst>
              <a:ext uri="{FF2B5EF4-FFF2-40B4-BE49-F238E27FC236}">
                <a16:creationId xmlns:a16="http://schemas.microsoft.com/office/drawing/2014/main" id="{9E923003-D42A-E0E7-3355-973F9658DC0D}"/>
              </a:ext>
            </a:extLst>
          </p:cNvPr>
          <p:cNvPicPr>
            <a:picLocks noChangeAspect="1"/>
          </p:cNvPicPr>
          <p:nvPr/>
        </p:nvPicPr>
        <p:blipFill>
          <a:blip r:embed="rId5"/>
          <a:stretch>
            <a:fillRect/>
          </a:stretch>
        </p:blipFill>
        <p:spPr>
          <a:xfrm>
            <a:off x="3443378" y="0"/>
            <a:ext cx="8229600" cy="8229600"/>
          </a:xfrm>
          <a:prstGeom prst="rect">
            <a:avLst/>
          </a:prstGeom>
        </p:spPr>
      </p:pic>
      <p:sp>
        <p:nvSpPr>
          <p:cNvPr id="13" name="Rectangle 12">
            <a:extLst>
              <a:ext uri="{FF2B5EF4-FFF2-40B4-BE49-F238E27FC236}">
                <a16:creationId xmlns:a16="http://schemas.microsoft.com/office/drawing/2014/main" id="{AF753C5E-880B-52C4-BFF7-BC0ADF9339E3}"/>
              </a:ext>
            </a:extLst>
          </p:cNvPr>
          <p:cNvSpPr/>
          <p:nvPr/>
        </p:nvSpPr>
        <p:spPr>
          <a:xfrm>
            <a:off x="-1232860" y="-590199"/>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Text 1"/>
          <p:cNvSpPr/>
          <p:nvPr/>
        </p:nvSpPr>
        <p:spPr>
          <a:xfrm>
            <a:off x="749737" y="1857009"/>
            <a:ext cx="4099084" cy="378023"/>
          </a:xfrm>
          <a:prstGeom prst="rect">
            <a:avLst/>
          </a:prstGeom>
          <a:noFill/>
          <a:ln/>
        </p:spPr>
        <p:txBody>
          <a:bodyPr wrap="none" lIns="0" tIns="0" rIns="0" bIns="0" rtlCol="0" anchor="t"/>
          <a:lstStyle/>
          <a:p>
            <a:pPr marL="0" indent="0" algn="l">
              <a:lnSpc>
                <a:spcPts val="2950"/>
              </a:lnSpc>
              <a:buNone/>
            </a:pPr>
            <a:r>
              <a:rPr lang="en-US" sz="2350" b="1"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Company: </a:t>
            </a:r>
            <a:r>
              <a:rPr lang="en-US" sz="2350" dirty="0">
                <a:solidFill>
                  <a:srgbClr val="FFD9BE"/>
                </a:solidFill>
                <a:latin typeface="Quattrocento" pitchFamily="34" charset="0"/>
                <a:ea typeface="Quattrocento" pitchFamily="34" charset="-122"/>
                <a:cs typeface="Quattrocento" pitchFamily="34" charset="-120"/>
              </a:rPr>
              <a:t>HPS – Cairo Branch</a:t>
            </a:r>
            <a:endParaRPr lang="en-US" sz="2350" dirty="0"/>
          </a:p>
        </p:txBody>
      </p:sp>
      <p:sp>
        <p:nvSpPr>
          <p:cNvPr id="4" name="Text 2"/>
          <p:cNvSpPr/>
          <p:nvPr/>
        </p:nvSpPr>
        <p:spPr>
          <a:xfrm>
            <a:off x="749737" y="2425755"/>
            <a:ext cx="13130927" cy="342662"/>
          </a:xfrm>
          <a:prstGeom prst="rect">
            <a:avLst/>
          </a:prstGeom>
          <a:noFill/>
          <a:ln/>
        </p:spPr>
        <p:txBody>
          <a:bodyPr wrap="none" lIns="0" tIns="0" rIns="0" bIns="0" rtlCol="0" anchor="t"/>
          <a:lstStyle/>
          <a:p>
            <a:pPr marL="0" indent="0" algn="l">
              <a:lnSpc>
                <a:spcPts val="2650"/>
              </a:lnSpc>
              <a:buNone/>
            </a:pPr>
            <a:r>
              <a:rPr lang="en-US" b="1" dirty="0">
                <a:solidFill>
                  <a:srgbClr val="F9EEE7"/>
                </a:solidFill>
                <a:latin typeface="Quattrocento" pitchFamily="34" charset="0"/>
                <a:ea typeface="Quattrocento" pitchFamily="34" charset="-122"/>
                <a:cs typeface="Quattrocento" pitchFamily="34" charset="-120"/>
              </a:rPr>
              <a:t>Type:</a:t>
            </a:r>
            <a:r>
              <a:rPr lang="en-US" dirty="0">
                <a:solidFill>
                  <a:srgbClr val="F9EEE7"/>
                </a:solidFill>
                <a:latin typeface="Quattrocento" pitchFamily="34" charset="0"/>
                <a:ea typeface="Quattrocento" pitchFamily="34" charset="-122"/>
                <a:cs typeface="Quattrocento" pitchFamily="34" charset="-120"/>
              </a:rPr>
              <a:t> Egyptian company specialized in selling and maintaining electrical devices for milk analysis.</a:t>
            </a:r>
            <a:endParaRPr lang="en-US" dirty="0"/>
          </a:p>
        </p:txBody>
      </p:sp>
      <p:sp>
        <p:nvSpPr>
          <p:cNvPr id="5" name="Text 3"/>
          <p:cNvSpPr/>
          <p:nvPr/>
        </p:nvSpPr>
        <p:spPr>
          <a:xfrm>
            <a:off x="749737" y="3089767"/>
            <a:ext cx="3024426" cy="378023"/>
          </a:xfrm>
          <a:prstGeom prst="rect">
            <a:avLst/>
          </a:prstGeom>
          <a:noFill/>
          <a:ln/>
        </p:spPr>
        <p:txBody>
          <a:bodyPr wrap="none" lIns="0" tIns="0" rIns="0" bIns="0" rtlCol="0" anchor="t"/>
          <a:lstStyle/>
          <a:p>
            <a:pPr marL="0" indent="0" algn="l">
              <a:lnSpc>
                <a:spcPts val="2950"/>
              </a:lnSpc>
              <a:buNone/>
            </a:pPr>
            <a:r>
              <a:rPr lang="en-US" sz="2400" b="1" dirty="0">
                <a:solidFill>
                  <a:srgbClr val="FFD9BE"/>
                </a:solidFill>
                <a:latin typeface="Quattrocento" pitchFamily="34" charset="0"/>
                <a:ea typeface="Quattrocento" pitchFamily="34" charset="-122"/>
                <a:cs typeface="Quattrocento" pitchFamily="34" charset="-120"/>
              </a:rPr>
              <a:t>Campaign Objective:</a:t>
            </a:r>
            <a:endParaRPr lang="en-US" sz="2400" b="1" dirty="0"/>
          </a:p>
        </p:txBody>
      </p:sp>
      <p:sp>
        <p:nvSpPr>
          <p:cNvPr id="6" name="Text 4"/>
          <p:cNvSpPr/>
          <p:nvPr/>
        </p:nvSpPr>
        <p:spPr>
          <a:xfrm>
            <a:off x="749737" y="3789140"/>
            <a:ext cx="13130927" cy="685324"/>
          </a:xfrm>
          <a:prstGeom prst="rect">
            <a:avLst/>
          </a:prstGeom>
          <a:noFill/>
          <a:ln/>
        </p:spPr>
        <p:txBody>
          <a:bodyPr wrap="square" lIns="0" tIns="0" rIns="0" bIns="0" rtlCol="0" anchor="t"/>
          <a:lstStyle/>
          <a:p>
            <a:pPr marL="0" indent="0" algn="l">
              <a:lnSpc>
                <a:spcPts val="2650"/>
              </a:lnSpc>
              <a:buNone/>
            </a:pPr>
            <a:r>
              <a:rPr lang="en-US" dirty="0">
                <a:solidFill>
                  <a:srgbClr val="F9EEE7"/>
                </a:solidFill>
                <a:latin typeface="Quattrocento" pitchFamily="34" charset="0"/>
                <a:ea typeface="Quattrocento" pitchFamily="34" charset="-122"/>
                <a:cs typeface="Quattrocento" pitchFamily="34" charset="-120"/>
              </a:rPr>
              <a:t>Long-term awareness campaign to introduce </a:t>
            </a:r>
            <a:r>
              <a:rPr lang="en-US" b="1" dirty="0">
                <a:solidFill>
                  <a:srgbClr val="EF9C82"/>
                </a:solidFill>
                <a:latin typeface="Quattrocento" pitchFamily="34" charset="0"/>
                <a:ea typeface="Quattrocento" pitchFamily="34" charset="-122"/>
                <a:cs typeface="Quattrocento" pitchFamily="34" charset="-120"/>
              </a:rPr>
              <a:t>HPS Cairo</a:t>
            </a:r>
            <a:r>
              <a:rPr lang="en-US" dirty="0">
                <a:solidFill>
                  <a:srgbClr val="F9EEE7"/>
                </a:solidFill>
                <a:latin typeface="Quattrocento" pitchFamily="34" charset="0"/>
                <a:ea typeface="Quattrocento" pitchFamily="34" charset="-122"/>
                <a:cs typeface="Quattrocento" pitchFamily="34" charset="-120"/>
              </a:rPr>
              <a:t> as a trusted provider of dairy analysis devices and maintenance services in Egypt.</a:t>
            </a:r>
            <a:endParaRPr lang="en-US" dirty="0"/>
          </a:p>
        </p:txBody>
      </p:sp>
      <p:sp>
        <p:nvSpPr>
          <p:cNvPr id="7" name="Text 5"/>
          <p:cNvSpPr/>
          <p:nvPr/>
        </p:nvSpPr>
        <p:spPr>
          <a:xfrm>
            <a:off x="749737" y="4795813"/>
            <a:ext cx="3024426" cy="378023"/>
          </a:xfrm>
          <a:prstGeom prst="rect">
            <a:avLst/>
          </a:prstGeom>
          <a:noFill/>
          <a:ln/>
        </p:spPr>
        <p:txBody>
          <a:bodyPr wrap="none" lIns="0" tIns="0" rIns="0" bIns="0" rtlCol="0" anchor="t"/>
          <a:lstStyle/>
          <a:p>
            <a:pPr marL="0" indent="0" algn="l">
              <a:lnSpc>
                <a:spcPts val="2950"/>
              </a:lnSpc>
              <a:buNone/>
            </a:pPr>
            <a:r>
              <a:rPr lang="en-US" sz="2400" b="1"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Main Message:</a:t>
            </a:r>
            <a:endParaRPr lang="en-US" sz="2400" b="1" dirty="0">
              <a:effectLst>
                <a:outerShdw blurRad="38100" dist="38100" dir="2700000" algn="tl">
                  <a:srgbClr val="000000">
                    <a:alpha val="43137"/>
                  </a:srgbClr>
                </a:outerShdw>
              </a:effectLst>
            </a:endParaRPr>
          </a:p>
        </p:txBody>
      </p:sp>
      <p:sp>
        <p:nvSpPr>
          <p:cNvPr id="8" name="Text 6"/>
          <p:cNvSpPr/>
          <p:nvPr/>
        </p:nvSpPr>
        <p:spPr>
          <a:xfrm>
            <a:off x="738987" y="5144808"/>
            <a:ext cx="13130927" cy="685324"/>
          </a:xfrm>
          <a:prstGeom prst="rect">
            <a:avLst/>
          </a:prstGeom>
          <a:noFill/>
          <a:ln/>
        </p:spPr>
        <p:txBody>
          <a:bodyPr wrap="square" lIns="0" tIns="0" rIns="0" bIns="0" rtlCol="0" anchor="t"/>
          <a:lstStyle/>
          <a:p>
            <a:pPr marL="0" indent="0" algn="l">
              <a:lnSpc>
                <a:spcPts val="2650"/>
              </a:lnSpc>
              <a:buNone/>
            </a:pPr>
            <a:r>
              <a:rPr lang="en-US" dirty="0">
                <a:solidFill>
                  <a:srgbClr val="F9EEE7"/>
                </a:solidFill>
                <a:latin typeface="Quattrocento" pitchFamily="34" charset="0"/>
                <a:ea typeface="Quattrocento" pitchFamily="34" charset="-122"/>
                <a:cs typeface="Quattrocento" pitchFamily="34" charset="-120"/>
              </a:rPr>
              <a:t>HPS offers advanced milk analysis devices that detect manipulation in milk and provide accurate data (fat, protein, density, added water, freezing point, etc.), saving time and effort compared to traditional testing methods like the "turbidimetric" or "tube" methods.</a:t>
            </a:r>
            <a:endParaRPr lang="en-US" dirty="0"/>
          </a:p>
        </p:txBody>
      </p:sp>
      <p:sp>
        <p:nvSpPr>
          <p:cNvPr id="9" name="Text 7"/>
          <p:cNvSpPr/>
          <p:nvPr/>
        </p:nvSpPr>
        <p:spPr>
          <a:xfrm>
            <a:off x="749737" y="6501860"/>
            <a:ext cx="3024426" cy="378023"/>
          </a:xfrm>
          <a:prstGeom prst="rect">
            <a:avLst/>
          </a:prstGeom>
          <a:noFill/>
          <a:ln/>
        </p:spPr>
        <p:txBody>
          <a:bodyPr wrap="none" lIns="0" tIns="0" rIns="0" bIns="0" rtlCol="0" anchor="t"/>
          <a:lstStyle/>
          <a:p>
            <a:pPr marL="0" indent="0" algn="l">
              <a:lnSpc>
                <a:spcPts val="2950"/>
              </a:lnSpc>
              <a:buNone/>
            </a:pPr>
            <a:r>
              <a:rPr lang="en-US" sz="3200" b="1"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Vision:</a:t>
            </a:r>
            <a:endParaRPr lang="en-US" sz="3200" b="1" dirty="0">
              <a:effectLst>
                <a:outerShdw blurRad="38100" dist="38100" dir="2700000" algn="tl">
                  <a:srgbClr val="000000">
                    <a:alpha val="43137"/>
                  </a:srgbClr>
                </a:outerShdw>
              </a:effectLst>
            </a:endParaRPr>
          </a:p>
        </p:txBody>
      </p:sp>
      <p:sp>
        <p:nvSpPr>
          <p:cNvPr id="10" name="Text 8"/>
          <p:cNvSpPr/>
          <p:nvPr/>
        </p:nvSpPr>
        <p:spPr>
          <a:xfrm>
            <a:off x="763184" y="6918846"/>
            <a:ext cx="13130927" cy="685324"/>
          </a:xfrm>
          <a:prstGeom prst="rect">
            <a:avLst/>
          </a:prstGeom>
          <a:noFill/>
          <a:ln/>
        </p:spPr>
        <p:txBody>
          <a:bodyPr wrap="square" lIns="0" tIns="0" rIns="0" bIns="0" rtlCol="0" anchor="t"/>
          <a:lstStyle/>
          <a:p>
            <a:pPr marL="0" indent="0" algn="l">
              <a:lnSpc>
                <a:spcPts val="2650"/>
              </a:lnSpc>
              <a:buNone/>
            </a:pPr>
            <a:r>
              <a:rPr lang="en-US" dirty="0">
                <a:solidFill>
                  <a:srgbClr val="F9EEE7"/>
                </a:solidFill>
                <a:latin typeface="Quattrocento" pitchFamily="34" charset="0"/>
                <a:ea typeface="Quattrocento" pitchFamily="34" charset="-122"/>
                <a:cs typeface="Quattrocento" pitchFamily="34" charset="-120"/>
              </a:rPr>
              <a:t>Expand across the Egyptian market by providing high-quality products at competitive prices, increasing market share, and offering reliable maintenance and repair services. The Cairo branch serves customers in Cairo and surrounding governorates efficiently.</a:t>
            </a:r>
            <a:endParaRPr lang="en-US" dirty="0"/>
          </a:p>
        </p:txBody>
      </p:sp>
      <p:pic>
        <p:nvPicPr>
          <p:cNvPr id="15" name="Picture 14">
            <a:extLst>
              <a:ext uri="{FF2B5EF4-FFF2-40B4-BE49-F238E27FC236}">
                <a16:creationId xmlns:a16="http://schemas.microsoft.com/office/drawing/2014/main" id="{CF61EBA0-546C-FCB0-1549-05F5C7937092}"/>
              </a:ext>
            </a:extLst>
          </p:cNvPr>
          <p:cNvPicPr>
            <a:picLocks noChangeAspect="1"/>
          </p:cNvPicPr>
          <p:nvPr/>
        </p:nvPicPr>
        <p:blipFill>
          <a:blip r:embed="rId6"/>
          <a:stretch>
            <a:fillRect/>
          </a:stretch>
        </p:blipFill>
        <p:spPr>
          <a:xfrm>
            <a:off x="-20774" y="-659246"/>
            <a:ext cx="3453402" cy="2516255"/>
          </a:xfrm>
          <a:prstGeom prst="rect">
            <a:avLst/>
          </a:prstGeom>
        </p:spPr>
      </p:pic>
      <p:sp>
        <p:nvSpPr>
          <p:cNvPr id="2" name="Text 0"/>
          <p:cNvSpPr/>
          <p:nvPr/>
        </p:nvSpPr>
        <p:spPr>
          <a:xfrm>
            <a:off x="-1071357" y="566882"/>
            <a:ext cx="4845520" cy="630079"/>
          </a:xfrm>
          <a:prstGeom prst="rect">
            <a:avLst/>
          </a:prstGeom>
          <a:noFill/>
          <a:ln/>
        </p:spPr>
        <p:txBody>
          <a:bodyPr wrap="none" lIns="0" tIns="0" rIns="0" bIns="0" rtlCol="0" anchor="t"/>
          <a:lstStyle/>
          <a:p>
            <a:pPr marL="0" indent="0" algn="ctr">
              <a:lnSpc>
                <a:spcPts val="4950"/>
              </a:lnSpc>
              <a:buNone/>
            </a:pPr>
            <a:r>
              <a:rPr lang="en-US" sz="96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Brief</a:t>
            </a:r>
            <a:endParaRPr lang="en-US" sz="9600" b="1" u="sng" dirty="0">
              <a:effectLst>
                <a:outerShdw blurRad="38100" dist="38100" dir="2700000" algn="tl">
                  <a:srgbClr val="000000">
                    <a:alpha val="43137"/>
                  </a:srgbClr>
                </a:outerShdw>
              </a:effectLst>
            </a:endParaRPr>
          </a:p>
        </p:txBody>
      </p:sp>
      <p:sp>
        <p:nvSpPr>
          <p:cNvPr id="16" name="Freeform 7">
            <a:extLst>
              <a:ext uri="{FF2B5EF4-FFF2-40B4-BE49-F238E27FC236}">
                <a16:creationId xmlns:a16="http://schemas.microsoft.com/office/drawing/2014/main" id="{85338593-37C8-42D9-4FE6-502AC696943E}"/>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pic>
        <p:nvPicPr>
          <p:cNvPr id="19" name="Picture 18" descr="A logo with text on it">
            <a:extLst>
              <a:ext uri="{FF2B5EF4-FFF2-40B4-BE49-F238E27FC236}">
                <a16:creationId xmlns:a16="http://schemas.microsoft.com/office/drawing/2014/main" id="{8F5CCCCE-0299-9360-BD1A-6914858742F6}"/>
              </a:ext>
            </a:extLst>
          </p:cNvPr>
          <p:cNvPicPr>
            <a:picLocks noChangeAspect="1"/>
          </p:cNvPicPr>
          <p:nvPr/>
        </p:nvPicPr>
        <p:blipFill>
          <a:blip r:embed="rId9"/>
          <a:stretch>
            <a:fillRect/>
          </a:stretch>
        </p:blipFill>
        <p:spPr>
          <a:xfrm>
            <a:off x="12265292" y="300518"/>
            <a:ext cx="2763527" cy="19066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B90BA-2780-826D-21B3-61C7F9B37437}"/>
              </a:ext>
            </a:extLst>
          </p:cNvPr>
          <p:cNvSpPr/>
          <p:nvPr/>
        </p:nvSpPr>
        <p:spPr>
          <a:xfrm>
            <a:off x="-881883" y="-653867"/>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Shape 1"/>
          <p:cNvSpPr/>
          <p:nvPr/>
        </p:nvSpPr>
        <p:spPr>
          <a:xfrm>
            <a:off x="823317" y="1828482"/>
            <a:ext cx="8437141" cy="6238776"/>
          </a:xfrm>
          <a:prstGeom prst="roundRect">
            <a:avLst>
              <a:gd name="adj" fmla="val 2646"/>
            </a:avLst>
          </a:prstGeom>
          <a:solidFill>
            <a:srgbClr val="315251"/>
          </a:solidFill>
          <a:ln/>
        </p:spPr>
        <p:txBody>
          <a:bodyPr/>
          <a:lstStyle/>
          <a:p>
            <a:endParaRPr lang="en-US" dirty="0"/>
          </a:p>
        </p:txBody>
      </p:sp>
      <p:sp>
        <p:nvSpPr>
          <p:cNvPr id="4" name="Text 2"/>
          <p:cNvSpPr/>
          <p:nvPr/>
        </p:nvSpPr>
        <p:spPr>
          <a:xfrm>
            <a:off x="3157901" y="2412399"/>
            <a:ext cx="2767489" cy="345877"/>
          </a:xfrm>
          <a:prstGeom prst="rect">
            <a:avLst/>
          </a:prstGeom>
          <a:noFill/>
          <a:ln/>
        </p:spPr>
        <p:txBody>
          <a:bodyPr wrap="none" lIns="0" tIns="0" rIns="0" bIns="0" rtlCol="0" anchor="t"/>
          <a:lstStyle/>
          <a:p>
            <a:pPr marL="0" indent="0" algn="l">
              <a:lnSpc>
                <a:spcPts val="2700"/>
              </a:lnSpc>
              <a:buNone/>
            </a:pPr>
            <a:r>
              <a:rPr lang="en-US"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 1</a:t>
            </a:r>
            <a:endParaRPr lang="en-US" sz="5400" u="sng" dirty="0"/>
          </a:p>
        </p:txBody>
      </p:sp>
      <p:sp>
        <p:nvSpPr>
          <p:cNvPr id="5" name="Text 3"/>
          <p:cNvSpPr/>
          <p:nvPr/>
        </p:nvSpPr>
        <p:spPr>
          <a:xfrm>
            <a:off x="1354302" y="3543729"/>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Price</a:t>
            </a:r>
            <a:r>
              <a:rPr lang="en-US" sz="2800" b="1" dirty="0">
                <a:solidFill>
                  <a:srgbClr val="F9EEE7"/>
                </a:solidFill>
                <a:latin typeface="Quattrocento" pitchFamily="34" charset="0"/>
                <a:ea typeface="Quattrocento" pitchFamily="34" charset="-122"/>
                <a:cs typeface="Quattrocento" pitchFamily="34" charset="-120"/>
              </a:rPr>
              <a:t>: </a:t>
            </a:r>
            <a:r>
              <a:rPr lang="en-US" sz="2000" dirty="0">
                <a:solidFill>
                  <a:srgbClr val="F9EEE7"/>
                </a:solidFill>
                <a:latin typeface="Quattrocento" pitchFamily="34" charset="0"/>
                <a:ea typeface="Quattrocento" pitchFamily="34" charset="-122"/>
                <a:cs typeface="Quattrocento" pitchFamily="34" charset="-120"/>
              </a:rPr>
              <a:t>28,000 EGP</a:t>
            </a:r>
            <a:endParaRPr lang="en-US" sz="2000"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3"/>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6"/>
          <a:stretch>
            <a:fillRect/>
          </a:stretch>
        </p:blipFill>
        <p:spPr>
          <a:xfrm>
            <a:off x="12265292" y="140879"/>
            <a:ext cx="2763527" cy="1906611"/>
          </a:xfrm>
          <a:prstGeom prst="rect">
            <a:avLst/>
          </a:prstGeom>
        </p:spPr>
      </p:pic>
      <p:sp>
        <p:nvSpPr>
          <p:cNvPr id="21" name="Text 3">
            <a:extLst>
              <a:ext uri="{FF2B5EF4-FFF2-40B4-BE49-F238E27FC236}">
                <a16:creationId xmlns:a16="http://schemas.microsoft.com/office/drawing/2014/main" id="{3440750D-A986-788F-B710-6499B2A87F97}"/>
              </a:ext>
            </a:extLst>
          </p:cNvPr>
          <p:cNvSpPr/>
          <p:nvPr/>
        </p:nvSpPr>
        <p:spPr>
          <a:xfrm>
            <a:off x="1354302" y="2991868"/>
            <a:ext cx="8363070" cy="461490"/>
          </a:xfrm>
          <a:prstGeom prst="rect">
            <a:avLst/>
          </a:prstGeom>
          <a:noFill/>
          <a:ln/>
        </p:spPr>
        <p:txBody>
          <a:bodyPr wrap="none" lIns="0" tIns="0" rIns="0" bIns="0" rtlCol="0" anchor="t"/>
          <a:lstStyle/>
          <a:p>
            <a:pPr>
              <a:lnSpc>
                <a:spcPts val="2950"/>
              </a:lnSpc>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Name</a:t>
            </a:r>
            <a:r>
              <a:rPr lang="en-US" sz="2800" b="1" dirty="0">
                <a:solidFill>
                  <a:srgbClr val="F9EEE7"/>
                </a:solidFill>
                <a:latin typeface="Quattrocento" pitchFamily="34" charset="0"/>
                <a:ea typeface="Quattrocento" pitchFamily="34" charset="-122"/>
                <a:cs typeface="Quattrocento" pitchFamily="34" charset="-120"/>
              </a:rPr>
              <a:t>: </a:t>
            </a:r>
            <a:r>
              <a:rPr lang="en-US" sz="2000" dirty="0" err="1">
                <a:solidFill>
                  <a:srgbClr val="F9EEE7"/>
                </a:solidFill>
                <a:latin typeface="Quattrocento" pitchFamily="34" charset="0"/>
                <a:ea typeface="Quattrocento" pitchFamily="34" charset="-122"/>
                <a:cs typeface="Quattrocento" pitchFamily="34" charset="-120"/>
              </a:rPr>
              <a:t>Ekomilk</a:t>
            </a:r>
            <a:r>
              <a:rPr lang="en-US" sz="2000" dirty="0">
                <a:solidFill>
                  <a:srgbClr val="F9EEE7"/>
                </a:solidFill>
                <a:latin typeface="Quattrocento" pitchFamily="34" charset="0"/>
                <a:ea typeface="Quattrocento" pitchFamily="34" charset="-122"/>
                <a:cs typeface="Quattrocento" pitchFamily="34" charset="-120"/>
              </a:rPr>
              <a:t> M</a:t>
            </a:r>
            <a:endParaRPr lang="en-US" sz="2000" dirty="0"/>
          </a:p>
        </p:txBody>
      </p:sp>
      <p:sp>
        <p:nvSpPr>
          <p:cNvPr id="23" name="Text 3">
            <a:extLst>
              <a:ext uri="{FF2B5EF4-FFF2-40B4-BE49-F238E27FC236}">
                <a16:creationId xmlns:a16="http://schemas.microsoft.com/office/drawing/2014/main" id="{5B91E7D3-6831-1E03-89DD-605BD2743D7C}"/>
              </a:ext>
            </a:extLst>
          </p:cNvPr>
          <p:cNvSpPr/>
          <p:nvPr/>
        </p:nvSpPr>
        <p:spPr>
          <a:xfrm>
            <a:off x="1354302" y="4067684"/>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Features:-</a:t>
            </a:r>
            <a:br>
              <a:rPr lang="ar-EG"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b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endParaRPr lang="en-US" sz="2000" dirty="0">
              <a:effectLst>
                <a:outerShdw blurRad="38100" dist="38100" dir="2700000" algn="tl">
                  <a:srgbClr val="000000">
                    <a:alpha val="43137"/>
                  </a:srgbClr>
                </a:outerShdw>
              </a:effectLst>
            </a:endParaRPr>
          </a:p>
        </p:txBody>
      </p:sp>
      <p:sp>
        <p:nvSpPr>
          <p:cNvPr id="34" name="TextBox 33">
            <a:extLst>
              <a:ext uri="{FF2B5EF4-FFF2-40B4-BE49-F238E27FC236}">
                <a16:creationId xmlns:a16="http://schemas.microsoft.com/office/drawing/2014/main" id="{D10F5913-F3EB-8823-5E34-C5CB9B9EB897}"/>
              </a:ext>
            </a:extLst>
          </p:cNvPr>
          <p:cNvSpPr txBox="1"/>
          <p:nvPr/>
        </p:nvSpPr>
        <p:spPr>
          <a:xfrm>
            <a:off x="1280516" y="4491269"/>
            <a:ext cx="7809695" cy="3416320"/>
          </a:xfrm>
          <a:prstGeom prst="rect">
            <a:avLst/>
          </a:prstGeom>
          <a:noFill/>
        </p:spPr>
        <p:txBody>
          <a:bodyPr wrap="square" rtlCol="0">
            <a:spAutoFit/>
          </a:bodyPr>
          <a:lstStyle/>
          <a:p>
            <a:r>
              <a:rPr lang="en-US" sz="2400" dirty="0">
                <a:solidFill>
                  <a:srgbClr val="F9EEE7"/>
                </a:solidFill>
              </a:rPr>
              <a:t>30 samples per hour6</a:t>
            </a:r>
            <a:endParaRPr lang="ar-EG" sz="2400" dirty="0">
              <a:solidFill>
                <a:srgbClr val="F9EEE7"/>
              </a:solidFill>
            </a:endParaRPr>
          </a:p>
          <a:p>
            <a:r>
              <a:rPr lang="en-US" sz="2400" dirty="0">
                <a:solidFill>
                  <a:srgbClr val="F9EEE7"/>
                </a:solidFill>
              </a:rPr>
              <a:t>Parameters 6 :</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Solids</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Density</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Protein</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Freezing point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Added water</a:t>
            </a:r>
            <a:endParaRPr lang="ar-EG" sz="2400" dirty="0">
              <a:solidFill>
                <a:srgbClr val="F9EEE7"/>
              </a:solidFill>
            </a:endParaRPr>
          </a:p>
          <a:p>
            <a:r>
              <a:rPr lang="en-US" sz="2400" dirty="0">
                <a:solidFill>
                  <a:srgbClr val="F9EEE7"/>
                </a:solidFill>
              </a:rPr>
              <a:t>2-year warranty</a:t>
            </a:r>
          </a:p>
        </p:txBody>
      </p:sp>
      <p:pic>
        <p:nvPicPr>
          <p:cNvPr id="26" name="Picture 25" descr="A white and blue machine with a screen and a green screen&#10;&#10;AI-generated content may be incorrect.">
            <a:extLst>
              <a:ext uri="{FF2B5EF4-FFF2-40B4-BE49-F238E27FC236}">
                <a16:creationId xmlns:a16="http://schemas.microsoft.com/office/drawing/2014/main" id="{926615D7-8EA7-998F-7F33-83DFE29D7F19}"/>
              </a:ext>
            </a:extLst>
          </p:cNvPr>
          <p:cNvPicPr>
            <a:picLocks noChangeAspect="1"/>
          </p:cNvPicPr>
          <p:nvPr/>
        </p:nvPicPr>
        <p:blipFill>
          <a:blip r:embed="rId7"/>
          <a:stretch>
            <a:fillRect/>
          </a:stretch>
        </p:blipFill>
        <p:spPr>
          <a:xfrm>
            <a:off x="8705012" y="1642082"/>
            <a:ext cx="6304489" cy="6304489"/>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Tree>
    <p:extLst>
      <p:ext uri="{BB962C8B-B14F-4D97-AF65-F5344CB8AC3E}">
        <p14:creationId xmlns:p14="http://schemas.microsoft.com/office/powerpoint/2010/main" val="3254033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AF4D70-85C6-B6C4-7E70-06BB19704A67}"/>
              </a:ext>
            </a:extLst>
          </p:cNvPr>
          <p:cNvSpPr/>
          <p:nvPr/>
        </p:nvSpPr>
        <p:spPr>
          <a:xfrm>
            <a:off x="-612976" y="-167818"/>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Shape 1"/>
          <p:cNvSpPr/>
          <p:nvPr/>
        </p:nvSpPr>
        <p:spPr>
          <a:xfrm>
            <a:off x="823317" y="1828482"/>
            <a:ext cx="8437141" cy="6238776"/>
          </a:xfrm>
          <a:prstGeom prst="roundRect">
            <a:avLst>
              <a:gd name="adj" fmla="val 2646"/>
            </a:avLst>
          </a:prstGeom>
          <a:solidFill>
            <a:srgbClr val="315251"/>
          </a:solidFill>
          <a:ln/>
        </p:spPr>
        <p:txBody>
          <a:bodyPr/>
          <a:lstStyle/>
          <a:p>
            <a:endParaRPr lang="en-US" dirty="0"/>
          </a:p>
        </p:txBody>
      </p:sp>
      <p:sp>
        <p:nvSpPr>
          <p:cNvPr id="4" name="Text 2"/>
          <p:cNvSpPr/>
          <p:nvPr/>
        </p:nvSpPr>
        <p:spPr>
          <a:xfrm>
            <a:off x="3157901" y="2412399"/>
            <a:ext cx="2767489" cy="345877"/>
          </a:xfrm>
          <a:prstGeom prst="rect">
            <a:avLst/>
          </a:prstGeom>
          <a:noFill/>
          <a:ln/>
        </p:spPr>
        <p:txBody>
          <a:bodyPr wrap="none" lIns="0" tIns="0" rIns="0" bIns="0" rtlCol="0" anchor="t"/>
          <a:lstStyle/>
          <a:p>
            <a:pPr marL="0" indent="0" algn="l">
              <a:lnSpc>
                <a:spcPts val="2700"/>
              </a:lnSpc>
              <a:buNone/>
            </a:pPr>
            <a:r>
              <a:rPr lang="en-US"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 </a:t>
            </a:r>
            <a:r>
              <a:rPr lang="ar-EG"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2</a:t>
            </a:r>
            <a:endParaRPr lang="en-US" sz="5400" u="sng" dirty="0"/>
          </a:p>
        </p:txBody>
      </p:sp>
      <p:sp>
        <p:nvSpPr>
          <p:cNvPr id="5" name="Text 3"/>
          <p:cNvSpPr/>
          <p:nvPr/>
        </p:nvSpPr>
        <p:spPr>
          <a:xfrm>
            <a:off x="1354302" y="3543729"/>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Price</a:t>
            </a:r>
            <a:r>
              <a:rPr lang="en-US" sz="2800" b="1" dirty="0">
                <a:solidFill>
                  <a:srgbClr val="F9EEE7"/>
                </a:solidFill>
                <a:latin typeface="Quattrocento" pitchFamily="34" charset="0"/>
                <a:ea typeface="Quattrocento" pitchFamily="34" charset="-122"/>
                <a:cs typeface="Quattrocento" pitchFamily="34" charset="-120"/>
              </a:rPr>
              <a:t>: </a:t>
            </a:r>
            <a:r>
              <a:rPr lang="en-US" sz="2000" dirty="0">
                <a:solidFill>
                  <a:srgbClr val="F9EEE7"/>
                </a:solidFill>
                <a:latin typeface="Quattrocento" pitchFamily="34" charset="0"/>
                <a:ea typeface="Quattrocento" pitchFamily="34" charset="-122"/>
                <a:cs typeface="Quattrocento" pitchFamily="34" charset="-120"/>
              </a:rPr>
              <a:t>28,000 EGP</a:t>
            </a:r>
            <a:endParaRPr lang="en-US" sz="2000"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3"/>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6"/>
          <a:stretch>
            <a:fillRect/>
          </a:stretch>
        </p:blipFill>
        <p:spPr>
          <a:xfrm>
            <a:off x="12265292" y="140879"/>
            <a:ext cx="2763527" cy="1906611"/>
          </a:xfrm>
          <a:prstGeom prst="rect">
            <a:avLst/>
          </a:prstGeom>
        </p:spPr>
      </p:pic>
      <p:sp>
        <p:nvSpPr>
          <p:cNvPr id="21" name="Text 3">
            <a:extLst>
              <a:ext uri="{FF2B5EF4-FFF2-40B4-BE49-F238E27FC236}">
                <a16:creationId xmlns:a16="http://schemas.microsoft.com/office/drawing/2014/main" id="{3440750D-A986-788F-B710-6499B2A87F97}"/>
              </a:ext>
            </a:extLst>
          </p:cNvPr>
          <p:cNvSpPr/>
          <p:nvPr/>
        </p:nvSpPr>
        <p:spPr>
          <a:xfrm>
            <a:off x="1354302" y="2991868"/>
            <a:ext cx="8363070" cy="461490"/>
          </a:xfrm>
          <a:prstGeom prst="rect">
            <a:avLst/>
          </a:prstGeom>
          <a:noFill/>
          <a:ln/>
        </p:spPr>
        <p:txBody>
          <a:bodyPr wrap="none" lIns="0" tIns="0" rIns="0" bIns="0" rtlCol="0" anchor="t"/>
          <a:lstStyle/>
          <a:p>
            <a:pPr>
              <a:lnSpc>
                <a:spcPts val="2950"/>
              </a:lnSpc>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Name</a:t>
            </a:r>
            <a:r>
              <a:rPr lang="en-US" sz="2800" b="1" dirty="0">
                <a:solidFill>
                  <a:srgbClr val="F9EEE7"/>
                </a:solidFill>
                <a:latin typeface="Quattrocento" pitchFamily="34" charset="0"/>
                <a:ea typeface="Quattrocento" pitchFamily="34" charset="-122"/>
                <a:cs typeface="Quattrocento" pitchFamily="34" charset="-120"/>
              </a:rPr>
              <a:t>: </a:t>
            </a:r>
            <a:r>
              <a:rPr lang="en-US" sz="2000" dirty="0" err="1">
                <a:solidFill>
                  <a:srgbClr val="F9EEE7"/>
                </a:solidFill>
                <a:latin typeface="Quattrocento" pitchFamily="34" charset="0"/>
                <a:ea typeface="Quattrocento" pitchFamily="34" charset="-122"/>
                <a:cs typeface="Quattrocento" pitchFamily="34" charset="-120"/>
              </a:rPr>
              <a:t>Ekomilk</a:t>
            </a:r>
            <a:r>
              <a:rPr lang="en-US" sz="2000" dirty="0">
                <a:solidFill>
                  <a:srgbClr val="F9EEE7"/>
                </a:solidFill>
                <a:latin typeface="Quattrocento" pitchFamily="34" charset="0"/>
                <a:ea typeface="Quattrocento" pitchFamily="34" charset="-122"/>
                <a:cs typeface="Quattrocento" pitchFamily="34" charset="-120"/>
              </a:rPr>
              <a:t> Ultra</a:t>
            </a:r>
            <a:endParaRPr lang="en-US" sz="2000" dirty="0"/>
          </a:p>
        </p:txBody>
      </p:sp>
      <p:sp>
        <p:nvSpPr>
          <p:cNvPr id="23" name="Text 3">
            <a:extLst>
              <a:ext uri="{FF2B5EF4-FFF2-40B4-BE49-F238E27FC236}">
                <a16:creationId xmlns:a16="http://schemas.microsoft.com/office/drawing/2014/main" id="{5B91E7D3-6831-1E03-89DD-605BD2743D7C}"/>
              </a:ext>
            </a:extLst>
          </p:cNvPr>
          <p:cNvSpPr/>
          <p:nvPr/>
        </p:nvSpPr>
        <p:spPr>
          <a:xfrm>
            <a:off x="1354302" y="4067684"/>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Features:-</a:t>
            </a:r>
            <a:br>
              <a:rPr lang="ar-EG"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b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endParaRPr lang="en-US" sz="2000" dirty="0">
              <a:effectLst>
                <a:outerShdw blurRad="38100" dist="38100" dir="2700000" algn="tl">
                  <a:srgbClr val="000000">
                    <a:alpha val="43137"/>
                  </a:srgbClr>
                </a:outerShdw>
              </a:effectLst>
            </a:endParaRPr>
          </a:p>
        </p:txBody>
      </p:sp>
      <p:sp>
        <p:nvSpPr>
          <p:cNvPr id="34" name="TextBox 33">
            <a:extLst>
              <a:ext uri="{FF2B5EF4-FFF2-40B4-BE49-F238E27FC236}">
                <a16:creationId xmlns:a16="http://schemas.microsoft.com/office/drawing/2014/main" id="{D10F5913-F3EB-8823-5E34-C5CB9B9EB897}"/>
              </a:ext>
            </a:extLst>
          </p:cNvPr>
          <p:cNvSpPr txBox="1"/>
          <p:nvPr/>
        </p:nvSpPr>
        <p:spPr>
          <a:xfrm>
            <a:off x="1280516" y="4491269"/>
            <a:ext cx="7809695" cy="3416320"/>
          </a:xfrm>
          <a:prstGeom prst="rect">
            <a:avLst/>
          </a:prstGeom>
          <a:noFill/>
        </p:spPr>
        <p:txBody>
          <a:bodyPr wrap="square" rtlCol="0">
            <a:spAutoFit/>
          </a:bodyPr>
          <a:lstStyle/>
          <a:p>
            <a:r>
              <a:rPr lang="ar-EG" sz="2400" dirty="0">
                <a:solidFill>
                  <a:srgbClr val="F9EEE7"/>
                </a:solidFill>
              </a:rPr>
              <a:t>5</a:t>
            </a:r>
            <a:r>
              <a:rPr lang="en-US" sz="2400" dirty="0">
                <a:solidFill>
                  <a:srgbClr val="F9EEE7"/>
                </a:solidFill>
              </a:rPr>
              <a:t>0 samples per hour6</a:t>
            </a:r>
            <a:endParaRPr lang="ar-EG" sz="2400" dirty="0">
              <a:solidFill>
                <a:srgbClr val="F9EEE7"/>
              </a:solidFill>
            </a:endParaRPr>
          </a:p>
          <a:p>
            <a:r>
              <a:rPr lang="en-US" sz="2400" dirty="0">
                <a:solidFill>
                  <a:srgbClr val="F9EEE7"/>
                </a:solidFill>
              </a:rPr>
              <a:t>Parameters 6 :</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Solids</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Density</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Protein</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Freezing point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Added water</a:t>
            </a:r>
            <a:endParaRPr lang="ar-EG" sz="2400" dirty="0">
              <a:solidFill>
                <a:srgbClr val="F9EEE7"/>
              </a:solidFill>
            </a:endParaRPr>
          </a:p>
          <a:p>
            <a:r>
              <a:rPr lang="en-US" sz="2400" dirty="0">
                <a:solidFill>
                  <a:srgbClr val="F9EEE7"/>
                </a:solidFill>
              </a:rPr>
              <a:t>2-year warranty</a:t>
            </a:r>
          </a:p>
        </p:txBody>
      </p:sp>
      <p:pic>
        <p:nvPicPr>
          <p:cNvPr id="8" name="Picture 7" descr="A blue and white machine">
            <a:extLst>
              <a:ext uri="{FF2B5EF4-FFF2-40B4-BE49-F238E27FC236}">
                <a16:creationId xmlns:a16="http://schemas.microsoft.com/office/drawing/2014/main" id="{4B2D2671-C067-3C44-ED29-884E7F8C8FF0}"/>
              </a:ext>
            </a:extLst>
          </p:cNvPr>
          <p:cNvPicPr>
            <a:picLocks noChangeAspect="1"/>
          </p:cNvPicPr>
          <p:nvPr/>
        </p:nvPicPr>
        <p:blipFill>
          <a:blip r:embed="rId7"/>
          <a:stretch>
            <a:fillRect/>
          </a:stretch>
        </p:blipFill>
        <p:spPr>
          <a:xfrm>
            <a:off x="8609128" y="1601756"/>
            <a:ext cx="6344815" cy="6344815"/>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1291994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B90BA-2780-826D-21B3-61C7F9B37437}"/>
              </a:ext>
            </a:extLst>
          </p:cNvPr>
          <p:cNvSpPr/>
          <p:nvPr/>
        </p:nvSpPr>
        <p:spPr>
          <a:xfrm>
            <a:off x="-731524" y="-653867"/>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Shape 1"/>
          <p:cNvSpPr/>
          <p:nvPr/>
        </p:nvSpPr>
        <p:spPr>
          <a:xfrm>
            <a:off x="823317" y="1828482"/>
            <a:ext cx="8437141" cy="6238776"/>
          </a:xfrm>
          <a:prstGeom prst="roundRect">
            <a:avLst>
              <a:gd name="adj" fmla="val 2646"/>
            </a:avLst>
          </a:prstGeom>
          <a:solidFill>
            <a:srgbClr val="315251"/>
          </a:solidFill>
          <a:ln/>
        </p:spPr>
        <p:txBody>
          <a:bodyPr/>
          <a:lstStyle/>
          <a:p>
            <a:endParaRPr lang="en-US" dirty="0"/>
          </a:p>
        </p:txBody>
      </p:sp>
      <p:sp>
        <p:nvSpPr>
          <p:cNvPr id="4" name="Text 2"/>
          <p:cNvSpPr/>
          <p:nvPr/>
        </p:nvSpPr>
        <p:spPr>
          <a:xfrm>
            <a:off x="3157901" y="2412399"/>
            <a:ext cx="2767489" cy="345877"/>
          </a:xfrm>
          <a:prstGeom prst="rect">
            <a:avLst/>
          </a:prstGeom>
          <a:noFill/>
          <a:ln/>
        </p:spPr>
        <p:txBody>
          <a:bodyPr wrap="none" lIns="0" tIns="0" rIns="0" bIns="0" rtlCol="0" anchor="t"/>
          <a:lstStyle/>
          <a:p>
            <a:pPr marL="0" indent="0" algn="l">
              <a:lnSpc>
                <a:spcPts val="2700"/>
              </a:lnSpc>
              <a:buNone/>
            </a:pPr>
            <a:r>
              <a:rPr lang="en-US"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 </a:t>
            </a:r>
            <a:r>
              <a:rPr lang="ar-EG"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3</a:t>
            </a:r>
            <a:endParaRPr lang="en-US" sz="5400" u="sng" dirty="0"/>
          </a:p>
        </p:txBody>
      </p:sp>
      <p:sp>
        <p:nvSpPr>
          <p:cNvPr id="5" name="Text 3"/>
          <p:cNvSpPr/>
          <p:nvPr/>
        </p:nvSpPr>
        <p:spPr>
          <a:xfrm>
            <a:off x="1354302" y="3543729"/>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Price</a:t>
            </a:r>
            <a:r>
              <a:rPr lang="en-US" sz="2800" b="1" dirty="0">
                <a:solidFill>
                  <a:srgbClr val="F9EEE7"/>
                </a:solidFill>
                <a:latin typeface="Quattrocento" pitchFamily="34" charset="0"/>
                <a:ea typeface="Quattrocento" pitchFamily="34" charset="-122"/>
                <a:cs typeface="Quattrocento" pitchFamily="34" charset="-120"/>
              </a:rPr>
              <a:t>: </a:t>
            </a:r>
            <a:r>
              <a:rPr lang="ar-EG" sz="2000" dirty="0">
                <a:solidFill>
                  <a:srgbClr val="F9EEE7"/>
                </a:solidFill>
                <a:latin typeface="Quattrocento" pitchFamily="34" charset="0"/>
                <a:ea typeface="Quattrocento" pitchFamily="34" charset="-122"/>
                <a:cs typeface="Quattrocento" pitchFamily="34" charset="-120"/>
              </a:rPr>
              <a:t>51</a:t>
            </a:r>
            <a:r>
              <a:rPr lang="en-US" sz="2000" dirty="0">
                <a:solidFill>
                  <a:srgbClr val="F9EEE7"/>
                </a:solidFill>
                <a:latin typeface="Quattrocento" pitchFamily="34" charset="0"/>
                <a:ea typeface="Quattrocento" pitchFamily="34" charset="-122"/>
                <a:cs typeface="Quattrocento" pitchFamily="34" charset="-120"/>
              </a:rPr>
              <a:t>,000 EGP</a:t>
            </a:r>
            <a:endParaRPr lang="en-US" sz="2000"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3"/>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6"/>
          <a:stretch>
            <a:fillRect/>
          </a:stretch>
        </p:blipFill>
        <p:spPr>
          <a:xfrm>
            <a:off x="12265292" y="140879"/>
            <a:ext cx="2763527" cy="1906611"/>
          </a:xfrm>
          <a:prstGeom prst="rect">
            <a:avLst/>
          </a:prstGeom>
        </p:spPr>
      </p:pic>
      <p:sp>
        <p:nvSpPr>
          <p:cNvPr id="21" name="Text 3">
            <a:extLst>
              <a:ext uri="{FF2B5EF4-FFF2-40B4-BE49-F238E27FC236}">
                <a16:creationId xmlns:a16="http://schemas.microsoft.com/office/drawing/2014/main" id="{3440750D-A986-788F-B710-6499B2A87F97}"/>
              </a:ext>
            </a:extLst>
          </p:cNvPr>
          <p:cNvSpPr/>
          <p:nvPr/>
        </p:nvSpPr>
        <p:spPr>
          <a:xfrm>
            <a:off x="1354302" y="2991868"/>
            <a:ext cx="8363070" cy="461490"/>
          </a:xfrm>
          <a:prstGeom prst="rect">
            <a:avLst/>
          </a:prstGeom>
          <a:noFill/>
          <a:ln/>
        </p:spPr>
        <p:txBody>
          <a:bodyPr wrap="none" lIns="0" tIns="0" rIns="0" bIns="0" rtlCol="0" anchor="t"/>
          <a:lstStyle/>
          <a:p>
            <a:pPr>
              <a:lnSpc>
                <a:spcPts val="2950"/>
              </a:lnSpc>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Name</a:t>
            </a:r>
            <a:r>
              <a:rPr lang="en-US" sz="2800" b="1" dirty="0">
                <a:solidFill>
                  <a:srgbClr val="F9EEE7"/>
                </a:solidFill>
                <a:latin typeface="Quattrocento" pitchFamily="34" charset="0"/>
                <a:ea typeface="Quattrocento" pitchFamily="34" charset="-122"/>
                <a:cs typeface="Quattrocento" pitchFamily="34" charset="-120"/>
              </a:rPr>
              <a:t>: </a:t>
            </a:r>
            <a:r>
              <a:rPr lang="en-US" sz="2000" dirty="0" err="1">
                <a:solidFill>
                  <a:srgbClr val="F9EEE7"/>
                </a:solidFill>
                <a:latin typeface="Quattrocento" pitchFamily="34" charset="0"/>
                <a:ea typeface="Quattrocento" pitchFamily="34" charset="-122"/>
                <a:cs typeface="Quattrocento" pitchFamily="34" charset="-120"/>
              </a:rPr>
              <a:t>Ekomilk</a:t>
            </a:r>
            <a:r>
              <a:rPr lang="en-US" sz="2000" dirty="0">
                <a:solidFill>
                  <a:srgbClr val="F9EEE7"/>
                </a:solidFill>
                <a:latin typeface="Quattrocento" pitchFamily="34" charset="0"/>
                <a:ea typeface="Quattrocento" pitchFamily="34" charset="-122"/>
                <a:cs typeface="Quattrocento" pitchFamily="34" charset="-120"/>
              </a:rPr>
              <a:t> Ultra Pro 6</a:t>
            </a:r>
            <a:endParaRPr lang="en-US" sz="2000" dirty="0"/>
          </a:p>
        </p:txBody>
      </p:sp>
      <p:sp>
        <p:nvSpPr>
          <p:cNvPr id="23" name="Text 3">
            <a:extLst>
              <a:ext uri="{FF2B5EF4-FFF2-40B4-BE49-F238E27FC236}">
                <a16:creationId xmlns:a16="http://schemas.microsoft.com/office/drawing/2014/main" id="{5B91E7D3-6831-1E03-89DD-605BD2743D7C}"/>
              </a:ext>
            </a:extLst>
          </p:cNvPr>
          <p:cNvSpPr/>
          <p:nvPr/>
        </p:nvSpPr>
        <p:spPr>
          <a:xfrm>
            <a:off x="1354302" y="4067684"/>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Features:-</a:t>
            </a:r>
            <a:br>
              <a:rPr lang="ar-EG"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b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endParaRPr lang="en-US" sz="2000" dirty="0">
              <a:effectLst>
                <a:outerShdw blurRad="38100" dist="38100" dir="2700000" algn="tl">
                  <a:srgbClr val="000000">
                    <a:alpha val="43137"/>
                  </a:srgbClr>
                </a:outerShdw>
              </a:effectLst>
            </a:endParaRPr>
          </a:p>
        </p:txBody>
      </p:sp>
      <p:sp>
        <p:nvSpPr>
          <p:cNvPr id="34" name="TextBox 33">
            <a:extLst>
              <a:ext uri="{FF2B5EF4-FFF2-40B4-BE49-F238E27FC236}">
                <a16:creationId xmlns:a16="http://schemas.microsoft.com/office/drawing/2014/main" id="{D10F5913-F3EB-8823-5E34-C5CB9B9EB897}"/>
              </a:ext>
            </a:extLst>
          </p:cNvPr>
          <p:cNvSpPr txBox="1"/>
          <p:nvPr/>
        </p:nvSpPr>
        <p:spPr>
          <a:xfrm>
            <a:off x="1280516" y="4491269"/>
            <a:ext cx="7809695" cy="3416320"/>
          </a:xfrm>
          <a:prstGeom prst="rect">
            <a:avLst/>
          </a:prstGeom>
          <a:noFill/>
        </p:spPr>
        <p:txBody>
          <a:bodyPr wrap="square" rtlCol="0">
            <a:spAutoFit/>
          </a:bodyPr>
          <a:lstStyle/>
          <a:p>
            <a:r>
              <a:rPr lang="en-US" sz="2400" dirty="0">
                <a:solidFill>
                  <a:srgbClr val="F9EEE7"/>
                </a:solidFill>
              </a:rPr>
              <a:t>100 samples per hour6</a:t>
            </a:r>
            <a:endParaRPr lang="ar-EG" sz="2400" dirty="0">
              <a:solidFill>
                <a:srgbClr val="F9EEE7"/>
              </a:solidFill>
            </a:endParaRPr>
          </a:p>
          <a:p>
            <a:r>
              <a:rPr lang="en-US" sz="2400" dirty="0">
                <a:solidFill>
                  <a:srgbClr val="F9EEE7"/>
                </a:solidFill>
              </a:rPr>
              <a:t>Parameters 6 :</a:t>
            </a:r>
            <a:r>
              <a:rPr lang="ar-EG" sz="2400" dirty="0">
                <a:solidFill>
                  <a:srgbClr val="F9EEE7"/>
                </a:solidFill>
              </a:rPr>
              <a:t> </a:t>
            </a:r>
          </a:p>
          <a:p>
            <a:pPr marL="285750" indent="-285750">
              <a:buFont typeface="Arial" panose="020B0604020202020204" pitchFamily="34" charset="0"/>
              <a:buChar char="•"/>
            </a:pPr>
            <a:r>
              <a:rPr lang="en-US" sz="2400" dirty="0">
                <a:solidFill>
                  <a:srgbClr val="F9EEE7"/>
                </a:solidFill>
              </a:rPr>
              <a:t>Fat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Solids</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Density</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Protein</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Freezing point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Added water</a:t>
            </a:r>
            <a:endParaRPr lang="ar-EG" sz="2400" dirty="0">
              <a:solidFill>
                <a:srgbClr val="F9EEE7"/>
              </a:solidFill>
            </a:endParaRPr>
          </a:p>
          <a:p>
            <a:r>
              <a:rPr lang="ar-EG" sz="2400" dirty="0">
                <a:solidFill>
                  <a:srgbClr val="F9EEE7"/>
                </a:solidFill>
              </a:rPr>
              <a:t>5</a:t>
            </a:r>
            <a:r>
              <a:rPr lang="en-US" sz="2400" dirty="0">
                <a:solidFill>
                  <a:srgbClr val="F9EEE7"/>
                </a:solidFill>
              </a:rPr>
              <a:t>-year warranty</a:t>
            </a:r>
          </a:p>
        </p:txBody>
      </p:sp>
      <p:pic>
        <p:nvPicPr>
          <p:cNvPr id="26" name="Picture 25" descr="A white and blue machine with a screen and a green screen&#10;&#10;AI-generated content may be incorrect.">
            <a:extLst>
              <a:ext uri="{FF2B5EF4-FFF2-40B4-BE49-F238E27FC236}">
                <a16:creationId xmlns:a16="http://schemas.microsoft.com/office/drawing/2014/main" id="{926615D7-8EA7-998F-7F33-83DFE29D7F19}"/>
              </a:ext>
            </a:extLst>
          </p:cNvPr>
          <p:cNvPicPr>
            <a:picLocks noChangeAspect="1"/>
          </p:cNvPicPr>
          <p:nvPr/>
        </p:nvPicPr>
        <p:blipFill>
          <a:blip r:embed="rId7"/>
          <a:stretch>
            <a:fillRect/>
          </a:stretch>
        </p:blipFill>
        <p:spPr>
          <a:xfrm>
            <a:off x="9587753" y="2047490"/>
            <a:ext cx="5768361" cy="5768361"/>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Tree>
    <p:extLst>
      <p:ext uri="{BB962C8B-B14F-4D97-AF65-F5344CB8AC3E}">
        <p14:creationId xmlns:p14="http://schemas.microsoft.com/office/powerpoint/2010/main" val="2978134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B90BA-2780-826D-21B3-61C7F9B37437}"/>
              </a:ext>
            </a:extLst>
          </p:cNvPr>
          <p:cNvSpPr/>
          <p:nvPr/>
        </p:nvSpPr>
        <p:spPr>
          <a:xfrm>
            <a:off x="-1349829" y="-653867"/>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Shape 1"/>
          <p:cNvSpPr/>
          <p:nvPr/>
        </p:nvSpPr>
        <p:spPr>
          <a:xfrm>
            <a:off x="823317" y="1828482"/>
            <a:ext cx="8437141" cy="6238776"/>
          </a:xfrm>
          <a:prstGeom prst="roundRect">
            <a:avLst>
              <a:gd name="adj" fmla="val 2646"/>
            </a:avLst>
          </a:prstGeom>
          <a:solidFill>
            <a:srgbClr val="315251"/>
          </a:solidFill>
          <a:ln/>
        </p:spPr>
        <p:txBody>
          <a:bodyPr/>
          <a:lstStyle/>
          <a:p>
            <a:endParaRPr lang="en-US" dirty="0"/>
          </a:p>
        </p:txBody>
      </p:sp>
      <p:sp>
        <p:nvSpPr>
          <p:cNvPr id="4" name="Text 2"/>
          <p:cNvSpPr/>
          <p:nvPr/>
        </p:nvSpPr>
        <p:spPr>
          <a:xfrm>
            <a:off x="3157901" y="2412399"/>
            <a:ext cx="2767489" cy="345877"/>
          </a:xfrm>
          <a:prstGeom prst="rect">
            <a:avLst/>
          </a:prstGeom>
          <a:noFill/>
          <a:ln/>
        </p:spPr>
        <p:txBody>
          <a:bodyPr wrap="none" lIns="0" tIns="0" rIns="0" bIns="0" rtlCol="0" anchor="t"/>
          <a:lstStyle/>
          <a:p>
            <a:pPr marL="0" indent="0" algn="l">
              <a:lnSpc>
                <a:spcPts val="2700"/>
              </a:lnSpc>
              <a:buNone/>
            </a:pPr>
            <a:r>
              <a:rPr lang="en-US"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 </a:t>
            </a:r>
            <a:r>
              <a:rPr lang="ar-EG"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4</a:t>
            </a:r>
            <a:endParaRPr lang="en-US" sz="5400" u="sng" dirty="0"/>
          </a:p>
        </p:txBody>
      </p:sp>
      <p:sp>
        <p:nvSpPr>
          <p:cNvPr id="5" name="Text 3"/>
          <p:cNvSpPr/>
          <p:nvPr/>
        </p:nvSpPr>
        <p:spPr>
          <a:xfrm>
            <a:off x="1354302" y="3543729"/>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Price</a:t>
            </a:r>
            <a:r>
              <a:rPr lang="en-US" sz="2800" b="1" dirty="0">
                <a:solidFill>
                  <a:srgbClr val="F9EEE7"/>
                </a:solidFill>
                <a:latin typeface="Quattrocento" pitchFamily="34" charset="0"/>
                <a:ea typeface="Quattrocento" pitchFamily="34" charset="-122"/>
                <a:cs typeface="Quattrocento" pitchFamily="34" charset="-120"/>
              </a:rPr>
              <a:t>: </a:t>
            </a:r>
            <a:r>
              <a:rPr lang="ar-EG" sz="2000" dirty="0">
                <a:solidFill>
                  <a:srgbClr val="F9EEE7"/>
                </a:solidFill>
                <a:latin typeface="Quattrocento" pitchFamily="34" charset="0"/>
                <a:ea typeface="Quattrocento" pitchFamily="34" charset="-122"/>
                <a:cs typeface="Quattrocento" pitchFamily="34" charset="-120"/>
              </a:rPr>
              <a:t>54</a:t>
            </a:r>
            <a:r>
              <a:rPr lang="en-US" sz="2000" dirty="0">
                <a:solidFill>
                  <a:srgbClr val="F9EEE7"/>
                </a:solidFill>
                <a:latin typeface="Quattrocento" pitchFamily="34" charset="0"/>
                <a:ea typeface="Quattrocento" pitchFamily="34" charset="-122"/>
                <a:cs typeface="Quattrocento" pitchFamily="34" charset="-120"/>
              </a:rPr>
              <a:t>,000 EGP</a:t>
            </a:r>
            <a:endParaRPr lang="en-US" sz="2000"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3"/>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6"/>
          <a:stretch>
            <a:fillRect/>
          </a:stretch>
        </p:blipFill>
        <p:spPr>
          <a:xfrm>
            <a:off x="12265292" y="140879"/>
            <a:ext cx="2763527" cy="1906611"/>
          </a:xfrm>
          <a:prstGeom prst="rect">
            <a:avLst/>
          </a:prstGeom>
        </p:spPr>
      </p:pic>
      <p:sp>
        <p:nvSpPr>
          <p:cNvPr id="21" name="Text 3">
            <a:extLst>
              <a:ext uri="{FF2B5EF4-FFF2-40B4-BE49-F238E27FC236}">
                <a16:creationId xmlns:a16="http://schemas.microsoft.com/office/drawing/2014/main" id="{3440750D-A986-788F-B710-6499B2A87F97}"/>
              </a:ext>
            </a:extLst>
          </p:cNvPr>
          <p:cNvSpPr/>
          <p:nvPr/>
        </p:nvSpPr>
        <p:spPr>
          <a:xfrm>
            <a:off x="1354302" y="2991868"/>
            <a:ext cx="8363070" cy="461490"/>
          </a:xfrm>
          <a:prstGeom prst="rect">
            <a:avLst/>
          </a:prstGeom>
          <a:noFill/>
          <a:ln/>
        </p:spPr>
        <p:txBody>
          <a:bodyPr wrap="none" lIns="0" tIns="0" rIns="0" bIns="0" rtlCol="0" anchor="t"/>
          <a:lstStyle/>
          <a:p>
            <a:pPr>
              <a:lnSpc>
                <a:spcPts val="2950"/>
              </a:lnSpc>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Name</a:t>
            </a:r>
            <a:r>
              <a:rPr lang="en-US" sz="2800" b="1" dirty="0">
                <a:solidFill>
                  <a:srgbClr val="F9EEE7"/>
                </a:solidFill>
                <a:latin typeface="Quattrocento" pitchFamily="34" charset="0"/>
                <a:ea typeface="Quattrocento" pitchFamily="34" charset="-122"/>
                <a:cs typeface="Quattrocento" pitchFamily="34" charset="-120"/>
              </a:rPr>
              <a:t>: </a:t>
            </a:r>
            <a:r>
              <a:rPr lang="en-US" sz="2000" dirty="0" err="1">
                <a:solidFill>
                  <a:srgbClr val="F9EEE7"/>
                </a:solidFill>
                <a:latin typeface="Quattrocento" pitchFamily="34" charset="0"/>
                <a:ea typeface="Quattrocento" pitchFamily="34" charset="-122"/>
                <a:cs typeface="Quattrocento" pitchFamily="34" charset="-120"/>
              </a:rPr>
              <a:t>Ekomilk</a:t>
            </a:r>
            <a:r>
              <a:rPr lang="en-US" sz="2000" dirty="0">
                <a:solidFill>
                  <a:srgbClr val="F9EEE7"/>
                </a:solidFill>
                <a:latin typeface="Quattrocento" pitchFamily="34" charset="0"/>
                <a:ea typeface="Quattrocento" pitchFamily="34" charset="-122"/>
                <a:cs typeface="Quattrocento" pitchFamily="34" charset="-120"/>
              </a:rPr>
              <a:t> Ultra Pro 10</a:t>
            </a:r>
            <a:endParaRPr lang="en-US" sz="2000" dirty="0"/>
          </a:p>
        </p:txBody>
      </p:sp>
      <p:sp>
        <p:nvSpPr>
          <p:cNvPr id="23" name="Text 3">
            <a:extLst>
              <a:ext uri="{FF2B5EF4-FFF2-40B4-BE49-F238E27FC236}">
                <a16:creationId xmlns:a16="http://schemas.microsoft.com/office/drawing/2014/main" id="{5B91E7D3-6831-1E03-89DD-605BD2743D7C}"/>
              </a:ext>
            </a:extLst>
          </p:cNvPr>
          <p:cNvSpPr/>
          <p:nvPr/>
        </p:nvSpPr>
        <p:spPr>
          <a:xfrm>
            <a:off x="1354302" y="4067684"/>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Features:-</a:t>
            </a:r>
            <a:br>
              <a:rPr lang="ar-EG"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b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endParaRPr lang="en-US" sz="2000" dirty="0">
              <a:effectLst>
                <a:outerShdw blurRad="38100" dist="38100" dir="2700000" algn="tl">
                  <a:srgbClr val="000000">
                    <a:alpha val="43137"/>
                  </a:srgbClr>
                </a:outerShdw>
              </a:effectLst>
            </a:endParaRPr>
          </a:p>
        </p:txBody>
      </p:sp>
      <p:sp>
        <p:nvSpPr>
          <p:cNvPr id="34" name="TextBox 33">
            <a:extLst>
              <a:ext uri="{FF2B5EF4-FFF2-40B4-BE49-F238E27FC236}">
                <a16:creationId xmlns:a16="http://schemas.microsoft.com/office/drawing/2014/main" id="{D10F5913-F3EB-8823-5E34-C5CB9B9EB897}"/>
              </a:ext>
            </a:extLst>
          </p:cNvPr>
          <p:cNvSpPr txBox="1"/>
          <p:nvPr/>
        </p:nvSpPr>
        <p:spPr>
          <a:xfrm>
            <a:off x="1280516" y="4491269"/>
            <a:ext cx="7809695" cy="3416320"/>
          </a:xfrm>
          <a:prstGeom prst="rect">
            <a:avLst/>
          </a:prstGeom>
          <a:noFill/>
        </p:spPr>
        <p:txBody>
          <a:bodyPr wrap="square" rtlCol="0">
            <a:spAutoFit/>
          </a:bodyPr>
          <a:lstStyle/>
          <a:p>
            <a:r>
              <a:rPr lang="en-US" sz="2400" dirty="0">
                <a:solidFill>
                  <a:srgbClr val="F9EEE7"/>
                </a:solidFill>
              </a:rPr>
              <a:t>100 samples per hour6</a:t>
            </a:r>
            <a:endParaRPr lang="ar-EG" sz="2400" dirty="0">
              <a:solidFill>
                <a:srgbClr val="F9EEE7"/>
              </a:solidFill>
            </a:endParaRPr>
          </a:p>
          <a:p>
            <a:r>
              <a:rPr lang="en-US" sz="2400" dirty="0">
                <a:solidFill>
                  <a:srgbClr val="F9EEE7"/>
                </a:solidFill>
              </a:rPr>
              <a:t>Parameters</a:t>
            </a:r>
            <a:r>
              <a:rPr lang="ar-EG" sz="2400" dirty="0">
                <a:solidFill>
                  <a:srgbClr val="F9EEE7"/>
                </a:solidFill>
              </a:rPr>
              <a:t> 10</a:t>
            </a:r>
            <a:r>
              <a:rPr lang="en-US" sz="2400" dirty="0">
                <a:solidFill>
                  <a:srgbClr val="F9EEE7"/>
                </a:solidFill>
              </a:rPr>
              <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Solids</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Density</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Protein</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Freezing point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Added water</a:t>
            </a:r>
            <a:endParaRPr lang="ar-EG" sz="2400" dirty="0">
              <a:solidFill>
                <a:srgbClr val="F9EEE7"/>
              </a:solidFill>
            </a:endParaRPr>
          </a:p>
          <a:p>
            <a:r>
              <a:rPr lang="ar-EG" sz="2400" dirty="0">
                <a:solidFill>
                  <a:srgbClr val="F9EEE7"/>
                </a:solidFill>
              </a:rPr>
              <a:t>5</a:t>
            </a:r>
            <a:r>
              <a:rPr lang="en-US" sz="2400" dirty="0">
                <a:solidFill>
                  <a:srgbClr val="F9EEE7"/>
                </a:solidFill>
              </a:rPr>
              <a:t>-year warranty</a:t>
            </a:r>
          </a:p>
        </p:txBody>
      </p:sp>
      <p:pic>
        <p:nvPicPr>
          <p:cNvPr id="26" name="Picture 25" descr="A white and blue machine with a screen and a green screen&#10;&#10;AI-generated content may be incorrect.">
            <a:extLst>
              <a:ext uri="{FF2B5EF4-FFF2-40B4-BE49-F238E27FC236}">
                <a16:creationId xmlns:a16="http://schemas.microsoft.com/office/drawing/2014/main" id="{926615D7-8EA7-998F-7F33-83DFE29D7F19}"/>
              </a:ext>
            </a:extLst>
          </p:cNvPr>
          <p:cNvPicPr>
            <a:picLocks noChangeAspect="1"/>
          </p:cNvPicPr>
          <p:nvPr/>
        </p:nvPicPr>
        <p:blipFill>
          <a:blip r:embed="rId7"/>
          <a:stretch>
            <a:fillRect/>
          </a:stretch>
        </p:blipFill>
        <p:spPr>
          <a:xfrm>
            <a:off x="9587753" y="2047490"/>
            <a:ext cx="5768361" cy="5768361"/>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Tree>
    <p:extLst>
      <p:ext uri="{BB962C8B-B14F-4D97-AF65-F5344CB8AC3E}">
        <p14:creationId xmlns:p14="http://schemas.microsoft.com/office/powerpoint/2010/main" val="1387699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B90BA-2780-826D-21B3-61C7F9B37437}"/>
              </a:ext>
            </a:extLst>
          </p:cNvPr>
          <p:cNvSpPr/>
          <p:nvPr/>
        </p:nvSpPr>
        <p:spPr>
          <a:xfrm>
            <a:off x="-1349829" y="-653867"/>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 name="Shape 1"/>
          <p:cNvSpPr/>
          <p:nvPr/>
        </p:nvSpPr>
        <p:spPr>
          <a:xfrm>
            <a:off x="823317" y="1828482"/>
            <a:ext cx="8437141" cy="6238776"/>
          </a:xfrm>
          <a:prstGeom prst="roundRect">
            <a:avLst>
              <a:gd name="adj" fmla="val 2646"/>
            </a:avLst>
          </a:prstGeom>
          <a:solidFill>
            <a:srgbClr val="315251"/>
          </a:solidFill>
          <a:ln/>
        </p:spPr>
        <p:txBody>
          <a:bodyPr/>
          <a:lstStyle/>
          <a:p>
            <a:endParaRPr lang="en-US" dirty="0"/>
          </a:p>
        </p:txBody>
      </p:sp>
      <p:sp>
        <p:nvSpPr>
          <p:cNvPr id="4" name="Text 2"/>
          <p:cNvSpPr/>
          <p:nvPr/>
        </p:nvSpPr>
        <p:spPr>
          <a:xfrm>
            <a:off x="3157901" y="2412399"/>
            <a:ext cx="2767489" cy="345877"/>
          </a:xfrm>
          <a:prstGeom prst="rect">
            <a:avLst/>
          </a:prstGeom>
          <a:noFill/>
          <a:ln/>
        </p:spPr>
        <p:txBody>
          <a:bodyPr wrap="none" lIns="0" tIns="0" rIns="0" bIns="0" rtlCol="0" anchor="t"/>
          <a:lstStyle/>
          <a:p>
            <a:pPr marL="0" indent="0" algn="l">
              <a:lnSpc>
                <a:spcPts val="2700"/>
              </a:lnSpc>
              <a:buNone/>
            </a:pPr>
            <a:r>
              <a:rPr lang="en-US"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 </a:t>
            </a:r>
            <a:r>
              <a:rPr lang="ar-EG" sz="66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5</a:t>
            </a:r>
            <a:endParaRPr lang="en-US" sz="5400" u="sng" dirty="0"/>
          </a:p>
        </p:txBody>
      </p:sp>
      <p:sp>
        <p:nvSpPr>
          <p:cNvPr id="5" name="Text 3"/>
          <p:cNvSpPr/>
          <p:nvPr/>
        </p:nvSpPr>
        <p:spPr>
          <a:xfrm>
            <a:off x="1354302" y="3543729"/>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Price</a:t>
            </a:r>
            <a:r>
              <a:rPr lang="en-US" sz="2800" b="1" dirty="0">
                <a:solidFill>
                  <a:srgbClr val="F9EEE7"/>
                </a:solidFill>
                <a:latin typeface="Quattrocento" pitchFamily="34" charset="0"/>
                <a:ea typeface="Quattrocento" pitchFamily="34" charset="-122"/>
                <a:cs typeface="Quattrocento" pitchFamily="34" charset="-120"/>
              </a:rPr>
              <a:t>: </a:t>
            </a:r>
            <a:r>
              <a:rPr lang="ar-EG" sz="2000" dirty="0">
                <a:solidFill>
                  <a:srgbClr val="F9EEE7"/>
                </a:solidFill>
                <a:latin typeface="Quattrocento" pitchFamily="34" charset="0"/>
                <a:ea typeface="Quattrocento" pitchFamily="34" charset="-122"/>
                <a:cs typeface="Quattrocento" pitchFamily="34" charset="-120"/>
              </a:rPr>
              <a:t>54</a:t>
            </a:r>
            <a:r>
              <a:rPr lang="en-US" sz="2000" dirty="0">
                <a:solidFill>
                  <a:srgbClr val="F9EEE7"/>
                </a:solidFill>
                <a:latin typeface="Quattrocento" pitchFamily="34" charset="0"/>
                <a:ea typeface="Quattrocento" pitchFamily="34" charset="-122"/>
                <a:cs typeface="Quattrocento" pitchFamily="34" charset="-120"/>
              </a:rPr>
              <a:t>,000 EGP</a:t>
            </a:r>
            <a:endParaRPr lang="en-US" sz="2000"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3"/>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6"/>
          <a:stretch>
            <a:fillRect/>
          </a:stretch>
        </p:blipFill>
        <p:spPr>
          <a:xfrm>
            <a:off x="12265292" y="140879"/>
            <a:ext cx="2763527" cy="1906611"/>
          </a:xfrm>
          <a:prstGeom prst="rect">
            <a:avLst/>
          </a:prstGeom>
        </p:spPr>
      </p:pic>
      <p:sp>
        <p:nvSpPr>
          <p:cNvPr id="21" name="Text 3">
            <a:extLst>
              <a:ext uri="{FF2B5EF4-FFF2-40B4-BE49-F238E27FC236}">
                <a16:creationId xmlns:a16="http://schemas.microsoft.com/office/drawing/2014/main" id="{3440750D-A986-788F-B710-6499B2A87F97}"/>
              </a:ext>
            </a:extLst>
          </p:cNvPr>
          <p:cNvSpPr/>
          <p:nvPr/>
        </p:nvSpPr>
        <p:spPr>
          <a:xfrm>
            <a:off x="1354302" y="2991868"/>
            <a:ext cx="8363070" cy="461490"/>
          </a:xfrm>
          <a:prstGeom prst="rect">
            <a:avLst/>
          </a:prstGeom>
          <a:noFill/>
          <a:ln/>
        </p:spPr>
        <p:txBody>
          <a:bodyPr wrap="none" lIns="0" tIns="0" rIns="0" bIns="0" rtlCol="0" anchor="t"/>
          <a:lstStyle/>
          <a:p>
            <a:pPr>
              <a:lnSpc>
                <a:spcPts val="2950"/>
              </a:lnSpc>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Name</a:t>
            </a:r>
            <a:r>
              <a:rPr lang="en-US" sz="2800" b="1" dirty="0">
                <a:solidFill>
                  <a:srgbClr val="F9EEE7"/>
                </a:solidFill>
                <a:latin typeface="Quattrocento" pitchFamily="34" charset="0"/>
                <a:ea typeface="Quattrocento" pitchFamily="34" charset="-122"/>
                <a:cs typeface="Quattrocento" pitchFamily="34" charset="-120"/>
              </a:rPr>
              <a:t>: </a:t>
            </a:r>
            <a:r>
              <a:rPr lang="en-US" sz="2000" dirty="0" err="1">
                <a:solidFill>
                  <a:srgbClr val="F9EEE7"/>
                </a:solidFill>
                <a:latin typeface="Quattrocento" pitchFamily="34" charset="0"/>
                <a:ea typeface="Quattrocento" pitchFamily="34" charset="-122"/>
                <a:cs typeface="Quattrocento" pitchFamily="34" charset="-120"/>
              </a:rPr>
              <a:t>Ekomilk</a:t>
            </a:r>
            <a:r>
              <a:rPr lang="en-US" sz="2000" dirty="0">
                <a:solidFill>
                  <a:srgbClr val="F9EEE7"/>
                </a:solidFill>
                <a:latin typeface="Quattrocento" pitchFamily="34" charset="0"/>
                <a:ea typeface="Quattrocento" pitchFamily="34" charset="-122"/>
                <a:cs typeface="Quattrocento" pitchFamily="34" charset="-120"/>
              </a:rPr>
              <a:t> Ultra Pro 10</a:t>
            </a:r>
            <a:endParaRPr lang="en-US" sz="2000" dirty="0"/>
          </a:p>
        </p:txBody>
      </p:sp>
      <p:sp>
        <p:nvSpPr>
          <p:cNvPr id="23" name="Text 3">
            <a:extLst>
              <a:ext uri="{FF2B5EF4-FFF2-40B4-BE49-F238E27FC236}">
                <a16:creationId xmlns:a16="http://schemas.microsoft.com/office/drawing/2014/main" id="{5B91E7D3-6831-1E03-89DD-605BD2743D7C}"/>
              </a:ext>
            </a:extLst>
          </p:cNvPr>
          <p:cNvSpPr/>
          <p:nvPr/>
        </p:nvSpPr>
        <p:spPr>
          <a:xfrm>
            <a:off x="1354302" y="4067684"/>
            <a:ext cx="8363070" cy="461490"/>
          </a:xfrm>
          <a:prstGeom prst="rect">
            <a:avLst/>
          </a:prstGeom>
          <a:noFill/>
          <a:ln/>
        </p:spPr>
        <p:txBody>
          <a:bodyPr wrap="none" lIns="0" tIns="0" rIns="0" bIns="0" rtlCol="0" anchor="t"/>
          <a:lstStyle/>
          <a:p>
            <a:pPr marL="0" indent="0" algn="l">
              <a:lnSpc>
                <a:spcPts val="2950"/>
              </a:lnSpc>
              <a:buNone/>
            </a:pPr>
            <a: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Features:-</a:t>
            </a:r>
            <a:br>
              <a:rPr lang="ar-EG"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br>
              <a:rPr lang="en-US" sz="2800" b="1"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br>
            <a:endParaRPr lang="en-US" sz="2000" dirty="0">
              <a:effectLst>
                <a:outerShdw blurRad="38100" dist="38100" dir="2700000" algn="tl">
                  <a:srgbClr val="000000">
                    <a:alpha val="43137"/>
                  </a:srgbClr>
                </a:outerShdw>
              </a:effectLst>
            </a:endParaRPr>
          </a:p>
        </p:txBody>
      </p:sp>
      <p:sp>
        <p:nvSpPr>
          <p:cNvPr id="34" name="TextBox 33">
            <a:extLst>
              <a:ext uri="{FF2B5EF4-FFF2-40B4-BE49-F238E27FC236}">
                <a16:creationId xmlns:a16="http://schemas.microsoft.com/office/drawing/2014/main" id="{D10F5913-F3EB-8823-5E34-C5CB9B9EB897}"/>
              </a:ext>
            </a:extLst>
          </p:cNvPr>
          <p:cNvSpPr txBox="1"/>
          <p:nvPr/>
        </p:nvSpPr>
        <p:spPr>
          <a:xfrm>
            <a:off x="1280516" y="4491269"/>
            <a:ext cx="7809695" cy="3416320"/>
          </a:xfrm>
          <a:prstGeom prst="rect">
            <a:avLst/>
          </a:prstGeom>
          <a:noFill/>
        </p:spPr>
        <p:txBody>
          <a:bodyPr wrap="square" rtlCol="0">
            <a:spAutoFit/>
          </a:bodyPr>
          <a:lstStyle/>
          <a:p>
            <a:r>
              <a:rPr lang="en-US" sz="2400" dirty="0">
                <a:solidFill>
                  <a:srgbClr val="F9EEE7"/>
                </a:solidFill>
              </a:rPr>
              <a:t>100 samples per hour6</a:t>
            </a:r>
            <a:endParaRPr lang="ar-EG" sz="2400" dirty="0">
              <a:solidFill>
                <a:srgbClr val="F9EEE7"/>
              </a:solidFill>
            </a:endParaRPr>
          </a:p>
          <a:p>
            <a:r>
              <a:rPr lang="en-US" sz="2400" dirty="0">
                <a:solidFill>
                  <a:srgbClr val="F9EEE7"/>
                </a:solidFill>
              </a:rPr>
              <a:t>Parameters</a:t>
            </a:r>
            <a:r>
              <a:rPr lang="ar-EG" sz="2400" dirty="0">
                <a:solidFill>
                  <a:srgbClr val="F9EEE7"/>
                </a:solidFill>
              </a:rPr>
              <a:t> 10</a:t>
            </a:r>
            <a:r>
              <a:rPr lang="en-US" sz="2400" dirty="0">
                <a:solidFill>
                  <a:srgbClr val="F9EEE7"/>
                </a:solidFill>
              </a:rPr>
              <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Fat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Solids</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Density</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Protein</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Freezing point</a:t>
            </a:r>
            <a:endParaRPr lang="ar-EG" sz="2400" dirty="0">
              <a:solidFill>
                <a:srgbClr val="F9EEE7"/>
              </a:solidFill>
            </a:endParaRPr>
          </a:p>
          <a:p>
            <a:pPr marL="285750" indent="-285750">
              <a:buFont typeface="Arial" panose="020B0604020202020204" pitchFamily="34" charset="0"/>
              <a:buChar char="•"/>
            </a:pPr>
            <a:r>
              <a:rPr lang="en-US" sz="2400" dirty="0">
                <a:solidFill>
                  <a:srgbClr val="F9EEE7"/>
                </a:solidFill>
              </a:rPr>
              <a:t>Added water</a:t>
            </a:r>
            <a:endParaRPr lang="ar-EG" sz="2400" dirty="0">
              <a:solidFill>
                <a:srgbClr val="F9EEE7"/>
              </a:solidFill>
            </a:endParaRPr>
          </a:p>
          <a:p>
            <a:r>
              <a:rPr lang="ar-EG" sz="2400" dirty="0">
                <a:solidFill>
                  <a:srgbClr val="F9EEE7"/>
                </a:solidFill>
              </a:rPr>
              <a:t>5</a:t>
            </a:r>
            <a:r>
              <a:rPr lang="en-US" sz="2400" dirty="0">
                <a:solidFill>
                  <a:srgbClr val="F9EEE7"/>
                </a:solidFill>
              </a:rPr>
              <a:t>-year warranty</a:t>
            </a:r>
          </a:p>
        </p:txBody>
      </p:sp>
      <p:pic>
        <p:nvPicPr>
          <p:cNvPr id="26" name="Picture 25" descr="A white and blue machine with a screen and a green screen&#10;&#10;AI-generated content may be incorrect.">
            <a:extLst>
              <a:ext uri="{FF2B5EF4-FFF2-40B4-BE49-F238E27FC236}">
                <a16:creationId xmlns:a16="http://schemas.microsoft.com/office/drawing/2014/main" id="{926615D7-8EA7-998F-7F33-83DFE29D7F19}"/>
              </a:ext>
            </a:extLst>
          </p:cNvPr>
          <p:cNvPicPr>
            <a:picLocks noChangeAspect="1"/>
          </p:cNvPicPr>
          <p:nvPr/>
        </p:nvPicPr>
        <p:blipFill>
          <a:blip r:embed="rId7"/>
          <a:stretch>
            <a:fillRect/>
          </a:stretch>
        </p:blipFill>
        <p:spPr>
          <a:xfrm>
            <a:off x="9587753" y="2047490"/>
            <a:ext cx="5768361" cy="5768361"/>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Tree>
    <p:extLst>
      <p:ext uri="{BB962C8B-B14F-4D97-AF65-F5344CB8AC3E}">
        <p14:creationId xmlns:p14="http://schemas.microsoft.com/office/powerpoint/2010/main" val="238614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A white and blue machine with a screen and a green screen&#10;&#10;AI-generated content may be incorrect.">
            <a:extLst>
              <a:ext uri="{FF2B5EF4-FFF2-40B4-BE49-F238E27FC236}">
                <a16:creationId xmlns:a16="http://schemas.microsoft.com/office/drawing/2014/main" id="{926615D7-8EA7-998F-7F33-83DFE29D7F19}"/>
              </a:ext>
            </a:extLst>
          </p:cNvPr>
          <p:cNvPicPr>
            <a:picLocks noChangeAspect="1"/>
          </p:cNvPicPr>
          <p:nvPr/>
        </p:nvPicPr>
        <p:blipFill>
          <a:blip r:embed="rId3"/>
          <a:stretch>
            <a:fillRect/>
          </a:stretch>
        </p:blipFill>
        <p:spPr>
          <a:xfrm>
            <a:off x="9587753" y="2047490"/>
            <a:ext cx="5768361" cy="5768361"/>
          </a:xfrm>
          <a:prstGeom prst="rect">
            <a:avLst/>
          </a:prstGeom>
          <a:ln>
            <a:noFill/>
          </a:ln>
          <a:effectLst>
            <a:outerShdw blurRad="292100" dist="139700" dir="2700000" algn="tl" rotWithShape="0">
              <a:srgbClr val="333333">
                <a:alpha val="65000"/>
              </a:srgbClr>
            </a:outerShdw>
            <a:reflection blurRad="6350" stA="50000" endA="300" endPos="55000" dir="5400000" sy="-100000" algn="bl" rotWithShape="0"/>
          </a:effectLst>
        </p:spPr>
      </p:pic>
      <p:sp>
        <p:nvSpPr>
          <p:cNvPr id="27" name="Rectangle 26">
            <a:extLst>
              <a:ext uri="{FF2B5EF4-FFF2-40B4-BE49-F238E27FC236}">
                <a16:creationId xmlns:a16="http://schemas.microsoft.com/office/drawing/2014/main" id="{A53E3D72-041E-1B99-E63B-54700FB10D14}"/>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B90BA-2780-826D-21B3-61C7F9B37437}"/>
              </a:ext>
            </a:extLst>
          </p:cNvPr>
          <p:cNvSpPr/>
          <p:nvPr/>
        </p:nvSpPr>
        <p:spPr>
          <a:xfrm>
            <a:off x="-1349829" y="-653867"/>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8" name="Picture 27">
            <a:extLst>
              <a:ext uri="{FF2B5EF4-FFF2-40B4-BE49-F238E27FC236}">
                <a16:creationId xmlns:a16="http://schemas.microsoft.com/office/drawing/2014/main" id="{1E7BADD3-D1AD-1595-58F0-8DE71D337525}"/>
              </a:ext>
            </a:extLst>
          </p:cNvPr>
          <p:cNvPicPr>
            <a:picLocks noChangeAspect="1"/>
          </p:cNvPicPr>
          <p:nvPr/>
        </p:nvPicPr>
        <p:blipFill>
          <a:blip r:embed="rId4"/>
          <a:stretch>
            <a:fillRect/>
          </a:stretch>
        </p:blipFill>
        <p:spPr>
          <a:xfrm>
            <a:off x="-61730" y="-866114"/>
            <a:ext cx="6083004" cy="2516255"/>
          </a:xfrm>
          <a:prstGeom prst="rect">
            <a:avLst/>
          </a:prstGeom>
        </p:spPr>
      </p:pic>
      <p:sp>
        <p:nvSpPr>
          <p:cNvPr id="2" name="Text 0"/>
          <p:cNvSpPr/>
          <p:nvPr/>
        </p:nvSpPr>
        <p:spPr>
          <a:xfrm>
            <a:off x="174169" y="268884"/>
            <a:ext cx="2946399" cy="306703"/>
          </a:xfrm>
          <a:prstGeom prst="rect">
            <a:avLst/>
          </a:prstGeom>
          <a:noFill/>
          <a:ln/>
        </p:spPr>
        <p:txBody>
          <a:bodyPr wrap="none" lIns="0" tIns="0" rIns="0" bIns="0" rtlCol="0" anchor="t"/>
          <a:lstStyle/>
          <a:p>
            <a:pPr marL="0" indent="0" algn="l">
              <a:lnSpc>
                <a:spcPts val="5400"/>
              </a:lnSpc>
              <a:buNone/>
            </a:pPr>
            <a:r>
              <a:rPr lang="en-US" sz="4800" b="1" u="sng" dirty="0">
                <a:solidFill>
                  <a:srgbClr val="FFD9BE"/>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Products &amp; Services</a:t>
            </a:r>
            <a:endParaRPr lang="en-US" sz="4800" b="1" u="sng" dirty="0">
              <a:effectLst>
                <a:outerShdw blurRad="38100" dist="38100" dir="2700000" algn="tl">
                  <a:srgbClr val="000000">
                    <a:alpha val="43137"/>
                  </a:srgbClr>
                </a:outerShdw>
              </a:effectLst>
            </a:endParaRPr>
          </a:p>
        </p:txBody>
      </p:sp>
      <p:sp>
        <p:nvSpPr>
          <p:cNvPr id="30" name="Freeform 7">
            <a:extLst>
              <a:ext uri="{FF2B5EF4-FFF2-40B4-BE49-F238E27FC236}">
                <a16:creationId xmlns:a16="http://schemas.microsoft.com/office/drawing/2014/main" id="{26EAC09D-2512-7C5A-0E30-6B72FD52D06D}"/>
              </a:ext>
            </a:extLst>
          </p:cNvPr>
          <p:cNvSpPr/>
          <p:nvPr/>
        </p:nvSpPr>
        <p:spPr>
          <a:xfrm>
            <a:off x="12845777" y="106921"/>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pic>
        <p:nvPicPr>
          <p:cNvPr id="20" name="Picture 19" descr="A logo with text on it">
            <a:extLst>
              <a:ext uri="{FF2B5EF4-FFF2-40B4-BE49-F238E27FC236}">
                <a16:creationId xmlns:a16="http://schemas.microsoft.com/office/drawing/2014/main" id="{63B746A1-0DEC-745D-3FC3-F7D2BBF443C4}"/>
              </a:ext>
            </a:extLst>
          </p:cNvPr>
          <p:cNvPicPr>
            <a:picLocks noChangeAspect="1"/>
          </p:cNvPicPr>
          <p:nvPr/>
        </p:nvPicPr>
        <p:blipFill>
          <a:blip r:embed="rId7"/>
          <a:stretch>
            <a:fillRect/>
          </a:stretch>
        </p:blipFill>
        <p:spPr>
          <a:xfrm>
            <a:off x="12265292" y="140879"/>
            <a:ext cx="2763527" cy="1906611"/>
          </a:xfrm>
          <a:prstGeom prst="rect">
            <a:avLst/>
          </a:prstGeom>
        </p:spPr>
      </p:pic>
      <p:grpSp>
        <p:nvGrpSpPr>
          <p:cNvPr id="11" name="Group 10">
            <a:extLst>
              <a:ext uri="{FF2B5EF4-FFF2-40B4-BE49-F238E27FC236}">
                <a16:creationId xmlns:a16="http://schemas.microsoft.com/office/drawing/2014/main" id="{FE97564A-E317-F61A-716C-B140288D249C}"/>
              </a:ext>
            </a:extLst>
          </p:cNvPr>
          <p:cNvGrpSpPr/>
          <p:nvPr/>
        </p:nvGrpSpPr>
        <p:grpSpPr>
          <a:xfrm>
            <a:off x="727578" y="2746498"/>
            <a:ext cx="13175243" cy="3657918"/>
            <a:chOff x="823317" y="1855376"/>
            <a:chExt cx="13175243" cy="3657918"/>
          </a:xfrm>
        </p:grpSpPr>
        <p:sp>
          <p:nvSpPr>
            <p:cNvPr id="3" name="Shape 1"/>
            <p:cNvSpPr/>
            <p:nvPr/>
          </p:nvSpPr>
          <p:spPr>
            <a:xfrm>
              <a:off x="823317" y="1855376"/>
              <a:ext cx="8437141" cy="3657918"/>
            </a:xfrm>
            <a:prstGeom prst="roundRect">
              <a:avLst>
                <a:gd name="adj" fmla="val 2646"/>
              </a:avLst>
            </a:prstGeom>
            <a:solidFill>
              <a:srgbClr val="315251"/>
            </a:solidFill>
            <a:ln/>
          </p:spPr>
          <p:txBody>
            <a:bodyPr/>
            <a:lstStyle/>
            <a:p>
              <a:endParaRPr lang="en-US" dirty="0"/>
            </a:p>
          </p:txBody>
        </p:sp>
        <p:sp>
          <p:nvSpPr>
            <p:cNvPr id="6" name="Text 13">
              <a:extLst>
                <a:ext uri="{FF2B5EF4-FFF2-40B4-BE49-F238E27FC236}">
                  <a16:creationId xmlns:a16="http://schemas.microsoft.com/office/drawing/2014/main" id="{1DC84F03-1A2F-0C18-F478-08E636932839}"/>
                </a:ext>
              </a:extLst>
            </p:cNvPr>
            <p:cNvSpPr/>
            <p:nvPr/>
          </p:nvSpPr>
          <p:spPr>
            <a:xfrm>
              <a:off x="2394427" y="2335017"/>
              <a:ext cx="3321010" cy="415052"/>
            </a:xfrm>
            <a:prstGeom prst="rect">
              <a:avLst/>
            </a:prstGeom>
            <a:noFill/>
            <a:ln/>
          </p:spPr>
          <p:txBody>
            <a:bodyPr wrap="none" lIns="0" tIns="0" rIns="0" bIns="0" rtlCol="0" anchor="t"/>
            <a:lstStyle/>
            <a:p>
              <a:pPr marL="0" indent="0" algn="l">
                <a:lnSpc>
                  <a:spcPts val="3250"/>
                </a:lnSpc>
                <a:buNone/>
              </a:pPr>
              <a:r>
                <a:rPr lang="en-US" sz="4400" b="1" u="sng" dirty="0">
                  <a:solidFill>
                    <a:srgbClr val="F9EEE7"/>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Additional Offerings:</a:t>
              </a:r>
              <a:endParaRPr lang="en-US" sz="4400" b="1" u="sng" dirty="0">
                <a:solidFill>
                  <a:srgbClr val="F9EEE7"/>
                </a:solidFill>
                <a:effectLst>
                  <a:outerShdw blurRad="38100" dist="38100" dir="2700000" algn="tl">
                    <a:srgbClr val="000000">
                      <a:alpha val="43137"/>
                    </a:srgbClr>
                  </a:outerShdw>
                </a:effectLst>
              </a:endParaRPr>
            </a:p>
          </p:txBody>
        </p:sp>
        <p:sp>
          <p:nvSpPr>
            <p:cNvPr id="7" name="Text 14">
              <a:extLst>
                <a:ext uri="{FF2B5EF4-FFF2-40B4-BE49-F238E27FC236}">
                  <a16:creationId xmlns:a16="http://schemas.microsoft.com/office/drawing/2014/main" id="{9987634A-1777-8A13-48C1-FBE8CFFE8F01}"/>
                </a:ext>
              </a:extLst>
            </p:cNvPr>
            <p:cNvSpPr/>
            <p:nvPr/>
          </p:nvSpPr>
          <p:spPr>
            <a:xfrm>
              <a:off x="1014794" y="3281843"/>
              <a:ext cx="12983766" cy="376357"/>
            </a:xfrm>
            <a:prstGeom prst="rect">
              <a:avLst/>
            </a:prstGeom>
            <a:noFill/>
            <a:ln/>
          </p:spPr>
          <p:txBody>
            <a:bodyPr wrap="none" lIns="0" tIns="0" rIns="0" bIns="0" rtlCol="0" anchor="t"/>
            <a:lstStyle/>
            <a:p>
              <a:pPr marL="342900" indent="-342900" algn="l">
                <a:lnSpc>
                  <a:spcPts val="2950"/>
                </a:lnSpc>
                <a:buSzPct val="100000"/>
                <a:buChar char="•"/>
              </a:pPr>
              <a:r>
                <a:rPr lang="en-US" sz="2200" dirty="0">
                  <a:solidFill>
                    <a:srgbClr val="F9EEE7"/>
                  </a:solidFill>
                  <a:latin typeface="Quattrocento" pitchFamily="34" charset="0"/>
                  <a:ea typeface="Quattrocento" pitchFamily="34" charset="-122"/>
                  <a:cs typeface="Quattrocento" pitchFamily="34" charset="-120"/>
                </a:rPr>
                <a:t>New locally assembled </a:t>
              </a:r>
              <a:r>
                <a:rPr lang="en-US" sz="2200" b="1" dirty="0">
                  <a:solidFill>
                    <a:srgbClr val="F9EEE7"/>
                  </a:solidFill>
                  <a:latin typeface="Quattrocento" pitchFamily="34" charset="0"/>
                  <a:ea typeface="Quattrocento" pitchFamily="34" charset="-122"/>
                  <a:cs typeface="Quattrocento" pitchFamily="34" charset="-120"/>
                </a:rPr>
                <a:t>eko+</a:t>
              </a:r>
              <a:r>
                <a:rPr lang="en-US" sz="2200" dirty="0">
                  <a:solidFill>
                    <a:srgbClr val="F9EEE7"/>
                  </a:solidFill>
                  <a:latin typeface="Quattrocento" pitchFamily="34" charset="0"/>
                  <a:ea typeface="Quattrocento" pitchFamily="34" charset="-122"/>
                  <a:cs typeface="Quattrocento" pitchFamily="34" charset="-120"/>
                </a:rPr>
                <a:t> device (Egyptian-made)</a:t>
              </a:r>
              <a:endParaRPr lang="en-US" sz="2200" dirty="0"/>
            </a:p>
          </p:txBody>
        </p:sp>
        <p:sp>
          <p:nvSpPr>
            <p:cNvPr id="8" name="Text 15">
              <a:extLst>
                <a:ext uri="{FF2B5EF4-FFF2-40B4-BE49-F238E27FC236}">
                  <a16:creationId xmlns:a16="http://schemas.microsoft.com/office/drawing/2014/main" id="{663C384B-7D60-B360-A3EF-028878C6F573}"/>
                </a:ext>
              </a:extLst>
            </p:cNvPr>
            <p:cNvSpPr/>
            <p:nvPr/>
          </p:nvSpPr>
          <p:spPr>
            <a:xfrm>
              <a:off x="1014794" y="3740471"/>
              <a:ext cx="12983766" cy="376357"/>
            </a:xfrm>
            <a:prstGeom prst="rect">
              <a:avLst/>
            </a:prstGeom>
            <a:noFill/>
            <a:ln/>
          </p:spPr>
          <p:txBody>
            <a:bodyPr wrap="none" lIns="0" tIns="0" rIns="0" bIns="0" rtlCol="0" anchor="t"/>
            <a:lstStyle/>
            <a:p>
              <a:pPr marL="342900" indent="-342900" algn="l">
                <a:lnSpc>
                  <a:spcPts val="2950"/>
                </a:lnSpc>
                <a:buSzPct val="100000"/>
                <a:buChar char="•"/>
              </a:pPr>
              <a:r>
                <a:rPr lang="en-US" sz="2200" dirty="0">
                  <a:solidFill>
                    <a:srgbClr val="F9EEE7"/>
                  </a:solidFill>
                  <a:latin typeface="Quattrocento" pitchFamily="34" charset="0"/>
                  <a:ea typeface="Quattrocento" pitchFamily="34" charset="-122"/>
                  <a:cs typeface="Quattrocento" pitchFamily="34" charset="-120"/>
                </a:rPr>
                <a:t>Voltage stabilizer (protects devices from high/low electricity)</a:t>
              </a:r>
              <a:endParaRPr lang="en-US" sz="2200" dirty="0"/>
            </a:p>
          </p:txBody>
        </p:sp>
        <p:sp>
          <p:nvSpPr>
            <p:cNvPr id="9" name="Text 16">
              <a:extLst>
                <a:ext uri="{FF2B5EF4-FFF2-40B4-BE49-F238E27FC236}">
                  <a16:creationId xmlns:a16="http://schemas.microsoft.com/office/drawing/2014/main" id="{9DED612C-D77A-1A66-685B-E1F0D9205746}"/>
                </a:ext>
              </a:extLst>
            </p:cNvPr>
            <p:cNvSpPr/>
            <p:nvPr/>
          </p:nvSpPr>
          <p:spPr>
            <a:xfrm>
              <a:off x="1014794" y="4199100"/>
              <a:ext cx="12983766" cy="376357"/>
            </a:xfrm>
            <a:prstGeom prst="rect">
              <a:avLst/>
            </a:prstGeom>
            <a:noFill/>
            <a:ln/>
          </p:spPr>
          <p:txBody>
            <a:bodyPr wrap="none" lIns="0" tIns="0" rIns="0" bIns="0" rtlCol="0" anchor="t"/>
            <a:lstStyle/>
            <a:p>
              <a:pPr marL="342900" indent="-342900" algn="l">
                <a:lnSpc>
                  <a:spcPts val="2950"/>
                </a:lnSpc>
                <a:buSzPct val="100000"/>
                <a:buChar char="•"/>
              </a:pPr>
              <a:r>
                <a:rPr lang="en-US" sz="2200" dirty="0">
                  <a:solidFill>
                    <a:srgbClr val="F9EEE7"/>
                  </a:solidFill>
                  <a:latin typeface="Quattrocento" pitchFamily="34" charset="0"/>
                  <a:ea typeface="Quattrocento" pitchFamily="34" charset="-122"/>
                  <a:cs typeface="Quattrocento" pitchFamily="34" charset="-120"/>
                </a:rPr>
                <a:t>Device accessories (cleaning solution, car cable, power source)</a:t>
              </a:r>
              <a:endParaRPr lang="en-US" sz="2200" dirty="0"/>
            </a:p>
          </p:txBody>
        </p:sp>
        <p:sp>
          <p:nvSpPr>
            <p:cNvPr id="10" name="Text 17">
              <a:extLst>
                <a:ext uri="{FF2B5EF4-FFF2-40B4-BE49-F238E27FC236}">
                  <a16:creationId xmlns:a16="http://schemas.microsoft.com/office/drawing/2014/main" id="{6D680B73-AED4-628D-C6F8-46BCC69D428B}"/>
                </a:ext>
              </a:extLst>
            </p:cNvPr>
            <p:cNvSpPr/>
            <p:nvPr/>
          </p:nvSpPr>
          <p:spPr>
            <a:xfrm>
              <a:off x="1014794" y="4657729"/>
              <a:ext cx="12983766" cy="376357"/>
            </a:xfrm>
            <a:prstGeom prst="rect">
              <a:avLst/>
            </a:prstGeom>
            <a:noFill/>
            <a:ln/>
          </p:spPr>
          <p:txBody>
            <a:bodyPr wrap="none" lIns="0" tIns="0" rIns="0" bIns="0" rtlCol="0" anchor="t"/>
            <a:lstStyle/>
            <a:p>
              <a:pPr marL="342900" indent="-342900" algn="l">
                <a:lnSpc>
                  <a:spcPts val="2950"/>
                </a:lnSpc>
                <a:buSzPct val="100000"/>
                <a:buChar char="•"/>
              </a:pPr>
              <a:r>
                <a:rPr lang="en-US" sz="2200" dirty="0">
                  <a:solidFill>
                    <a:srgbClr val="F9EEE7"/>
                  </a:solidFill>
                  <a:latin typeface="Quattrocento" pitchFamily="34" charset="0"/>
                  <a:ea typeface="Quattrocento" pitchFamily="34" charset="-122"/>
                  <a:cs typeface="Quattrocento" pitchFamily="34" charset="-120"/>
                </a:rPr>
                <a:t>Full maintenance and repair services</a:t>
              </a:r>
              <a:endParaRPr lang="en-US" sz="2200" dirty="0"/>
            </a:p>
          </p:txBody>
        </p:sp>
      </p:grpSp>
    </p:spTree>
    <p:extLst>
      <p:ext uri="{BB962C8B-B14F-4D97-AF65-F5344CB8AC3E}">
        <p14:creationId xmlns:p14="http://schemas.microsoft.com/office/powerpoint/2010/main" val="2540256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E73FAAD-921E-8476-16C1-80CF1D6FC6DD}"/>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E2AE2941-B86F-17E8-7185-705B1A92A450}"/>
              </a:ext>
            </a:extLst>
          </p:cNvPr>
          <p:cNvPicPr>
            <a:picLocks noChangeAspect="1"/>
          </p:cNvPicPr>
          <p:nvPr/>
        </p:nvPicPr>
        <p:blipFill>
          <a:blip r:embed="rId3"/>
          <a:stretch>
            <a:fillRect/>
          </a:stretch>
        </p:blipFill>
        <p:spPr>
          <a:xfrm>
            <a:off x="-61730" y="-866113"/>
            <a:ext cx="5156244" cy="1998227"/>
          </a:xfrm>
          <a:prstGeom prst="rect">
            <a:avLst/>
          </a:prstGeom>
        </p:spPr>
      </p:pic>
      <p:sp>
        <p:nvSpPr>
          <p:cNvPr id="35" name="TextBox 34">
            <a:extLst>
              <a:ext uri="{FF2B5EF4-FFF2-40B4-BE49-F238E27FC236}">
                <a16:creationId xmlns:a16="http://schemas.microsoft.com/office/drawing/2014/main" id="{F4269243-9C2B-AD17-1A31-55D9BC292EA9}"/>
              </a:ext>
            </a:extLst>
          </p:cNvPr>
          <p:cNvSpPr txBox="1"/>
          <p:nvPr/>
        </p:nvSpPr>
        <p:spPr>
          <a:xfrm>
            <a:off x="-29026" y="0"/>
            <a:ext cx="5660571" cy="923330"/>
          </a:xfrm>
          <a:prstGeom prst="rect">
            <a:avLst/>
          </a:prstGeom>
          <a:noFill/>
        </p:spPr>
        <p:txBody>
          <a:bodyPr wrap="square" rtlCol="0">
            <a:spAutoFit/>
          </a:bodyPr>
          <a:lstStyle/>
          <a:p>
            <a:r>
              <a:rPr lang="en-US" sz="5400" b="1" dirty="0">
                <a:solidFill>
                  <a:schemeClr val="accent4">
                    <a:lumMod val="20000"/>
                    <a:lumOff val="80000"/>
                  </a:schemeClr>
                </a:solidFill>
                <a:effectLst>
                  <a:outerShdw blurRad="38100" dist="38100" dir="2700000" algn="tl">
                    <a:srgbClr val="000000">
                      <a:alpha val="43137"/>
                    </a:srgbClr>
                  </a:outerShdw>
                </a:effectLst>
              </a:rPr>
              <a:t>Business Model</a:t>
            </a:r>
          </a:p>
        </p:txBody>
      </p:sp>
      <p:graphicFrame>
        <p:nvGraphicFramePr>
          <p:cNvPr id="37" name="Table 36">
            <a:extLst>
              <a:ext uri="{FF2B5EF4-FFF2-40B4-BE49-F238E27FC236}">
                <a16:creationId xmlns:a16="http://schemas.microsoft.com/office/drawing/2014/main" id="{A74D45D2-93AF-E0B7-A8B9-F87D02FD3DFC}"/>
              </a:ext>
            </a:extLst>
          </p:cNvPr>
          <p:cNvGraphicFramePr>
            <a:graphicFrameLocks noGrp="1"/>
          </p:cNvGraphicFramePr>
          <p:nvPr>
            <p:extLst>
              <p:ext uri="{D42A27DB-BD31-4B8C-83A1-F6EECF244321}">
                <p14:modId xmlns:p14="http://schemas.microsoft.com/office/powerpoint/2010/main" val="917078553"/>
              </p:ext>
            </p:extLst>
          </p:nvPr>
        </p:nvGraphicFramePr>
        <p:xfrm>
          <a:off x="179881" y="1227469"/>
          <a:ext cx="14343404" cy="6143469"/>
        </p:xfrm>
        <a:graphic>
          <a:graphicData uri="http://schemas.openxmlformats.org/drawingml/2006/table">
            <a:tbl>
              <a:tblPr firstRow="1" bandRow="1">
                <a:tableStyleId>{5C22544A-7EE6-4342-B048-85BDC9FD1C3A}</a:tableStyleId>
              </a:tblPr>
              <a:tblGrid>
                <a:gridCol w="3062925">
                  <a:extLst>
                    <a:ext uri="{9D8B030D-6E8A-4147-A177-3AD203B41FA5}">
                      <a16:colId xmlns:a16="http://schemas.microsoft.com/office/drawing/2014/main" val="2508452959"/>
                    </a:ext>
                  </a:extLst>
                </a:gridCol>
                <a:gridCol w="2760313">
                  <a:extLst>
                    <a:ext uri="{9D8B030D-6E8A-4147-A177-3AD203B41FA5}">
                      <a16:colId xmlns:a16="http://schemas.microsoft.com/office/drawing/2014/main" val="1323897443"/>
                    </a:ext>
                  </a:extLst>
                </a:gridCol>
                <a:gridCol w="2801237">
                  <a:extLst>
                    <a:ext uri="{9D8B030D-6E8A-4147-A177-3AD203B41FA5}">
                      <a16:colId xmlns:a16="http://schemas.microsoft.com/office/drawing/2014/main" val="4155799756"/>
                    </a:ext>
                  </a:extLst>
                </a:gridCol>
                <a:gridCol w="3013822">
                  <a:extLst>
                    <a:ext uri="{9D8B030D-6E8A-4147-A177-3AD203B41FA5}">
                      <a16:colId xmlns:a16="http://schemas.microsoft.com/office/drawing/2014/main" val="3906463500"/>
                    </a:ext>
                  </a:extLst>
                </a:gridCol>
                <a:gridCol w="2705107">
                  <a:extLst>
                    <a:ext uri="{9D8B030D-6E8A-4147-A177-3AD203B41FA5}">
                      <a16:colId xmlns:a16="http://schemas.microsoft.com/office/drawing/2014/main" val="2483161592"/>
                    </a:ext>
                  </a:extLst>
                </a:gridCol>
              </a:tblGrid>
              <a:tr h="2270124">
                <a:tc rowSpan="2">
                  <a:txBody>
                    <a:bodyPr/>
                    <a:lstStyle/>
                    <a:p>
                      <a:r>
                        <a:rPr lang="en-US" sz="3200" b="1" dirty="0">
                          <a:solidFill>
                            <a:schemeClr val="bg2">
                              <a:lumMod val="90000"/>
                            </a:schemeClr>
                          </a:solidFill>
                          <a:effectLst>
                            <a:outerShdw blurRad="38100" dist="38100" dir="2700000" algn="tl">
                              <a:srgbClr val="000000">
                                <a:alpha val="43137"/>
                              </a:srgbClr>
                            </a:outerShdw>
                          </a:effectLst>
                        </a:rPr>
                        <a:t>Key Partner </a:t>
                      </a:r>
                      <a:endParaRPr lang="ar-EG" sz="3200" b="1" dirty="0">
                        <a:solidFill>
                          <a:schemeClr val="bg2">
                            <a:lumMod val="90000"/>
                          </a:schemeClr>
                        </a:solidFill>
                        <a:effectLst>
                          <a:outerShdw blurRad="38100" dist="38100" dir="2700000" algn="tl">
                            <a:srgbClr val="000000">
                              <a:alpha val="43137"/>
                            </a:srgbClr>
                          </a:outerShdw>
                        </a:effectLst>
                      </a:endParaRPr>
                    </a:p>
                    <a:p>
                      <a:endParaRPr lang="ar-EG" sz="1300" b="0" dirty="0">
                        <a:solidFill>
                          <a:schemeClr val="accent4">
                            <a:lumMod val="20000"/>
                            <a:lumOff val="80000"/>
                          </a:schemeClr>
                        </a:solidFill>
                        <a:effectLst>
                          <a:outerShdw blurRad="38100" dist="38100" dir="2700000" algn="tl">
                            <a:srgbClr val="000000">
                              <a:alpha val="43137"/>
                            </a:srgbClr>
                          </a:outerShdw>
                        </a:effectLst>
                      </a:endParaRPr>
                    </a:p>
                    <a:p>
                      <a:pPr>
                        <a:buFont typeface="Arial" panose="020B0604020202020204" pitchFamily="34" charset="0"/>
                        <a:buChar char="•"/>
                      </a:pPr>
                      <a:r>
                        <a:rPr lang="en-US" sz="1300" b="0" dirty="0">
                          <a:solidFill>
                            <a:schemeClr val="accent4">
                              <a:lumMod val="20000"/>
                              <a:lumOff val="80000"/>
                            </a:schemeClr>
                          </a:solidFill>
                        </a:rPr>
                        <a:t>Foreign suppliers (</a:t>
                      </a:r>
                      <a:r>
                        <a:rPr lang="en-US" sz="1300" b="0" dirty="0" err="1">
                          <a:solidFill>
                            <a:schemeClr val="accent4">
                              <a:lumMod val="20000"/>
                              <a:lumOff val="80000"/>
                            </a:schemeClr>
                          </a:solidFill>
                        </a:rPr>
                        <a:t>Ekomilk</a:t>
                      </a:r>
                      <a:r>
                        <a:rPr lang="en-US" sz="1300" b="0" dirty="0">
                          <a:solidFill>
                            <a:schemeClr val="accent4">
                              <a:lumMod val="20000"/>
                              <a:lumOff val="80000"/>
                            </a:schemeClr>
                          </a:solidFill>
                        </a:rPr>
                        <a:t> Ultra, Pro 6, Pro 10).</a:t>
                      </a:r>
                    </a:p>
                    <a:p>
                      <a:pPr>
                        <a:buFont typeface="Arial" panose="020B0604020202020204" pitchFamily="34" charset="0"/>
                        <a:buChar char="•"/>
                      </a:pPr>
                      <a:r>
                        <a:rPr lang="en-US" sz="1300" b="0" dirty="0">
                          <a:solidFill>
                            <a:schemeClr val="accent4">
                              <a:lumMod val="20000"/>
                              <a:lumOff val="80000"/>
                            </a:schemeClr>
                          </a:solidFill>
                        </a:rPr>
                        <a:t>Local suppliers for </a:t>
                      </a:r>
                      <a:r>
                        <a:rPr lang="en-US" sz="1300" b="0" dirty="0" err="1">
                          <a:solidFill>
                            <a:schemeClr val="accent4">
                              <a:lumMod val="20000"/>
                              <a:lumOff val="80000"/>
                            </a:schemeClr>
                          </a:solidFill>
                        </a:rPr>
                        <a:t>eko</a:t>
                      </a:r>
                      <a:r>
                        <a:rPr lang="en-US" sz="1300" b="0" dirty="0">
                          <a:solidFill>
                            <a:schemeClr val="accent4">
                              <a:lumMod val="20000"/>
                              <a:lumOff val="80000"/>
                            </a:schemeClr>
                          </a:solidFill>
                        </a:rPr>
                        <a:t>+ components.</a:t>
                      </a:r>
                    </a:p>
                    <a:p>
                      <a:pPr>
                        <a:buFont typeface="Arial" panose="020B0604020202020204" pitchFamily="34" charset="0"/>
                        <a:buChar char="•"/>
                      </a:pPr>
                      <a:r>
                        <a:rPr lang="en-US" sz="1300" b="0" dirty="0">
                          <a:solidFill>
                            <a:schemeClr val="accent4">
                              <a:lumMod val="20000"/>
                              <a:lumOff val="80000"/>
                            </a:schemeClr>
                          </a:solidFill>
                        </a:rPr>
                        <a:t>Ministry of Agriculture &amp; agricultural faculties.</a:t>
                      </a:r>
                    </a:p>
                    <a:p>
                      <a:pPr>
                        <a:buFont typeface="Arial" panose="020B0604020202020204" pitchFamily="34" charset="0"/>
                        <a:buChar char="•"/>
                      </a:pPr>
                      <a:r>
                        <a:rPr lang="en-US" sz="1300" b="0" dirty="0">
                          <a:solidFill>
                            <a:schemeClr val="accent4">
                              <a:lumMod val="20000"/>
                              <a:lumOff val="80000"/>
                            </a:schemeClr>
                          </a:solidFill>
                        </a:rPr>
                        <a:t>Maintenance centers &amp; local agents.</a:t>
                      </a:r>
                    </a:p>
                    <a:p>
                      <a:pPr>
                        <a:buFont typeface="Arial" panose="020B0604020202020204" pitchFamily="34" charset="0"/>
                        <a:buChar char="•"/>
                      </a:pPr>
                      <a:r>
                        <a:rPr lang="en-US" sz="1300" b="0" dirty="0">
                          <a:solidFill>
                            <a:schemeClr val="accent4">
                              <a:lumMod val="20000"/>
                              <a:lumOff val="80000"/>
                            </a:schemeClr>
                          </a:solidFill>
                        </a:rPr>
                        <a:t>Industrial equipment distributors.</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3000" b="1" dirty="0">
                          <a:solidFill>
                            <a:schemeClr val="bg2">
                              <a:lumMod val="90000"/>
                            </a:schemeClr>
                          </a:solidFill>
                          <a:effectLst>
                            <a:outerShdw blurRad="38100" dist="38100" dir="2700000" algn="tl">
                              <a:srgbClr val="000000">
                                <a:alpha val="43137"/>
                              </a:srgbClr>
                            </a:outerShdw>
                          </a:effectLst>
                        </a:rPr>
                        <a:t>Key Activity</a:t>
                      </a:r>
                      <a:endParaRPr lang="ar-EG" sz="30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Selling milk analyzers (imported &amp; local).</a:t>
                      </a:r>
                    </a:p>
                    <a:p>
                      <a:pPr>
                        <a:buFont typeface="Arial" panose="020B0604020202020204" pitchFamily="34" charset="0"/>
                        <a:buChar char="•"/>
                      </a:pPr>
                      <a:r>
                        <a:rPr lang="en-US" sz="1300" b="0" dirty="0">
                          <a:solidFill>
                            <a:schemeClr val="accent4">
                              <a:lumMod val="20000"/>
                              <a:lumOff val="80000"/>
                            </a:schemeClr>
                          </a:solidFill>
                        </a:rPr>
                        <a:t>Maintenance and repair.</a:t>
                      </a:r>
                    </a:p>
                    <a:p>
                      <a:pPr>
                        <a:buFont typeface="Arial" panose="020B0604020202020204" pitchFamily="34" charset="0"/>
                        <a:buChar char="•"/>
                      </a:pPr>
                      <a:r>
                        <a:rPr lang="en-US" sz="1300" b="0" dirty="0">
                          <a:solidFill>
                            <a:schemeClr val="accent4">
                              <a:lumMod val="20000"/>
                              <a:lumOff val="80000"/>
                            </a:schemeClr>
                          </a:solidFill>
                        </a:rPr>
                        <a:t>Installation &amp; calibration.</a:t>
                      </a:r>
                    </a:p>
                    <a:p>
                      <a:pPr>
                        <a:buFont typeface="Arial" panose="020B0604020202020204" pitchFamily="34" charset="0"/>
                        <a:buChar char="•"/>
                      </a:pPr>
                      <a:r>
                        <a:rPr lang="en-US" sz="1300" b="0" dirty="0">
                          <a:solidFill>
                            <a:schemeClr val="accent4">
                              <a:lumMod val="20000"/>
                              <a:lumOff val="80000"/>
                            </a:schemeClr>
                          </a:solidFill>
                        </a:rPr>
                        <a:t>Digital awareness campaigns.</a:t>
                      </a:r>
                    </a:p>
                    <a:p>
                      <a:pPr>
                        <a:buFont typeface="Arial" panose="020B0604020202020204" pitchFamily="34" charset="0"/>
                        <a:buChar char="•"/>
                      </a:pPr>
                      <a:r>
                        <a:rPr lang="en-US" sz="1300" b="0" dirty="0">
                          <a:solidFill>
                            <a:schemeClr val="accent4">
                              <a:lumMod val="20000"/>
                              <a:lumOff val="80000"/>
                            </a:schemeClr>
                          </a:solidFill>
                        </a:rPr>
                        <a:t>Customer training.</a:t>
                      </a:r>
                    </a:p>
                    <a:p>
                      <a:pPr>
                        <a:buFont typeface="Arial" panose="020B0604020202020204" pitchFamily="34" charset="0"/>
                        <a:buChar char="•"/>
                      </a:pPr>
                      <a:r>
                        <a:rPr lang="en-US" sz="1300" b="0" dirty="0" err="1">
                          <a:solidFill>
                            <a:schemeClr val="accent4">
                              <a:lumMod val="20000"/>
                              <a:lumOff val="80000"/>
                            </a:schemeClr>
                          </a:solidFill>
                        </a:rPr>
                        <a:t>eko</a:t>
                      </a:r>
                      <a:r>
                        <a:rPr lang="en-US" sz="1300" b="0" dirty="0">
                          <a:solidFill>
                            <a:schemeClr val="accent4">
                              <a:lumMod val="20000"/>
                              <a:lumOff val="80000"/>
                            </a:schemeClr>
                          </a:solidFill>
                        </a:rPr>
                        <a:t>+ product development.</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rowSpan="2">
                  <a:txBody>
                    <a:bodyPr/>
                    <a:lstStyle/>
                    <a:p>
                      <a:r>
                        <a:rPr lang="en-US" sz="2400" b="1" dirty="0">
                          <a:solidFill>
                            <a:schemeClr val="bg2">
                              <a:lumMod val="90000"/>
                            </a:schemeClr>
                          </a:solidFill>
                          <a:effectLst>
                            <a:outerShdw blurRad="38100" dist="38100" dir="2700000" algn="tl">
                              <a:srgbClr val="000000">
                                <a:alpha val="43137"/>
                              </a:srgbClr>
                            </a:outerShdw>
                          </a:effectLst>
                        </a:rPr>
                        <a:t>Value Proposition</a:t>
                      </a:r>
                      <a:endParaRPr lang="ar-EG" sz="24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First Egyptian-made milk analyzer (</a:t>
                      </a:r>
                      <a:r>
                        <a:rPr lang="en-US" sz="1300" b="0" dirty="0" err="1">
                          <a:solidFill>
                            <a:schemeClr val="accent4">
                              <a:lumMod val="20000"/>
                              <a:lumOff val="80000"/>
                            </a:schemeClr>
                          </a:solidFill>
                        </a:rPr>
                        <a:t>eko</a:t>
                      </a:r>
                      <a:r>
                        <a:rPr lang="en-US" sz="1300" b="0" dirty="0">
                          <a:solidFill>
                            <a:schemeClr val="accent4">
                              <a:lumMod val="20000"/>
                              <a:lumOff val="80000"/>
                            </a:schemeClr>
                          </a:solidFill>
                        </a:rPr>
                        <a:t>+).</a:t>
                      </a:r>
                    </a:p>
                    <a:p>
                      <a:pPr>
                        <a:buFont typeface="Arial" panose="020B0604020202020204" pitchFamily="34" charset="0"/>
                        <a:buChar char="•"/>
                      </a:pPr>
                      <a:r>
                        <a:rPr lang="en-US" sz="1300" b="0" dirty="0">
                          <a:solidFill>
                            <a:schemeClr val="accent4">
                              <a:lumMod val="20000"/>
                              <a:lumOff val="80000"/>
                            </a:schemeClr>
                          </a:solidFill>
                        </a:rPr>
                        <a:t>Fast &amp; accurate milk analysis.</a:t>
                      </a:r>
                    </a:p>
                    <a:p>
                      <a:pPr>
                        <a:buFont typeface="Arial" panose="020B0604020202020204" pitchFamily="34" charset="0"/>
                        <a:buChar char="•"/>
                      </a:pPr>
                      <a:r>
                        <a:rPr lang="en-US" sz="1300" b="0" dirty="0">
                          <a:solidFill>
                            <a:schemeClr val="accent4">
                              <a:lumMod val="20000"/>
                              <a:lumOff val="80000"/>
                            </a:schemeClr>
                          </a:solidFill>
                        </a:rPr>
                        <a:t>2-year warranty, nationwide service.</a:t>
                      </a:r>
                    </a:p>
                    <a:p>
                      <a:pPr>
                        <a:buFont typeface="Arial" panose="020B0604020202020204" pitchFamily="34" charset="0"/>
                        <a:buChar char="•"/>
                      </a:pPr>
                      <a:r>
                        <a:rPr lang="en-US" sz="1300" b="0" dirty="0">
                          <a:solidFill>
                            <a:schemeClr val="accent4">
                              <a:lumMod val="20000"/>
                              <a:lumOff val="80000"/>
                            </a:schemeClr>
                          </a:solidFill>
                        </a:rPr>
                        <a:t>Lower prices than imports.</a:t>
                      </a:r>
                    </a:p>
                    <a:p>
                      <a:pPr>
                        <a:buFont typeface="Arial" panose="020B0604020202020204" pitchFamily="34" charset="0"/>
                        <a:buChar char="•"/>
                      </a:pPr>
                      <a:r>
                        <a:rPr lang="en-US" sz="1300" b="0" dirty="0">
                          <a:solidFill>
                            <a:schemeClr val="accent4">
                              <a:lumMod val="20000"/>
                              <a:lumOff val="80000"/>
                            </a:schemeClr>
                          </a:solidFill>
                        </a:rPr>
                        <a:t>Best after-sales service.</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r>
                        <a:rPr lang="en-US" sz="2000" b="1" dirty="0">
                          <a:solidFill>
                            <a:schemeClr val="bg2">
                              <a:lumMod val="90000"/>
                            </a:schemeClr>
                          </a:solidFill>
                          <a:effectLst>
                            <a:outerShdw blurRad="38100" dist="38100" dir="2700000" algn="tl">
                              <a:srgbClr val="000000">
                                <a:alpha val="43137"/>
                              </a:srgbClr>
                            </a:outerShdw>
                          </a:effectLst>
                        </a:rPr>
                        <a:t>Customer Relationship</a:t>
                      </a:r>
                      <a:endParaRPr lang="ar-EG" sz="20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Technical support via WhatsApp.</a:t>
                      </a:r>
                    </a:p>
                    <a:p>
                      <a:pPr>
                        <a:buFont typeface="Arial" panose="020B0604020202020204" pitchFamily="34" charset="0"/>
                        <a:buChar char="•"/>
                      </a:pPr>
                      <a:r>
                        <a:rPr lang="en-US" sz="1300" b="0" dirty="0">
                          <a:solidFill>
                            <a:schemeClr val="accent4">
                              <a:lumMod val="20000"/>
                              <a:lumOff val="80000"/>
                            </a:schemeClr>
                          </a:solidFill>
                        </a:rPr>
                        <a:t>Regular maintenance visits.</a:t>
                      </a:r>
                    </a:p>
                    <a:p>
                      <a:pPr>
                        <a:buFont typeface="Arial" panose="020B0604020202020204" pitchFamily="34" charset="0"/>
                        <a:buChar char="•"/>
                      </a:pPr>
                      <a:r>
                        <a:rPr lang="en-US" sz="1300" b="0" dirty="0">
                          <a:solidFill>
                            <a:schemeClr val="accent4">
                              <a:lumMod val="20000"/>
                              <a:lumOff val="80000"/>
                            </a:schemeClr>
                          </a:solidFill>
                        </a:rPr>
                        <a:t>Educational social media content.</a:t>
                      </a:r>
                    </a:p>
                    <a:p>
                      <a:pPr>
                        <a:buFont typeface="Arial" panose="020B0604020202020204" pitchFamily="34" charset="0"/>
                        <a:buChar char="•"/>
                      </a:pPr>
                      <a:r>
                        <a:rPr lang="en-US" sz="1300" b="0" dirty="0">
                          <a:solidFill>
                            <a:schemeClr val="accent4">
                              <a:lumMod val="20000"/>
                              <a:lumOff val="80000"/>
                            </a:schemeClr>
                          </a:solidFill>
                        </a:rPr>
                        <a:t>Reliable after-sales trust.</a:t>
                      </a:r>
                    </a:p>
                    <a:p>
                      <a:pPr>
                        <a:buFont typeface="Arial" panose="020B0604020202020204" pitchFamily="34" charset="0"/>
                        <a:buChar char="•"/>
                      </a:pPr>
                      <a:r>
                        <a:rPr lang="en-US" sz="1300" b="0" dirty="0">
                          <a:solidFill>
                            <a:schemeClr val="accent4">
                              <a:lumMod val="20000"/>
                              <a:lumOff val="80000"/>
                            </a:schemeClr>
                          </a:solidFill>
                        </a:rPr>
                        <a:t>Ongoing partnerships with key clients.</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rowSpan="2">
                  <a:txBody>
                    <a:bodyPr/>
                    <a:lstStyle/>
                    <a:p>
                      <a:r>
                        <a:rPr lang="en-US" sz="2000" b="1" dirty="0">
                          <a:solidFill>
                            <a:schemeClr val="bg2">
                              <a:lumMod val="90000"/>
                            </a:schemeClr>
                          </a:solidFill>
                          <a:effectLst>
                            <a:outerShdw blurRad="38100" dist="38100" dir="2700000" algn="tl">
                              <a:srgbClr val="000000">
                                <a:alpha val="43137"/>
                              </a:srgbClr>
                            </a:outerShdw>
                          </a:effectLst>
                        </a:rPr>
                        <a:t>Customer Segments</a:t>
                      </a:r>
                      <a:endParaRPr lang="ar-EG" sz="20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Dairy &amp; cheese labs.</a:t>
                      </a:r>
                    </a:p>
                    <a:p>
                      <a:pPr>
                        <a:buFont typeface="Arial" panose="020B0604020202020204" pitchFamily="34" charset="0"/>
                        <a:buChar char="•"/>
                      </a:pPr>
                      <a:r>
                        <a:rPr lang="en-US" sz="1300" b="0" dirty="0">
                          <a:solidFill>
                            <a:schemeClr val="accent4">
                              <a:lumMod val="20000"/>
                              <a:lumOff val="80000"/>
                            </a:schemeClr>
                          </a:solidFill>
                        </a:rPr>
                        <a:t>Dairy factories.</a:t>
                      </a:r>
                    </a:p>
                    <a:p>
                      <a:pPr>
                        <a:buFont typeface="Arial" panose="020B0604020202020204" pitchFamily="34" charset="0"/>
                        <a:buChar char="•"/>
                      </a:pPr>
                      <a:r>
                        <a:rPr lang="en-US" sz="1300" b="0" dirty="0">
                          <a:solidFill>
                            <a:schemeClr val="accent4">
                              <a:lumMod val="20000"/>
                              <a:lumOff val="80000"/>
                            </a:schemeClr>
                          </a:solidFill>
                        </a:rPr>
                        <a:t>Milk collection centers.</a:t>
                      </a:r>
                    </a:p>
                    <a:p>
                      <a:pPr>
                        <a:buFont typeface="Arial" panose="020B0604020202020204" pitchFamily="34" charset="0"/>
                        <a:buChar char="•"/>
                      </a:pPr>
                      <a:r>
                        <a:rPr lang="en-US" sz="1300" b="0" dirty="0">
                          <a:solidFill>
                            <a:schemeClr val="accent4">
                              <a:lumMod val="20000"/>
                              <a:lumOff val="80000"/>
                            </a:schemeClr>
                          </a:solidFill>
                        </a:rPr>
                        <a:t>Agricultural colleges &amp; research centers.</a:t>
                      </a:r>
                    </a:p>
                    <a:p>
                      <a:pPr>
                        <a:buFont typeface="Arial" panose="020B0604020202020204" pitchFamily="34" charset="0"/>
                        <a:buChar char="•"/>
                      </a:pPr>
                      <a:r>
                        <a:rPr lang="en-US" sz="1300" b="0" dirty="0">
                          <a:solidFill>
                            <a:schemeClr val="accent4">
                              <a:lumMod val="20000"/>
                              <a:lumOff val="80000"/>
                            </a:schemeClr>
                          </a:solidFill>
                        </a:rPr>
                        <a:t>Agri &amp; livestock contractors.</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3153907260"/>
                  </a:ext>
                </a:extLst>
              </a:tr>
              <a:tr h="1708629">
                <a:tc vMerge="1">
                  <a:txBody>
                    <a:bodyPr/>
                    <a:lstStyle/>
                    <a:p>
                      <a:endParaRPr lang="en-US"/>
                    </a:p>
                  </a:txBody>
                  <a:tcPr/>
                </a:tc>
                <a:tc>
                  <a:txBody>
                    <a:bodyPr/>
                    <a:lstStyle/>
                    <a:p>
                      <a:pPr marL="0" indent="0">
                        <a:buFont typeface="Arial" panose="020B0604020202020204" pitchFamily="34" charset="0"/>
                        <a:buNone/>
                      </a:pPr>
                      <a:r>
                        <a:rPr lang="en-US" sz="2400" b="1" dirty="0">
                          <a:solidFill>
                            <a:schemeClr val="bg2">
                              <a:lumMod val="90000"/>
                            </a:schemeClr>
                          </a:solidFill>
                          <a:effectLst>
                            <a:outerShdw blurRad="38100" dist="38100" dir="2700000" algn="tl">
                              <a:srgbClr val="000000">
                                <a:alpha val="43137"/>
                              </a:srgbClr>
                            </a:outerShdw>
                          </a:effectLst>
                        </a:rPr>
                        <a:t>Key Resources</a:t>
                      </a:r>
                      <a:endParaRPr lang="ar-EG" sz="24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Skilled technical team.</a:t>
                      </a:r>
                    </a:p>
                    <a:p>
                      <a:pPr>
                        <a:buFont typeface="Arial" panose="020B0604020202020204" pitchFamily="34" charset="0"/>
                        <a:buChar char="•"/>
                      </a:pPr>
                      <a:r>
                        <a:rPr lang="en-US" sz="1300" b="0" dirty="0">
                          <a:solidFill>
                            <a:schemeClr val="accent4">
                              <a:lumMod val="20000"/>
                              <a:lumOff val="80000"/>
                            </a:schemeClr>
                          </a:solidFill>
                        </a:rPr>
                        <a:t>Genuine spare parts stock.</a:t>
                      </a:r>
                    </a:p>
                    <a:p>
                      <a:pPr>
                        <a:buFont typeface="Arial" panose="020B0604020202020204" pitchFamily="34" charset="0"/>
                        <a:buChar char="•"/>
                      </a:pPr>
                      <a:r>
                        <a:rPr lang="en-US" sz="1300" b="0" dirty="0">
                          <a:solidFill>
                            <a:schemeClr val="accent4">
                              <a:lumMod val="20000"/>
                              <a:lumOff val="80000"/>
                            </a:schemeClr>
                          </a:solidFill>
                        </a:rPr>
                        <a:t>Expertise in milk electroanalysis.</a:t>
                      </a:r>
                    </a:p>
                    <a:p>
                      <a:pPr>
                        <a:buFont typeface="Arial" panose="020B0604020202020204" pitchFamily="34" charset="0"/>
                        <a:buChar char="•"/>
                      </a:pPr>
                      <a:r>
                        <a:rPr lang="en-US" sz="1300" b="0" dirty="0">
                          <a:solidFill>
                            <a:schemeClr val="accent4">
                              <a:lumMod val="20000"/>
                              <a:lumOff val="80000"/>
                            </a:schemeClr>
                          </a:solidFill>
                        </a:rPr>
                        <a:t>HPS Cairo brand.</a:t>
                      </a:r>
                    </a:p>
                    <a:p>
                      <a:pPr>
                        <a:buFont typeface="Arial" panose="020B0604020202020204" pitchFamily="34" charset="0"/>
                        <a:buChar char="•"/>
                      </a:pPr>
                      <a:r>
                        <a:rPr lang="en-US" sz="1300" b="0" dirty="0">
                          <a:solidFill>
                            <a:schemeClr val="accent4">
                              <a:lumMod val="20000"/>
                              <a:lumOff val="80000"/>
                            </a:schemeClr>
                          </a:solidFill>
                        </a:rPr>
                        <a:t>Network with labs &amp; factories.</a:t>
                      </a: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vMerge="1">
                  <a:txBody>
                    <a:bodyPr/>
                    <a:lstStyle/>
                    <a:p>
                      <a:endParaRPr lang="en-US"/>
                    </a:p>
                  </a:txBody>
                  <a:tcPr/>
                </a:tc>
                <a:tc>
                  <a:txBody>
                    <a:bodyPr/>
                    <a:lstStyle/>
                    <a:p>
                      <a:r>
                        <a:rPr lang="en-US" sz="2800" b="1" dirty="0">
                          <a:solidFill>
                            <a:schemeClr val="bg2">
                              <a:lumMod val="90000"/>
                            </a:schemeClr>
                          </a:solidFill>
                          <a:effectLst>
                            <a:outerShdw blurRad="38100" dist="38100" dir="2700000" algn="tl">
                              <a:srgbClr val="000000">
                                <a:alpha val="43137"/>
                              </a:srgbClr>
                            </a:outerShdw>
                          </a:effectLst>
                        </a:rPr>
                        <a:t>Channels</a:t>
                      </a:r>
                      <a:endParaRPr lang="ar-EG" sz="1300" b="0" dirty="0">
                        <a:solidFill>
                          <a:schemeClr val="accent4">
                            <a:lumMod val="20000"/>
                            <a:lumOff val="8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Direct B2B sales.</a:t>
                      </a:r>
                    </a:p>
                    <a:p>
                      <a:pPr>
                        <a:buFont typeface="Arial" panose="020B0604020202020204" pitchFamily="34" charset="0"/>
                        <a:buChar char="•"/>
                      </a:pPr>
                      <a:r>
                        <a:rPr lang="en-US" sz="1300" b="0" dirty="0">
                          <a:solidFill>
                            <a:schemeClr val="accent4">
                              <a:lumMod val="20000"/>
                              <a:lumOff val="80000"/>
                            </a:schemeClr>
                          </a:solidFill>
                        </a:rPr>
                        <a:t>Facebook / LinkedIn ads.</a:t>
                      </a:r>
                    </a:p>
                    <a:p>
                      <a:pPr>
                        <a:buFont typeface="Arial" panose="020B0604020202020204" pitchFamily="34" charset="0"/>
                        <a:buChar char="•"/>
                      </a:pPr>
                      <a:r>
                        <a:rPr lang="en-US" sz="1300" b="0" dirty="0">
                          <a:solidFill>
                            <a:schemeClr val="accent4">
                              <a:lumMod val="20000"/>
                              <a:lumOff val="80000"/>
                            </a:schemeClr>
                          </a:solidFill>
                        </a:rPr>
                        <a:t>YouTube / Reels demos.</a:t>
                      </a:r>
                    </a:p>
                    <a:p>
                      <a:pPr>
                        <a:buFont typeface="Arial" panose="020B0604020202020204" pitchFamily="34" charset="0"/>
                        <a:buChar char="•"/>
                      </a:pPr>
                      <a:r>
                        <a:rPr lang="en-US" sz="1300" b="0" dirty="0">
                          <a:solidFill>
                            <a:schemeClr val="accent4">
                              <a:lumMod val="20000"/>
                              <a:lumOff val="80000"/>
                            </a:schemeClr>
                          </a:solidFill>
                        </a:rPr>
                        <a:t>WhatsApp Business offers.</a:t>
                      </a:r>
                    </a:p>
                    <a:p>
                      <a:pPr>
                        <a:buFont typeface="Arial" panose="020B0604020202020204" pitchFamily="34" charset="0"/>
                        <a:buChar char="•"/>
                      </a:pPr>
                      <a:r>
                        <a:rPr lang="en-US" sz="1300" b="0" dirty="0">
                          <a:solidFill>
                            <a:schemeClr val="accent4">
                              <a:lumMod val="20000"/>
                              <a:lumOff val="80000"/>
                            </a:schemeClr>
                          </a:solidFill>
                        </a:rPr>
                        <a:t>Agricultural &amp; industrial fairs.</a:t>
                      </a: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vMerge="1">
                  <a:txBody>
                    <a:bodyPr/>
                    <a:lstStyle/>
                    <a:p>
                      <a:endParaRPr lang="en-US"/>
                    </a:p>
                  </a:txBody>
                  <a:tcPr/>
                </a:tc>
                <a:extLst>
                  <a:ext uri="{0D108BD9-81ED-4DB2-BD59-A6C34878D82A}">
                    <a16:rowId xmlns:a16="http://schemas.microsoft.com/office/drawing/2014/main" val="126507639"/>
                  </a:ext>
                </a:extLst>
              </a:tr>
              <a:tr h="2047563">
                <a:tc gridSpan="2">
                  <a:txBody>
                    <a:bodyPr/>
                    <a:lstStyle/>
                    <a:p>
                      <a:r>
                        <a:rPr lang="en-US" sz="2800" b="1" dirty="0">
                          <a:solidFill>
                            <a:schemeClr val="bg2">
                              <a:lumMod val="90000"/>
                            </a:schemeClr>
                          </a:solidFill>
                          <a:effectLst>
                            <a:outerShdw blurRad="38100" dist="38100" dir="2700000" algn="tl">
                              <a:srgbClr val="000000">
                                <a:alpha val="43137"/>
                              </a:srgbClr>
                            </a:outerShdw>
                          </a:effectLst>
                        </a:rPr>
                        <a:t>Cost Structure </a:t>
                      </a:r>
                      <a:endParaRPr lang="ar-EG" sz="28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marL="285750" indent="-285750">
                        <a:buFont typeface="Arial" panose="020B0604020202020204" pitchFamily="34" charset="0"/>
                        <a:buChar char="•"/>
                      </a:pPr>
                      <a:r>
                        <a:rPr lang="en-US" sz="1300" b="0" dirty="0">
                          <a:solidFill>
                            <a:schemeClr val="accent4">
                              <a:lumMod val="20000"/>
                              <a:lumOff val="80000"/>
                            </a:schemeClr>
                          </a:solidFill>
                        </a:rPr>
                        <a:t>Import &amp; spare parts costs.</a:t>
                      </a:r>
                    </a:p>
                    <a:p>
                      <a:pPr marL="285750" indent="-285750">
                        <a:buFont typeface="Arial" panose="020B0604020202020204" pitchFamily="34" charset="0"/>
                        <a:buChar char="•"/>
                      </a:pPr>
                      <a:r>
                        <a:rPr lang="en-US" sz="1300" b="0" dirty="0" err="1">
                          <a:solidFill>
                            <a:schemeClr val="accent4">
                              <a:lumMod val="20000"/>
                              <a:lumOff val="80000"/>
                            </a:schemeClr>
                          </a:solidFill>
                        </a:rPr>
                        <a:t>eko</a:t>
                      </a:r>
                      <a:r>
                        <a:rPr lang="en-US" sz="1300" b="0" dirty="0">
                          <a:solidFill>
                            <a:schemeClr val="accent4">
                              <a:lumMod val="20000"/>
                              <a:lumOff val="80000"/>
                            </a:schemeClr>
                          </a:solidFill>
                        </a:rPr>
                        <a:t>+ development.</a:t>
                      </a:r>
                    </a:p>
                    <a:p>
                      <a:pPr marL="285750" indent="-285750">
                        <a:buFont typeface="Arial" panose="020B0604020202020204" pitchFamily="34" charset="0"/>
                        <a:buChar char="•"/>
                      </a:pPr>
                      <a:r>
                        <a:rPr lang="en-US" sz="1300" b="0" dirty="0">
                          <a:solidFill>
                            <a:schemeClr val="accent4">
                              <a:lumMod val="20000"/>
                              <a:lumOff val="80000"/>
                            </a:schemeClr>
                          </a:solidFill>
                        </a:rPr>
                        <a:t>Staff salaries.</a:t>
                      </a:r>
                    </a:p>
                    <a:p>
                      <a:pPr marL="285750" indent="-285750">
                        <a:buFont typeface="Arial" panose="020B0604020202020204" pitchFamily="34" charset="0"/>
                        <a:buChar char="•"/>
                      </a:pPr>
                      <a:r>
                        <a:rPr lang="en-US" sz="1300" b="0" dirty="0">
                          <a:solidFill>
                            <a:schemeClr val="accent4">
                              <a:lumMod val="20000"/>
                              <a:lumOff val="80000"/>
                            </a:schemeClr>
                          </a:solidFill>
                        </a:rPr>
                        <a:t>Digital marketing (6,000 EGP/month).</a:t>
                      </a:r>
                    </a:p>
                    <a:p>
                      <a:pPr marL="285750" indent="-285750">
                        <a:buFont typeface="Arial" panose="020B0604020202020204" pitchFamily="34" charset="0"/>
                        <a:buChar char="•"/>
                      </a:pPr>
                      <a:r>
                        <a:rPr lang="en-US" sz="1300" b="0" dirty="0">
                          <a:solidFill>
                            <a:schemeClr val="accent4">
                              <a:lumMod val="20000"/>
                              <a:lumOff val="80000"/>
                            </a:schemeClr>
                          </a:solidFill>
                        </a:rPr>
                        <a:t>Warranty &amp; maintenance.</a:t>
                      </a:r>
                    </a:p>
                    <a:p>
                      <a:pPr marL="285750" indent="-285750">
                        <a:buFont typeface="Arial" panose="020B0604020202020204" pitchFamily="34" charset="0"/>
                        <a:buChar char="•"/>
                      </a:pPr>
                      <a:r>
                        <a:rPr lang="en-US" sz="1300" b="0" dirty="0">
                          <a:solidFill>
                            <a:schemeClr val="accent4">
                              <a:lumMod val="20000"/>
                              <a:lumOff val="80000"/>
                            </a:schemeClr>
                          </a:solidFill>
                        </a:rPr>
                        <a:t>Rent &amp; utilities.</a:t>
                      </a:r>
                    </a:p>
                    <a:p>
                      <a:endParaRPr lang="en-US" sz="1300" b="0" dirty="0">
                        <a:solidFill>
                          <a:schemeClr val="accent4">
                            <a:lumMod val="20000"/>
                            <a:lumOff val="80000"/>
                          </a:schemeClr>
                        </a:solidFill>
                        <a:effectLst>
                          <a:outerShdw blurRad="38100" dist="38100" dir="2700000" algn="tl">
                            <a:srgbClr val="000000">
                              <a:alpha val="43137"/>
                            </a:srgbClr>
                          </a:outerShdw>
                        </a:effectLst>
                      </a:endParaRP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hMerge="1">
                  <a:txBody>
                    <a:bodyPr/>
                    <a:lstStyle/>
                    <a:p>
                      <a:endParaRPr lang="en-US" dirty="0"/>
                    </a:p>
                  </a:txBody>
                  <a:tcPr>
                    <a:solidFill>
                      <a:schemeClr val="accent6">
                        <a:lumMod val="50000"/>
                      </a:schemeClr>
                    </a:solidFill>
                  </a:tcPr>
                </a:tc>
                <a:tc gridSpan="3">
                  <a:txBody>
                    <a:bodyPr/>
                    <a:lstStyle/>
                    <a:p>
                      <a:r>
                        <a:rPr lang="en-US" sz="2800" b="1" dirty="0">
                          <a:solidFill>
                            <a:schemeClr val="bg2">
                              <a:lumMod val="90000"/>
                            </a:schemeClr>
                          </a:solidFill>
                          <a:effectLst>
                            <a:outerShdw blurRad="38100" dist="38100" dir="2700000" algn="tl">
                              <a:srgbClr val="000000">
                                <a:alpha val="43137"/>
                              </a:srgbClr>
                            </a:outerShdw>
                          </a:effectLst>
                        </a:rPr>
                        <a:t>Revenue Stream</a:t>
                      </a:r>
                      <a:endParaRPr lang="ar-EG" sz="2800" b="1" dirty="0">
                        <a:solidFill>
                          <a:schemeClr val="bg2">
                            <a:lumMod val="90000"/>
                          </a:schemeClr>
                        </a:solidFill>
                        <a:effectLst>
                          <a:outerShdw blurRad="38100" dist="38100" dir="2700000" algn="tl">
                            <a:srgbClr val="000000">
                              <a:alpha val="43137"/>
                            </a:srgbClr>
                          </a:outerShdw>
                        </a:effectLst>
                      </a:endParaRPr>
                    </a:p>
                    <a:p>
                      <a:endParaRPr lang="en-US" sz="1300" b="0" dirty="0">
                        <a:solidFill>
                          <a:schemeClr val="accent4">
                            <a:lumMod val="20000"/>
                            <a:lumOff val="80000"/>
                          </a:schemeClr>
                        </a:solidFill>
                      </a:endParaRPr>
                    </a:p>
                    <a:p>
                      <a:pPr>
                        <a:buFont typeface="Arial" panose="020B0604020202020204" pitchFamily="34" charset="0"/>
                        <a:buChar char="•"/>
                      </a:pPr>
                      <a:r>
                        <a:rPr lang="en-US" sz="1300" b="0" dirty="0">
                          <a:solidFill>
                            <a:schemeClr val="accent4">
                              <a:lumMod val="20000"/>
                              <a:lumOff val="80000"/>
                            </a:schemeClr>
                          </a:solidFill>
                        </a:rPr>
                        <a:t>Analyzer sales (</a:t>
                      </a:r>
                      <a:r>
                        <a:rPr lang="en-US" sz="1300" b="0" dirty="0" err="1">
                          <a:solidFill>
                            <a:schemeClr val="accent4">
                              <a:lumMod val="20000"/>
                              <a:lumOff val="80000"/>
                            </a:schemeClr>
                          </a:solidFill>
                        </a:rPr>
                        <a:t>Ekomilk</a:t>
                      </a:r>
                      <a:r>
                        <a:rPr lang="en-US" sz="1300" b="0" dirty="0">
                          <a:solidFill>
                            <a:schemeClr val="accent4">
                              <a:lumMod val="20000"/>
                              <a:lumOff val="80000"/>
                            </a:schemeClr>
                          </a:solidFill>
                        </a:rPr>
                        <a:t>, </a:t>
                      </a:r>
                      <a:r>
                        <a:rPr lang="en-US" sz="1300" b="0" dirty="0" err="1">
                          <a:solidFill>
                            <a:schemeClr val="accent4">
                              <a:lumMod val="20000"/>
                              <a:lumOff val="80000"/>
                            </a:schemeClr>
                          </a:solidFill>
                        </a:rPr>
                        <a:t>eko</a:t>
                      </a:r>
                      <a:r>
                        <a:rPr lang="en-US" sz="1300" b="0" dirty="0">
                          <a:solidFill>
                            <a:schemeClr val="accent4">
                              <a:lumMod val="20000"/>
                              <a:lumOff val="80000"/>
                            </a:schemeClr>
                          </a:solidFill>
                        </a:rPr>
                        <a:t>+).</a:t>
                      </a:r>
                    </a:p>
                    <a:p>
                      <a:pPr>
                        <a:buFont typeface="Arial" panose="020B0604020202020204" pitchFamily="34" charset="0"/>
                        <a:buChar char="•"/>
                      </a:pPr>
                      <a:r>
                        <a:rPr lang="en-US" sz="1300" b="0" dirty="0">
                          <a:solidFill>
                            <a:schemeClr val="accent4">
                              <a:lumMod val="20000"/>
                              <a:lumOff val="80000"/>
                            </a:schemeClr>
                          </a:solidFill>
                        </a:rPr>
                        <a:t>Maintenance services.</a:t>
                      </a:r>
                    </a:p>
                    <a:p>
                      <a:pPr>
                        <a:buFont typeface="Arial" panose="020B0604020202020204" pitchFamily="34" charset="0"/>
                        <a:buChar char="•"/>
                      </a:pPr>
                      <a:r>
                        <a:rPr lang="en-US" sz="1300" b="0" dirty="0">
                          <a:solidFill>
                            <a:schemeClr val="accent4">
                              <a:lumMod val="20000"/>
                              <a:lumOff val="80000"/>
                            </a:schemeClr>
                          </a:solidFill>
                        </a:rPr>
                        <a:t>Accessory sales.</a:t>
                      </a:r>
                    </a:p>
                    <a:p>
                      <a:pPr>
                        <a:buFont typeface="Arial" panose="020B0604020202020204" pitchFamily="34" charset="0"/>
                        <a:buChar char="•"/>
                      </a:pPr>
                      <a:r>
                        <a:rPr lang="en-US" sz="1300" b="0" dirty="0">
                          <a:solidFill>
                            <a:schemeClr val="accent4">
                              <a:lumMod val="20000"/>
                              <a:lumOff val="80000"/>
                            </a:schemeClr>
                          </a:solidFill>
                        </a:rPr>
                        <a:t>Annual service contracts.</a:t>
                      </a:r>
                    </a:p>
                    <a:p>
                      <a:pPr>
                        <a:buFont typeface="Arial" panose="020B0604020202020204" pitchFamily="34" charset="0"/>
                        <a:buChar char="•"/>
                      </a:pPr>
                      <a:r>
                        <a:rPr lang="en-US" sz="1300" b="0" dirty="0">
                          <a:solidFill>
                            <a:schemeClr val="accent4">
                              <a:lumMod val="20000"/>
                              <a:lumOff val="80000"/>
                            </a:schemeClr>
                          </a:solidFill>
                        </a:rPr>
                        <a:t>Training programs.</a:t>
                      </a:r>
                    </a:p>
                  </a:txBody>
                  <a:tcPr>
                    <a:lnL w="12700" cap="flat" cmpd="sng" algn="ctr">
                      <a:solidFill>
                        <a:schemeClr val="bg1"/>
                      </a:solidFill>
                      <a:prstDash val="dash"/>
                      <a:round/>
                      <a:headEnd type="none" w="med" len="med"/>
                      <a:tailEnd type="none" w="med" len="med"/>
                    </a:lnL>
                    <a:lnR w="12700" cap="flat" cmpd="sng" algn="ctr">
                      <a:solidFill>
                        <a:schemeClr val="bg1"/>
                      </a:solidFill>
                      <a:prstDash val="dash"/>
                      <a:round/>
                      <a:headEnd type="none" w="med" len="med"/>
                      <a:tailEnd type="none" w="med" len="med"/>
                    </a:lnR>
                    <a:lnT w="12700" cap="flat" cmpd="sng" algn="ctr">
                      <a:solidFill>
                        <a:schemeClr val="bg1"/>
                      </a:solidFill>
                      <a:prstDash val="dash"/>
                      <a:round/>
                      <a:headEnd type="none" w="med" len="med"/>
                      <a:tailEnd type="none" w="med" len="med"/>
                    </a:lnT>
                    <a:lnB w="1270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hMerge="1">
                  <a:txBody>
                    <a:bodyPr/>
                    <a:lstStyle/>
                    <a:p>
                      <a:endParaRPr lang="en-US" dirty="0"/>
                    </a:p>
                  </a:txBody>
                  <a:tcPr>
                    <a:solidFill>
                      <a:schemeClr val="accent6">
                        <a:lumMod val="50000"/>
                      </a:schemeClr>
                    </a:solidFill>
                  </a:tcPr>
                </a:tc>
                <a:tc hMerge="1">
                  <a:txBody>
                    <a:bodyPr/>
                    <a:lstStyle/>
                    <a:p>
                      <a:endParaRPr lang="en-US" dirty="0"/>
                    </a:p>
                  </a:txBody>
                  <a:tcPr>
                    <a:solidFill>
                      <a:schemeClr val="accent6">
                        <a:lumMod val="50000"/>
                      </a:schemeClr>
                    </a:solidFill>
                  </a:tcPr>
                </a:tc>
                <a:extLst>
                  <a:ext uri="{0D108BD9-81ED-4DB2-BD59-A6C34878D82A}">
                    <a16:rowId xmlns:a16="http://schemas.microsoft.com/office/drawing/2014/main" val="4146124982"/>
                  </a:ext>
                </a:extLst>
              </a:tr>
            </a:tbl>
          </a:graphicData>
        </a:graphic>
      </p:graphicFrame>
      <p:sp>
        <p:nvSpPr>
          <p:cNvPr id="39" name="Freeform 7">
            <a:extLst>
              <a:ext uri="{FF2B5EF4-FFF2-40B4-BE49-F238E27FC236}">
                <a16:creationId xmlns:a16="http://schemas.microsoft.com/office/drawing/2014/main" id="{038BFD66-4DD3-359E-73F0-10E15AE5E393}"/>
              </a:ext>
            </a:extLst>
          </p:cNvPr>
          <p:cNvSpPr/>
          <p:nvPr/>
        </p:nvSpPr>
        <p:spPr>
          <a:xfrm>
            <a:off x="12845777" y="196515"/>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40" name="Freeform 9">
            <a:extLst>
              <a:ext uri="{FF2B5EF4-FFF2-40B4-BE49-F238E27FC236}">
                <a16:creationId xmlns:a16="http://schemas.microsoft.com/office/drawing/2014/main" id="{7901B94D-2243-4BE9-6CD6-FACB781BD503}"/>
              </a:ext>
            </a:extLst>
          </p:cNvPr>
          <p:cNvSpPr/>
          <p:nvPr/>
        </p:nvSpPr>
        <p:spPr>
          <a:xfrm>
            <a:off x="-192314" y="7268775"/>
            <a:ext cx="1308763" cy="1355592"/>
          </a:xfrm>
          <a:custGeom>
            <a:avLst/>
            <a:gdLst/>
            <a:ahLst/>
            <a:cxnLst/>
            <a:rect l="l" t="t" r="r" b="b"/>
            <a:pathLst>
              <a:path w="1308763" h="1355592">
                <a:moveTo>
                  <a:pt x="0" y="0"/>
                </a:moveTo>
                <a:lnTo>
                  <a:pt x="1308763" y="0"/>
                </a:lnTo>
                <a:lnTo>
                  <a:pt x="1308763" y="1355592"/>
                </a:lnTo>
                <a:lnTo>
                  <a:pt x="0" y="13555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3703397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E73FAAD-921E-8476-16C1-80CF1D6FC6DD}"/>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E2AE2941-B86F-17E8-7185-705B1A92A450}"/>
              </a:ext>
            </a:extLst>
          </p:cNvPr>
          <p:cNvPicPr>
            <a:picLocks noChangeAspect="1"/>
          </p:cNvPicPr>
          <p:nvPr/>
        </p:nvPicPr>
        <p:blipFill>
          <a:blip r:embed="rId3"/>
          <a:stretch>
            <a:fillRect/>
          </a:stretch>
        </p:blipFill>
        <p:spPr>
          <a:xfrm>
            <a:off x="-61730" y="-866113"/>
            <a:ext cx="7376930" cy="1998227"/>
          </a:xfrm>
          <a:prstGeom prst="rect">
            <a:avLst/>
          </a:prstGeom>
        </p:spPr>
      </p:pic>
      <p:sp>
        <p:nvSpPr>
          <p:cNvPr id="35" name="TextBox 34">
            <a:extLst>
              <a:ext uri="{FF2B5EF4-FFF2-40B4-BE49-F238E27FC236}">
                <a16:creationId xmlns:a16="http://schemas.microsoft.com/office/drawing/2014/main" id="{F4269243-9C2B-AD17-1A31-55D9BC292EA9}"/>
              </a:ext>
            </a:extLst>
          </p:cNvPr>
          <p:cNvSpPr txBox="1"/>
          <p:nvPr/>
        </p:nvSpPr>
        <p:spPr>
          <a:xfrm>
            <a:off x="-29026" y="0"/>
            <a:ext cx="6125026" cy="923330"/>
          </a:xfrm>
          <a:prstGeom prst="rect">
            <a:avLst/>
          </a:prstGeom>
          <a:noFill/>
        </p:spPr>
        <p:txBody>
          <a:bodyPr wrap="square" rtlCol="0">
            <a:spAutoFit/>
          </a:bodyPr>
          <a:lstStyle/>
          <a:p>
            <a:r>
              <a:rPr lang="en-US" sz="5400" b="1" dirty="0">
                <a:solidFill>
                  <a:schemeClr val="accent4">
                    <a:lumMod val="20000"/>
                    <a:lumOff val="80000"/>
                  </a:schemeClr>
                </a:solidFill>
                <a:effectLst>
                  <a:outerShdw blurRad="38100" dist="38100" dir="2700000" algn="tl">
                    <a:srgbClr val="000000">
                      <a:alpha val="43137"/>
                    </a:srgbClr>
                  </a:outerShdw>
                </a:effectLst>
              </a:rPr>
              <a:t>Competitor Analysis</a:t>
            </a:r>
          </a:p>
        </p:txBody>
      </p:sp>
      <p:graphicFrame>
        <p:nvGraphicFramePr>
          <p:cNvPr id="3" name="Table 2">
            <a:extLst>
              <a:ext uri="{FF2B5EF4-FFF2-40B4-BE49-F238E27FC236}">
                <a16:creationId xmlns:a16="http://schemas.microsoft.com/office/drawing/2014/main" id="{19D2F655-5717-3207-70EE-4E27FCBD3283}"/>
              </a:ext>
            </a:extLst>
          </p:cNvPr>
          <p:cNvGraphicFramePr>
            <a:graphicFrameLocks noGrp="1"/>
          </p:cNvGraphicFramePr>
          <p:nvPr>
            <p:extLst>
              <p:ext uri="{D42A27DB-BD31-4B8C-83A1-F6EECF244321}">
                <p14:modId xmlns:p14="http://schemas.microsoft.com/office/powerpoint/2010/main" val="2749691963"/>
              </p:ext>
            </p:extLst>
          </p:nvPr>
        </p:nvGraphicFramePr>
        <p:xfrm>
          <a:off x="658907" y="1148839"/>
          <a:ext cx="13480146" cy="7025145"/>
        </p:xfrm>
        <a:graphic>
          <a:graphicData uri="http://schemas.openxmlformats.org/drawingml/2006/table">
            <a:tbl>
              <a:tblPr firstRow="1" bandRow="1">
                <a:tableStyleId>{5C22544A-7EE6-4342-B048-85BDC9FD1C3A}</a:tableStyleId>
              </a:tblPr>
              <a:tblGrid>
                <a:gridCol w="1990164">
                  <a:extLst>
                    <a:ext uri="{9D8B030D-6E8A-4147-A177-3AD203B41FA5}">
                      <a16:colId xmlns:a16="http://schemas.microsoft.com/office/drawing/2014/main" val="3040574642"/>
                    </a:ext>
                  </a:extLst>
                </a:gridCol>
                <a:gridCol w="11489982">
                  <a:extLst>
                    <a:ext uri="{9D8B030D-6E8A-4147-A177-3AD203B41FA5}">
                      <a16:colId xmlns:a16="http://schemas.microsoft.com/office/drawing/2014/main" val="815670618"/>
                    </a:ext>
                  </a:extLst>
                </a:gridCol>
              </a:tblGrid>
              <a:tr h="572581">
                <a:tc>
                  <a:txBody>
                    <a:bodyPr/>
                    <a:lstStyle/>
                    <a:p>
                      <a:r>
                        <a:rPr lang="en-US" sz="2800" dirty="0">
                          <a:solidFill>
                            <a:schemeClr val="accent4">
                              <a:lumMod val="20000"/>
                              <a:lumOff val="80000"/>
                            </a:schemeClr>
                          </a:solidFill>
                          <a:effectLst>
                            <a:outerShdw blurRad="38100" dist="38100" dir="2700000" algn="tl">
                              <a:srgbClr val="000000">
                                <a:alpha val="43137"/>
                              </a:srgbClr>
                            </a:outerShdw>
                          </a:effectLst>
                        </a:rPr>
                        <a:t>Category</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ctr"/>
                      <a:r>
                        <a:rPr lang="en-US" sz="2800" b="1" dirty="0">
                          <a:solidFill>
                            <a:schemeClr val="accent4">
                              <a:lumMod val="20000"/>
                              <a:lumOff val="80000"/>
                            </a:schemeClr>
                          </a:solidFill>
                          <a:effectLst>
                            <a:outerShdw blurRad="38100" dist="38100" dir="2700000" algn="tl">
                              <a:srgbClr val="000000">
                                <a:alpha val="43137"/>
                              </a:srgbClr>
                            </a:outerShdw>
                          </a:effectLst>
                        </a:rPr>
                        <a:t>2M Company</a:t>
                      </a:r>
                      <a:endParaRPr lang="en-US" sz="2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788970675"/>
                  </a:ext>
                </a:extLst>
              </a:tr>
              <a:tr h="602087">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Brand Identity</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Uses a light blue and white color scheme.</a:t>
                      </a:r>
                      <a:r>
                        <a:rPr lang="ar-EG" sz="1500" b="1" dirty="0">
                          <a:solidFill>
                            <a:schemeClr val="bg1"/>
                          </a:solidFill>
                          <a:latin typeface="Aptos" panose="020B0004020202020204" pitchFamily="34" charset="0"/>
                        </a:rPr>
                        <a:t> “</a:t>
                      </a:r>
                      <a:r>
                        <a:rPr lang="en-US" sz="1500" b="1" dirty="0">
                          <a:solidFill>
                            <a:schemeClr val="bg1"/>
                          </a:solidFill>
                          <a:latin typeface="Aptos" panose="020B0004020202020204" pitchFamily="34" charset="0"/>
                        </a:rPr>
                        <a:t>Weak Identity”</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3515108865"/>
                  </a:ext>
                </a:extLst>
              </a:tr>
              <a:tr h="602087">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Market Position</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One of the oldest companies in the market and an authorized agent for </a:t>
                      </a:r>
                      <a:r>
                        <a:rPr lang="en-US" sz="1500" b="1" dirty="0" err="1">
                          <a:solidFill>
                            <a:schemeClr val="bg1"/>
                          </a:solidFill>
                          <a:latin typeface="Aptos" panose="020B0004020202020204" pitchFamily="34" charset="0"/>
                        </a:rPr>
                        <a:t>Ekomilk</a:t>
                      </a:r>
                      <a:r>
                        <a:rPr lang="en-US" sz="1500" b="1" dirty="0">
                          <a:solidFill>
                            <a:schemeClr val="bg1"/>
                          </a:solidFill>
                          <a:latin typeface="Aptos" panose="020B0004020202020204" pitchFamily="34" charset="0"/>
                        </a:rPr>
                        <a:t>, offering two devices: </a:t>
                      </a:r>
                      <a:r>
                        <a:rPr lang="en-US" sz="1500" b="1" dirty="0" err="1">
                          <a:solidFill>
                            <a:schemeClr val="bg1"/>
                          </a:solidFill>
                          <a:latin typeface="Aptos" panose="020B0004020202020204" pitchFamily="34" charset="0"/>
                        </a:rPr>
                        <a:t>Ekomilk</a:t>
                      </a:r>
                      <a:r>
                        <a:rPr lang="en-US" sz="1500" b="1" dirty="0">
                          <a:solidFill>
                            <a:schemeClr val="bg1"/>
                          </a:solidFill>
                          <a:latin typeface="Aptos" panose="020B0004020202020204" pitchFamily="34" charset="0"/>
                        </a:rPr>
                        <a:t> Ultra and </a:t>
                      </a:r>
                      <a:r>
                        <a:rPr lang="en-US" sz="1500" b="1" dirty="0" err="1">
                          <a:solidFill>
                            <a:schemeClr val="bg1"/>
                          </a:solidFill>
                          <a:latin typeface="Aptos" panose="020B0004020202020204" pitchFamily="34" charset="0"/>
                        </a:rPr>
                        <a:t>Ekomilk</a:t>
                      </a:r>
                      <a:r>
                        <a:rPr lang="en-US" sz="1500" b="1" dirty="0">
                          <a:solidFill>
                            <a:schemeClr val="bg1"/>
                          </a:solidFill>
                          <a:latin typeface="Aptos" panose="020B0004020202020204" pitchFamily="34" charset="0"/>
                        </a:rPr>
                        <a:t> 120.</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928813765"/>
                  </a:ext>
                </a:extLst>
              </a:tr>
              <a:tr h="602087">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Social Media Presence</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Intermediate  presence on social media platforms, posting around two times per week.</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1371764875"/>
                  </a:ext>
                </a:extLst>
              </a:tr>
              <a:tr h="602087">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Content Strategy</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Mostly repetitive content — the same product images with specifications displayed beside </a:t>
                      </a:r>
                      <a:r>
                        <a:rPr lang="en-US" sz="1500" b="1" dirty="0" err="1">
                          <a:solidFill>
                            <a:schemeClr val="bg1"/>
                          </a:solidFill>
                          <a:latin typeface="Aptos" panose="020B0004020202020204" pitchFamily="34" charset="0"/>
                        </a:rPr>
                        <a:t>them.Additionally</a:t>
                      </a:r>
                      <a:r>
                        <a:rPr lang="en-US" sz="1500" b="1" dirty="0">
                          <a:solidFill>
                            <a:schemeClr val="bg1"/>
                          </a:solidFill>
                          <a:latin typeface="Aptos" panose="020B0004020202020204" pitchFamily="34" charset="0"/>
                        </a:rPr>
                        <a:t>, they post a “Friday Blessings” image roughly once every two months and occasional product demonstration videos. “Weak”</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919324975"/>
                  </a:ext>
                </a:extLst>
              </a:tr>
              <a:tr h="602087">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Engagement Rate</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Each post receives between 5 to 12 interactions, with approximately 100 views per post.</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236645462"/>
                  </a:ext>
                </a:extLst>
              </a:tr>
              <a:tr h="591275">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Product Details</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err="1">
                          <a:solidFill>
                            <a:schemeClr val="bg1"/>
                          </a:solidFill>
                          <a:latin typeface="Aptos" panose="020B0004020202020204" pitchFamily="34" charset="0"/>
                        </a:rPr>
                        <a:t>Ekomilk</a:t>
                      </a:r>
                      <a:r>
                        <a:rPr lang="en-US" sz="1500" b="1" dirty="0">
                          <a:solidFill>
                            <a:schemeClr val="bg1"/>
                          </a:solidFill>
                          <a:latin typeface="Aptos" panose="020B0004020202020204" pitchFamily="34" charset="0"/>
                        </a:rPr>
                        <a:t> 120 – 5-year warranty, priced at EGP 41,000</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438988329"/>
                  </a:ext>
                </a:extLst>
              </a:tr>
              <a:tr h="572581">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Key Strengths</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r>
                        <a:rPr lang="en-US" sz="1500" b="1" dirty="0">
                          <a:solidFill>
                            <a:schemeClr val="bg1"/>
                          </a:solidFill>
                          <a:latin typeface="Aptos" panose="020B0004020202020204" pitchFamily="34" charset="0"/>
                        </a:rPr>
                        <a:t>Long market experience (15 years) builds strong credibility and customer trust.</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839919742"/>
                  </a:ext>
                </a:extLst>
              </a:tr>
              <a:tr h="929146">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Weaknesses</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marL="285750" indent="-285750">
                        <a:buFont typeface="Arial" panose="020B0604020202020204" pitchFamily="34" charset="0"/>
                        <a:buChar char="•"/>
                      </a:pPr>
                      <a:r>
                        <a:rPr lang="en-US" sz="1500" b="1" dirty="0">
                          <a:solidFill>
                            <a:schemeClr val="bg1"/>
                          </a:solidFill>
                          <a:latin typeface="Aptos" panose="020B0004020202020204" pitchFamily="34" charset="0"/>
                        </a:rPr>
                        <a:t>Weak after-sales and maintenance service compared to competitors, which may affect customer satisfaction.</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Higher prices than other market players, reducing competitiveness.</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Repetitive and static content on social media (same product photos and templates), leading to low engagement rates.</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Lack of creative marketing strategies or impactful promotional campaigns.</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63942791"/>
                  </a:ext>
                </a:extLst>
              </a:tr>
              <a:tr h="1098082">
                <a:tc>
                  <a:txBody>
                    <a:bodyPr/>
                    <a:lstStyle/>
                    <a:p>
                      <a:r>
                        <a:rPr lang="en-US" sz="1800" b="1" dirty="0">
                          <a:solidFill>
                            <a:schemeClr val="accent4">
                              <a:lumMod val="20000"/>
                              <a:lumOff val="80000"/>
                            </a:schemeClr>
                          </a:solidFill>
                          <a:effectLst>
                            <a:outerShdw blurRad="38100" dist="38100" dir="2700000" algn="tl">
                              <a:srgbClr val="000000">
                                <a:alpha val="43137"/>
                              </a:srgbClr>
                            </a:outerShdw>
                          </a:effectLst>
                        </a:rPr>
                        <a:t>Opportunities</a:t>
                      </a:r>
                      <a:endParaRPr lang="en-US" sz="1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marL="285750" indent="-285750">
                        <a:buFont typeface="Arial" panose="020B0604020202020204" pitchFamily="34" charset="0"/>
                        <a:buChar char="•"/>
                      </a:pPr>
                      <a:r>
                        <a:rPr lang="en-US" sz="1500" b="1" dirty="0">
                          <a:solidFill>
                            <a:schemeClr val="bg1"/>
                          </a:solidFill>
                          <a:latin typeface="Aptos" panose="020B0004020202020204" pitchFamily="34" charset="0"/>
                        </a:rPr>
                        <a:t>Located in Alexandria (a coastal governorate) — a strong chance to expand into other coastal cities with high dairy and farming activity.</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Growing digital awareness in the market offers potential for more effective online marketing campaigns.</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Improving after-sales and maintenance services could turn a current weakness into a competitive advantage.</a:t>
                      </a:r>
                    </a:p>
                    <a:p>
                      <a:pPr marL="285750" indent="-285750">
                        <a:buFont typeface="Arial" panose="020B0604020202020204" pitchFamily="34" charset="0"/>
                        <a:buChar char="•"/>
                      </a:pPr>
                      <a:r>
                        <a:rPr lang="en-US" sz="1500" b="1" dirty="0">
                          <a:solidFill>
                            <a:schemeClr val="bg1"/>
                          </a:solidFill>
                          <a:latin typeface="Aptos" panose="020B0004020202020204" pitchFamily="34" charset="0"/>
                        </a:rPr>
                        <a:t>Diversifying content (e.g., product demos, customer success stories, comparisons) could boost engagement and drive sales.</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133918153"/>
                  </a:ext>
                </a:extLst>
              </a:tr>
            </a:tbl>
          </a:graphicData>
        </a:graphic>
      </p:graphicFrame>
      <p:sp>
        <p:nvSpPr>
          <p:cNvPr id="4" name="Freeform 7">
            <a:extLst>
              <a:ext uri="{FF2B5EF4-FFF2-40B4-BE49-F238E27FC236}">
                <a16:creationId xmlns:a16="http://schemas.microsoft.com/office/drawing/2014/main" id="{B367E271-BA78-69D4-BF0E-450DA7E11C7F}"/>
              </a:ext>
            </a:extLst>
          </p:cNvPr>
          <p:cNvSpPr/>
          <p:nvPr/>
        </p:nvSpPr>
        <p:spPr>
          <a:xfrm>
            <a:off x="12845777" y="196515"/>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Tree>
    <p:extLst>
      <p:ext uri="{BB962C8B-B14F-4D97-AF65-F5344CB8AC3E}">
        <p14:creationId xmlns:p14="http://schemas.microsoft.com/office/powerpoint/2010/main" val="154479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logo with text on it">
            <a:extLst>
              <a:ext uri="{FF2B5EF4-FFF2-40B4-BE49-F238E27FC236}">
                <a16:creationId xmlns:a16="http://schemas.microsoft.com/office/drawing/2014/main" id="{B0A19937-D554-8C43-ACCD-F7CBC0B27334}"/>
              </a:ext>
            </a:extLst>
          </p:cNvPr>
          <p:cNvPicPr>
            <a:picLocks noChangeAspect="1"/>
          </p:cNvPicPr>
          <p:nvPr/>
        </p:nvPicPr>
        <p:blipFill>
          <a:blip r:embed="rId3"/>
          <a:stretch>
            <a:fillRect/>
          </a:stretch>
        </p:blipFill>
        <p:spPr>
          <a:xfrm>
            <a:off x="732582" y="329090"/>
            <a:ext cx="12604214" cy="8695892"/>
          </a:xfrm>
          <a:prstGeom prst="rect">
            <a:avLst/>
          </a:prstGeom>
        </p:spPr>
      </p:pic>
      <p:sp>
        <p:nvSpPr>
          <p:cNvPr id="26" name="Rectangle 25">
            <a:extLst>
              <a:ext uri="{FF2B5EF4-FFF2-40B4-BE49-F238E27FC236}">
                <a16:creationId xmlns:a16="http://schemas.microsoft.com/office/drawing/2014/main" id="{9AD9D4C8-EFB7-D219-05D5-7B296F9C73E8}"/>
              </a:ext>
            </a:extLst>
          </p:cNvPr>
          <p:cNvSpPr/>
          <p:nvPr/>
        </p:nvSpPr>
        <p:spPr>
          <a:xfrm>
            <a:off x="-685109" y="-312486"/>
            <a:ext cx="16705943" cy="9318172"/>
          </a:xfrm>
          <a:prstGeom prst="rect">
            <a:avLst/>
          </a:prstGeom>
          <a:solidFill>
            <a:schemeClr val="tx1">
              <a:alpha val="6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0" name="Picture 19">
            <a:extLst>
              <a:ext uri="{FF2B5EF4-FFF2-40B4-BE49-F238E27FC236}">
                <a16:creationId xmlns:a16="http://schemas.microsoft.com/office/drawing/2014/main" id="{B7AFF0EE-FA1E-CA4F-3494-B914A5C42055}"/>
              </a:ext>
            </a:extLst>
          </p:cNvPr>
          <p:cNvPicPr>
            <a:picLocks noChangeAspect="1"/>
          </p:cNvPicPr>
          <p:nvPr/>
        </p:nvPicPr>
        <p:blipFill>
          <a:blip r:embed="rId4"/>
          <a:stretch>
            <a:fillRect/>
          </a:stretch>
        </p:blipFill>
        <p:spPr>
          <a:xfrm>
            <a:off x="0" y="-194907"/>
            <a:ext cx="7376930" cy="1998227"/>
          </a:xfrm>
          <a:prstGeom prst="rect">
            <a:avLst/>
          </a:prstGeom>
        </p:spPr>
      </p:pic>
      <p:sp>
        <p:nvSpPr>
          <p:cNvPr id="2" name="Text 0"/>
          <p:cNvSpPr/>
          <p:nvPr/>
        </p:nvSpPr>
        <p:spPr>
          <a:xfrm>
            <a:off x="209896" y="632460"/>
            <a:ext cx="5411986" cy="676513"/>
          </a:xfrm>
          <a:prstGeom prst="rect">
            <a:avLst/>
          </a:prstGeom>
          <a:noFill/>
          <a:ln/>
        </p:spPr>
        <p:txBody>
          <a:bodyPr wrap="none" lIns="0" tIns="0" rIns="0" bIns="0" rtlCol="0" anchor="t"/>
          <a:lstStyle/>
          <a:p>
            <a:pPr marL="0" indent="0" algn="l">
              <a:lnSpc>
                <a:spcPts val="5300"/>
              </a:lnSpc>
              <a:buNone/>
            </a:pPr>
            <a:r>
              <a:rPr lang="en-US" sz="72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SWOT Analysis</a:t>
            </a:r>
            <a:endParaRPr lang="en-US" sz="7200" b="1" dirty="0">
              <a:solidFill>
                <a:schemeClr val="accent4">
                  <a:lumMod val="20000"/>
                  <a:lumOff val="80000"/>
                </a:schemeClr>
              </a:solidFill>
              <a:effectLst>
                <a:outerShdw blurRad="38100" dist="38100" dir="2700000" algn="tl">
                  <a:srgbClr val="000000">
                    <a:alpha val="43137"/>
                  </a:srgbClr>
                </a:outerShdw>
              </a:effectLst>
            </a:endParaRPr>
          </a:p>
        </p:txBody>
      </p:sp>
      <p:sp>
        <p:nvSpPr>
          <p:cNvPr id="3" name="Text 1"/>
          <p:cNvSpPr/>
          <p:nvPr/>
        </p:nvSpPr>
        <p:spPr>
          <a:xfrm>
            <a:off x="804982" y="1883807"/>
            <a:ext cx="3247192" cy="405765"/>
          </a:xfrm>
          <a:prstGeom prst="rect">
            <a:avLst/>
          </a:prstGeom>
          <a:noFill/>
          <a:ln/>
        </p:spPr>
        <p:txBody>
          <a:bodyPr wrap="none" lIns="0" tIns="0" rIns="0" bIns="0" rtlCol="0" anchor="t"/>
          <a:lstStyle/>
          <a:p>
            <a:pPr marL="0" indent="0" algn="l">
              <a:lnSpc>
                <a:spcPts val="3150"/>
              </a:lnSpc>
              <a:buNone/>
            </a:pPr>
            <a:r>
              <a:rPr lang="en-US" sz="3600" b="1" dirty="0">
                <a:solidFill>
                  <a:srgbClr val="EF9C82"/>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Strengths</a:t>
            </a:r>
            <a:endParaRPr lang="en-US" sz="3600" b="1" dirty="0">
              <a:effectLst>
                <a:outerShdw blurRad="38100" dist="38100" dir="2700000" algn="tl">
                  <a:srgbClr val="000000">
                    <a:alpha val="43137"/>
                  </a:srgbClr>
                </a:outerShdw>
              </a:effectLst>
            </a:endParaRPr>
          </a:p>
        </p:txBody>
      </p:sp>
      <p:sp>
        <p:nvSpPr>
          <p:cNvPr id="4" name="Text 2"/>
          <p:cNvSpPr/>
          <p:nvPr/>
        </p:nvSpPr>
        <p:spPr>
          <a:xfrm>
            <a:off x="804982" y="2519482"/>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Strong technical expertise in maintenance</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5" name="Text 3"/>
          <p:cNvSpPr/>
          <p:nvPr/>
        </p:nvSpPr>
        <p:spPr>
          <a:xfrm>
            <a:off x="804982" y="2967990"/>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2-year device warranty</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6" name="Text 4"/>
          <p:cNvSpPr/>
          <p:nvPr/>
        </p:nvSpPr>
        <p:spPr>
          <a:xfrm>
            <a:off x="804982" y="3416498"/>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Original spare parts always available</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7" name="Text 5"/>
          <p:cNvSpPr/>
          <p:nvPr/>
        </p:nvSpPr>
        <p:spPr>
          <a:xfrm>
            <a:off x="804982" y="3865007"/>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Transparent and trustworthy service</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8" name="Text 6"/>
          <p:cNvSpPr/>
          <p:nvPr/>
        </p:nvSpPr>
        <p:spPr>
          <a:xfrm>
            <a:off x="804982" y="4313515"/>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Competitive pricing</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9" name="Text 7"/>
          <p:cNvSpPr/>
          <p:nvPr/>
        </p:nvSpPr>
        <p:spPr>
          <a:xfrm>
            <a:off x="7603331" y="1883807"/>
            <a:ext cx="3247192" cy="405765"/>
          </a:xfrm>
          <a:prstGeom prst="rect">
            <a:avLst/>
          </a:prstGeom>
          <a:noFill/>
          <a:ln/>
        </p:spPr>
        <p:txBody>
          <a:bodyPr wrap="none" lIns="0" tIns="0" rIns="0" bIns="0" rtlCol="0" anchor="t"/>
          <a:lstStyle/>
          <a:p>
            <a:pPr marL="0" indent="0" algn="l">
              <a:lnSpc>
                <a:spcPts val="3150"/>
              </a:lnSpc>
              <a:buNone/>
            </a:pPr>
            <a:r>
              <a:rPr lang="en-US" sz="3600" b="1" dirty="0">
                <a:solidFill>
                  <a:srgbClr val="EF9C82"/>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Weaknesses</a:t>
            </a:r>
            <a:endParaRPr lang="en-US" sz="3600" b="1" dirty="0">
              <a:solidFill>
                <a:srgbClr val="EF9C82"/>
              </a:solidFill>
              <a:effectLst>
                <a:outerShdw blurRad="38100" dist="38100" dir="2700000" algn="tl">
                  <a:srgbClr val="000000">
                    <a:alpha val="43137"/>
                  </a:srgbClr>
                </a:outerShdw>
              </a:effectLst>
            </a:endParaRPr>
          </a:p>
        </p:txBody>
      </p:sp>
      <p:sp>
        <p:nvSpPr>
          <p:cNvPr id="10" name="Text 8"/>
          <p:cNvSpPr/>
          <p:nvPr/>
        </p:nvSpPr>
        <p:spPr>
          <a:xfrm>
            <a:off x="7603331" y="2519482"/>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Weak social media presence</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1" name="Text 9"/>
          <p:cNvSpPr/>
          <p:nvPr/>
        </p:nvSpPr>
        <p:spPr>
          <a:xfrm>
            <a:off x="7603331" y="2967990"/>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Limited brand awareness online</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2" name="Text 10"/>
          <p:cNvSpPr/>
          <p:nvPr/>
        </p:nvSpPr>
        <p:spPr>
          <a:xfrm>
            <a:off x="804982" y="5250656"/>
            <a:ext cx="3247192" cy="405765"/>
          </a:xfrm>
          <a:prstGeom prst="rect">
            <a:avLst/>
          </a:prstGeom>
          <a:noFill/>
          <a:ln/>
        </p:spPr>
        <p:txBody>
          <a:bodyPr wrap="none" lIns="0" tIns="0" rIns="0" bIns="0" rtlCol="0" anchor="t"/>
          <a:lstStyle/>
          <a:p>
            <a:pPr marL="0" indent="0" algn="l">
              <a:lnSpc>
                <a:spcPts val="3150"/>
              </a:lnSpc>
              <a:buNone/>
            </a:pPr>
            <a:r>
              <a:rPr lang="en-US" sz="3600" b="1" dirty="0">
                <a:solidFill>
                  <a:srgbClr val="EF9C82"/>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Opportunities</a:t>
            </a:r>
            <a:endParaRPr lang="en-US" sz="3600" b="1" dirty="0">
              <a:effectLst>
                <a:outerShdw blurRad="38100" dist="38100" dir="2700000" algn="tl">
                  <a:srgbClr val="000000">
                    <a:alpha val="43137"/>
                  </a:srgbClr>
                </a:outerShdw>
              </a:effectLst>
            </a:endParaRPr>
          </a:p>
        </p:txBody>
      </p:sp>
      <p:sp>
        <p:nvSpPr>
          <p:cNvPr id="13" name="Text 11"/>
          <p:cNvSpPr/>
          <p:nvPr/>
        </p:nvSpPr>
        <p:spPr>
          <a:xfrm>
            <a:off x="804982" y="5886331"/>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Rising demand for milk testing technology</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4" name="Text 12"/>
          <p:cNvSpPr/>
          <p:nvPr/>
        </p:nvSpPr>
        <p:spPr>
          <a:xfrm>
            <a:off x="804982" y="6334839"/>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Shift toward local manufacturing</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5" name="Text 13"/>
          <p:cNvSpPr/>
          <p:nvPr/>
        </p:nvSpPr>
        <p:spPr>
          <a:xfrm>
            <a:off x="804982" y="6783348"/>
            <a:ext cx="6229707" cy="736044"/>
          </a:xfrm>
          <a:prstGeom prst="rect">
            <a:avLst/>
          </a:prstGeom>
          <a:noFill/>
          <a:ln/>
        </p:spPr>
        <p:txBody>
          <a:bodyPr wrap="squar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Potential collaboration with agricultural colleges and dairy factories</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6" name="Text 14"/>
          <p:cNvSpPr/>
          <p:nvPr/>
        </p:nvSpPr>
        <p:spPr>
          <a:xfrm>
            <a:off x="7603331" y="5250656"/>
            <a:ext cx="3247192" cy="405765"/>
          </a:xfrm>
          <a:prstGeom prst="rect">
            <a:avLst/>
          </a:prstGeom>
          <a:noFill/>
          <a:ln/>
        </p:spPr>
        <p:txBody>
          <a:bodyPr wrap="none" lIns="0" tIns="0" rIns="0" bIns="0" rtlCol="0" anchor="t"/>
          <a:lstStyle/>
          <a:p>
            <a:pPr marL="0" indent="0" algn="l">
              <a:lnSpc>
                <a:spcPts val="3150"/>
              </a:lnSpc>
              <a:buNone/>
            </a:pPr>
            <a:r>
              <a:rPr lang="en-US" sz="3600" b="1" dirty="0">
                <a:solidFill>
                  <a:srgbClr val="EF9C82"/>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Threats</a:t>
            </a:r>
            <a:endParaRPr lang="en-US" sz="3600" b="1" dirty="0">
              <a:solidFill>
                <a:srgbClr val="EF9C82"/>
              </a:solidFill>
              <a:effectLst>
                <a:outerShdw blurRad="38100" dist="38100" dir="2700000" algn="tl">
                  <a:srgbClr val="000000">
                    <a:alpha val="43137"/>
                  </a:srgbClr>
                </a:outerShdw>
              </a:effectLst>
            </a:endParaRPr>
          </a:p>
        </p:txBody>
      </p:sp>
      <p:sp>
        <p:nvSpPr>
          <p:cNvPr id="17" name="Text 15"/>
          <p:cNvSpPr/>
          <p:nvPr/>
        </p:nvSpPr>
        <p:spPr>
          <a:xfrm>
            <a:off x="7603331" y="5886331"/>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Established competitors (e.g., Mohamed Attia)</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8" name="Text 16"/>
          <p:cNvSpPr/>
          <p:nvPr/>
        </p:nvSpPr>
        <p:spPr>
          <a:xfrm>
            <a:off x="7603331" y="6334839"/>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Customer hesitation toward local products</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19" name="Text 17"/>
          <p:cNvSpPr/>
          <p:nvPr/>
        </p:nvSpPr>
        <p:spPr>
          <a:xfrm>
            <a:off x="7603331" y="6783348"/>
            <a:ext cx="6229707" cy="368022"/>
          </a:xfrm>
          <a:prstGeom prst="rect">
            <a:avLst/>
          </a:prstGeom>
          <a:noFill/>
          <a:ln/>
        </p:spPr>
        <p:txBody>
          <a:bodyPr wrap="none" lIns="0" tIns="0" rIns="0" bIns="0" rtlCol="0" anchor="t"/>
          <a:lstStyle/>
          <a:p>
            <a:pPr marL="342900" indent="-342900" algn="l">
              <a:lnSpc>
                <a:spcPts val="2850"/>
              </a:lnSpc>
              <a:buSzPct val="100000"/>
              <a:buChar char="•"/>
            </a:pPr>
            <a:r>
              <a:rPr lang="en-US" sz="18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Economic fluctuations impacting device pricing</a:t>
            </a:r>
            <a:endParaRPr lang="en-US" sz="1800" b="1" dirty="0">
              <a:effectLst>
                <a:outerShdw blurRad="38100" dist="38100" dir="2700000" algn="tl">
                  <a:srgbClr val="000000">
                    <a:alpha val="43137"/>
                  </a:srgbClr>
                </a:outerShdw>
              </a:effectLst>
              <a:latin typeface="Aptos" panose="020B0004020202020204" pitchFamily="34" charset="0"/>
            </a:endParaRPr>
          </a:p>
        </p:txBody>
      </p:sp>
      <p:sp>
        <p:nvSpPr>
          <p:cNvPr id="21" name="Rectangle 20">
            <a:extLst>
              <a:ext uri="{FF2B5EF4-FFF2-40B4-BE49-F238E27FC236}">
                <a16:creationId xmlns:a16="http://schemas.microsoft.com/office/drawing/2014/main" id="{1B3D02E1-0C52-872A-7890-F45F49A989EF}"/>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7">
            <a:extLst>
              <a:ext uri="{FF2B5EF4-FFF2-40B4-BE49-F238E27FC236}">
                <a16:creationId xmlns:a16="http://schemas.microsoft.com/office/drawing/2014/main" id="{27E7DF5E-C6C3-39A0-FCDD-C476F6DFC729}"/>
              </a:ext>
            </a:extLst>
          </p:cNvPr>
          <p:cNvSpPr/>
          <p:nvPr/>
        </p:nvSpPr>
        <p:spPr>
          <a:xfrm>
            <a:off x="12845777" y="196515"/>
            <a:ext cx="1602558" cy="265150"/>
          </a:xfrm>
          <a:custGeom>
            <a:avLst/>
            <a:gdLst/>
            <a:ahLst/>
            <a:cxnLst/>
            <a:rect l="l" t="t" r="r" b="b"/>
            <a:pathLst>
              <a:path w="1602558" h="265150">
                <a:moveTo>
                  <a:pt x="0" y="0"/>
                </a:moveTo>
                <a:lnTo>
                  <a:pt x="1602558" y="0"/>
                </a:lnTo>
                <a:lnTo>
                  <a:pt x="1602558" y="265150"/>
                </a:lnTo>
                <a:lnTo>
                  <a:pt x="0" y="265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23" name="Freeform 9">
            <a:extLst>
              <a:ext uri="{FF2B5EF4-FFF2-40B4-BE49-F238E27FC236}">
                <a16:creationId xmlns:a16="http://schemas.microsoft.com/office/drawing/2014/main" id="{B643835B-0082-1501-8AFA-7802569EC966}"/>
              </a:ext>
            </a:extLst>
          </p:cNvPr>
          <p:cNvSpPr/>
          <p:nvPr/>
        </p:nvSpPr>
        <p:spPr>
          <a:xfrm>
            <a:off x="13178656" y="7151370"/>
            <a:ext cx="1308763" cy="1355592"/>
          </a:xfrm>
          <a:custGeom>
            <a:avLst/>
            <a:gdLst/>
            <a:ahLst/>
            <a:cxnLst/>
            <a:rect l="l" t="t" r="r" b="b"/>
            <a:pathLst>
              <a:path w="1308763" h="1355592">
                <a:moveTo>
                  <a:pt x="0" y="0"/>
                </a:moveTo>
                <a:lnTo>
                  <a:pt x="1308763" y="0"/>
                </a:lnTo>
                <a:lnTo>
                  <a:pt x="1308763" y="1355592"/>
                </a:lnTo>
                <a:lnTo>
                  <a:pt x="0" y="135559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64BDCEE-5953-524D-B385-B89E82035E53}"/>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hape 1"/>
          <p:cNvSpPr/>
          <p:nvPr/>
        </p:nvSpPr>
        <p:spPr>
          <a:xfrm>
            <a:off x="637342" y="4201786"/>
            <a:ext cx="6586776"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4" name="Shape 2"/>
          <p:cNvSpPr/>
          <p:nvPr/>
        </p:nvSpPr>
        <p:spPr>
          <a:xfrm>
            <a:off x="614482" y="4201786"/>
            <a:ext cx="91440" cy="1078111"/>
          </a:xfrm>
          <a:prstGeom prst="roundRect">
            <a:avLst>
              <a:gd name="adj" fmla="val 29874"/>
            </a:avLst>
          </a:prstGeom>
          <a:solidFill>
            <a:srgbClr val="EF9C82"/>
          </a:solidFill>
          <a:ln/>
        </p:spPr>
        <p:txBody>
          <a:bodyPr/>
          <a:lstStyle/>
          <a:p>
            <a:endParaRPr lang="en-US"/>
          </a:p>
        </p:txBody>
      </p:sp>
      <p:sp>
        <p:nvSpPr>
          <p:cNvPr id="5" name="Text 3"/>
          <p:cNvSpPr/>
          <p:nvPr/>
        </p:nvSpPr>
        <p:spPr>
          <a:xfrm>
            <a:off x="910828" y="4377665"/>
            <a:ext cx="2573179"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First Egyptian-Made Brand</a:t>
            </a:r>
            <a:endParaRPr lang="en-US" sz="1650" dirty="0"/>
          </a:p>
        </p:txBody>
      </p:sp>
      <p:sp>
        <p:nvSpPr>
          <p:cNvPr id="6" name="Text 4"/>
          <p:cNvSpPr/>
          <p:nvPr/>
        </p:nvSpPr>
        <p:spPr>
          <a:xfrm>
            <a:off x="910828" y="4754498"/>
            <a:ext cx="6108383"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First Egyptian-made milk analysis device brand.</a:t>
            </a:r>
            <a:endParaRPr lang="en-US" sz="1400" dirty="0"/>
          </a:p>
        </p:txBody>
      </p:sp>
      <p:sp>
        <p:nvSpPr>
          <p:cNvPr id="7" name="Shape 5"/>
          <p:cNvSpPr/>
          <p:nvPr/>
        </p:nvSpPr>
        <p:spPr>
          <a:xfrm>
            <a:off x="7406164" y="4201786"/>
            <a:ext cx="6586895"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8" name="Shape 6"/>
          <p:cNvSpPr/>
          <p:nvPr/>
        </p:nvSpPr>
        <p:spPr>
          <a:xfrm>
            <a:off x="7383304" y="4201786"/>
            <a:ext cx="91440" cy="1078111"/>
          </a:xfrm>
          <a:prstGeom prst="roundRect">
            <a:avLst>
              <a:gd name="adj" fmla="val 29874"/>
            </a:avLst>
          </a:prstGeom>
          <a:solidFill>
            <a:srgbClr val="EF9C82"/>
          </a:solidFill>
          <a:ln/>
        </p:spPr>
        <p:txBody>
          <a:bodyPr/>
          <a:lstStyle/>
          <a:p>
            <a:endParaRPr lang="en-US"/>
          </a:p>
        </p:txBody>
      </p:sp>
      <p:sp>
        <p:nvSpPr>
          <p:cNvPr id="9" name="Text 7"/>
          <p:cNvSpPr/>
          <p:nvPr/>
        </p:nvSpPr>
        <p:spPr>
          <a:xfrm>
            <a:off x="7679650" y="4377665"/>
            <a:ext cx="2142411"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Speed &amp; Accuracy</a:t>
            </a:r>
            <a:endParaRPr lang="en-US" sz="1650" dirty="0"/>
          </a:p>
        </p:txBody>
      </p:sp>
      <p:sp>
        <p:nvSpPr>
          <p:cNvPr id="10" name="Text 8"/>
          <p:cNvSpPr/>
          <p:nvPr/>
        </p:nvSpPr>
        <p:spPr>
          <a:xfrm>
            <a:off x="7679650" y="4754498"/>
            <a:ext cx="6108502"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Faster and more accurate analysis results.</a:t>
            </a:r>
            <a:endParaRPr lang="en-US" sz="1400" dirty="0"/>
          </a:p>
        </p:txBody>
      </p:sp>
      <p:sp>
        <p:nvSpPr>
          <p:cNvPr id="11" name="Shape 9"/>
          <p:cNvSpPr/>
          <p:nvPr/>
        </p:nvSpPr>
        <p:spPr>
          <a:xfrm>
            <a:off x="637342" y="5432916"/>
            <a:ext cx="6586776"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12" name="Shape 10"/>
          <p:cNvSpPr/>
          <p:nvPr/>
        </p:nvSpPr>
        <p:spPr>
          <a:xfrm>
            <a:off x="614482" y="5432916"/>
            <a:ext cx="91440" cy="1078111"/>
          </a:xfrm>
          <a:prstGeom prst="roundRect">
            <a:avLst>
              <a:gd name="adj" fmla="val 29874"/>
            </a:avLst>
          </a:prstGeom>
          <a:solidFill>
            <a:srgbClr val="EF9C82"/>
          </a:solidFill>
          <a:ln/>
        </p:spPr>
        <p:txBody>
          <a:bodyPr/>
          <a:lstStyle/>
          <a:p>
            <a:endParaRPr lang="en-US"/>
          </a:p>
        </p:txBody>
      </p:sp>
      <p:sp>
        <p:nvSpPr>
          <p:cNvPr id="13" name="Text 11"/>
          <p:cNvSpPr/>
          <p:nvPr/>
        </p:nvSpPr>
        <p:spPr>
          <a:xfrm>
            <a:off x="910828" y="5637822"/>
            <a:ext cx="2142411"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Superior Service</a:t>
            </a:r>
            <a:endParaRPr lang="en-US" sz="1650" dirty="0"/>
          </a:p>
        </p:txBody>
      </p:sp>
      <p:sp>
        <p:nvSpPr>
          <p:cNvPr id="14" name="Text 12"/>
          <p:cNvSpPr/>
          <p:nvPr/>
        </p:nvSpPr>
        <p:spPr>
          <a:xfrm>
            <a:off x="910828" y="6014655"/>
            <a:ext cx="6108383"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Best after-sales service in Egypt.</a:t>
            </a:r>
            <a:endParaRPr lang="en-US" sz="1400" dirty="0"/>
          </a:p>
        </p:txBody>
      </p:sp>
      <p:sp>
        <p:nvSpPr>
          <p:cNvPr id="15" name="Shape 13"/>
          <p:cNvSpPr/>
          <p:nvPr/>
        </p:nvSpPr>
        <p:spPr>
          <a:xfrm>
            <a:off x="7406164" y="5432916"/>
            <a:ext cx="6586895"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16" name="Shape 14"/>
          <p:cNvSpPr/>
          <p:nvPr/>
        </p:nvSpPr>
        <p:spPr>
          <a:xfrm>
            <a:off x="7383304" y="5432916"/>
            <a:ext cx="91440" cy="1078111"/>
          </a:xfrm>
          <a:prstGeom prst="roundRect">
            <a:avLst>
              <a:gd name="adj" fmla="val 29874"/>
            </a:avLst>
          </a:prstGeom>
          <a:solidFill>
            <a:srgbClr val="EF9C82"/>
          </a:solidFill>
          <a:ln/>
        </p:spPr>
        <p:txBody>
          <a:bodyPr/>
          <a:lstStyle/>
          <a:p>
            <a:endParaRPr lang="en-US"/>
          </a:p>
        </p:txBody>
      </p:sp>
      <p:sp>
        <p:nvSpPr>
          <p:cNvPr id="17" name="Text 15"/>
          <p:cNvSpPr/>
          <p:nvPr/>
        </p:nvSpPr>
        <p:spPr>
          <a:xfrm>
            <a:off x="7679650" y="5637822"/>
            <a:ext cx="2142411"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Warranty &amp; Parts</a:t>
            </a:r>
            <a:endParaRPr lang="en-US" sz="1650" dirty="0"/>
          </a:p>
        </p:txBody>
      </p:sp>
      <p:sp>
        <p:nvSpPr>
          <p:cNvPr id="18" name="Text 16"/>
          <p:cNvSpPr/>
          <p:nvPr/>
        </p:nvSpPr>
        <p:spPr>
          <a:xfrm>
            <a:off x="7679650" y="6014655"/>
            <a:ext cx="6108502"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2-year warranty and readily available spare parts.</a:t>
            </a:r>
            <a:endParaRPr lang="en-US" sz="1400" dirty="0"/>
          </a:p>
        </p:txBody>
      </p:sp>
      <p:sp>
        <p:nvSpPr>
          <p:cNvPr id="19" name="Shape 17"/>
          <p:cNvSpPr/>
          <p:nvPr/>
        </p:nvSpPr>
        <p:spPr>
          <a:xfrm>
            <a:off x="637342" y="6693073"/>
            <a:ext cx="6586776"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20" name="Shape 18"/>
          <p:cNvSpPr/>
          <p:nvPr/>
        </p:nvSpPr>
        <p:spPr>
          <a:xfrm>
            <a:off x="614482" y="6693073"/>
            <a:ext cx="91440" cy="1078111"/>
          </a:xfrm>
          <a:prstGeom prst="roundRect">
            <a:avLst>
              <a:gd name="adj" fmla="val 29874"/>
            </a:avLst>
          </a:prstGeom>
          <a:solidFill>
            <a:srgbClr val="EF9C82"/>
          </a:solidFill>
          <a:ln/>
        </p:spPr>
        <p:txBody>
          <a:bodyPr/>
          <a:lstStyle/>
          <a:p>
            <a:endParaRPr lang="en-US"/>
          </a:p>
        </p:txBody>
      </p:sp>
      <p:sp>
        <p:nvSpPr>
          <p:cNvPr id="21" name="Text 19"/>
          <p:cNvSpPr/>
          <p:nvPr/>
        </p:nvSpPr>
        <p:spPr>
          <a:xfrm>
            <a:off x="910828" y="6897980"/>
            <a:ext cx="2142411"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Competitive Pricing</a:t>
            </a:r>
            <a:endParaRPr lang="en-US" sz="1650" dirty="0"/>
          </a:p>
        </p:txBody>
      </p:sp>
      <p:sp>
        <p:nvSpPr>
          <p:cNvPr id="22" name="Text 20"/>
          <p:cNvSpPr/>
          <p:nvPr/>
        </p:nvSpPr>
        <p:spPr>
          <a:xfrm>
            <a:off x="910828" y="7274813"/>
            <a:ext cx="6108383"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Competitive prices compared to imported devices.</a:t>
            </a:r>
            <a:endParaRPr lang="en-US" sz="1400" dirty="0"/>
          </a:p>
        </p:txBody>
      </p:sp>
      <p:sp>
        <p:nvSpPr>
          <p:cNvPr id="23" name="Shape 21"/>
          <p:cNvSpPr/>
          <p:nvPr/>
        </p:nvSpPr>
        <p:spPr>
          <a:xfrm>
            <a:off x="7406164" y="6693073"/>
            <a:ext cx="6586895"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24" name="Shape 22"/>
          <p:cNvSpPr/>
          <p:nvPr/>
        </p:nvSpPr>
        <p:spPr>
          <a:xfrm>
            <a:off x="7383304" y="6693073"/>
            <a:ext cx="91440" cy="1078111"/>
          </a:xfrm>
          <a:prstGeom prst="roundRect">
            <a:avLst>
              <a:gd name="adj" fmla="val 29874"/>
            </a:avLst>
          </a:prstGeom>
          <a:solidFill>
            <a:srgbClr val="EF9C82"/>
          </a:solidFill>
          <a:ln/>
        </p:spPr>
        <p:txBody>
          <a:bodyPr/>
          <a:lstStyle/>
          <a:p>
            <a:endParaRPr lang="en-US"/>
          </a:p>
        </p:txBody>
      </p:sp>
      <p:sp>
        <p:nvSpPr>
          <p:cNvPr id="25" name="Text 23"/>
          <p:cNvSpPr/>
          <p:nvPr/>
        </p:nvSpPr>
        <p:spPr>
          <a:xfrm>
            <a:off x="7679650" y="6897980"/>
            <a:ext cx="2142411" cy="267653"/>
          </a:xfrm>
          <a:prstGeom prst="rect">
            <a:avLst/>
          </a:prstGeom>
          <a:noFill/>
          <a:ln/>
        </p:spPr>
        <p:txBody>
          <a:bodyPr wrap="none" lIns="0" tIns="0" rIns="0" bIns="0" rtlCol="0" anchor="t"/>
          <a:lstStyle/>
          <a:p>
            <a:pPr marL="0" indent="0" algn="l">
              <a:lnSpc>
                <a:spcPts val="2100"/>
              </a:lnSpc>
              <a:buNone/>
            </a:pPr>
            <a:r>
              <a:rPr lang="en-US" sz="1650" dirty="0">
                <a:solidFill>
                  <a:srgbClr val="F9EEE7"/>
                </a:solidFill>
                <a:latin typeface="Quattrocento" pitchFamily="34" charset="0"/>
                <a:ea typeface="Quattrocento" pitchFamily="34" charset="-122"/>
                <a:cs typeface="Quattrocento" pitchFamily="34" charset="-120"/>
              </a:rPr>
              <a:t>Unique Accessories</a:t>
            </a:r>
            <a:endParaRPr lang="en-US" sz="1650" dirty="0"/>
          </a:p>
        </p:txBody>
      </p:sp>
      <p:sp>
        <p:nvSpPr>
          <p:cNvPr id="26" name="Text 24"/>
          <p:cNvSpPr/>
          <p:nvPr/>
        </p:nvSpPr>
        <p:spPr>
          <a:xfrm>
            <a:off x="7679650" y="7274813"/>
            <a:ext cx="6108502" cy="291465"/>
          </a:xfrm>
          <a:prstGeom prst="rect">
            <a:avLst/>
          </a:prstGeom>
          <a:noFill/>
          <a:ln/>
        </p:spPr>
        <p:txBody>
          <a:bodyPr wrap="non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Accessories that are not available with other brands.</a:t>
            </a:r>
            <a:endParaRPr lang="en-US" sz="1400" dirty="0"/>
          </a:p>
        </p:txBody>
      </p:sp>
      <p:pic>
        <p:nvPicPr>
          <p:cNvPr id="33" name="Picture 32">
            <a:extLst>
              <a:ext uri="{FF2B5EF4-FFF2-40B4-BE49-F238E27FC236}">
                <a16:creationId xmlns:a16="http://schemas.microsoft.com/office/drawing/2014/main" id="{1B632BE3-B639-042A-83DE-AF1153778D6B}"/>
              </a:ext>
            </a:extLst>
          </p:cNvPr>
          <p:cNvPicPr>
            <a:picLocks noChangeAspect="1"/>
          </p:cNvPicPr>
          <p:nvPr/>
        </p:nvPicPr>
        <p:blipFill>
          <a:blip r:embed="rId3"/>
          <a:stretch>
            <a:fillRect/>
          </a:stretch>
        </p:blipFill>
        <p:spPr>
          <a:xfrm>
            <a:off x="0" y="-194907"/>
            <a:ext cx="7376930" cy="1998227"/>
          </a:xfrm>
          <a:prstGeom prst="rect">
            <a:avLst/>
          </a:prstGeom>
        </p:spPr>
      </p:pic>
      <p:sp>
        <p:nvSpPr>
          <p:cNvPr id="34" name="Text 0">
            <a:extLst>
              <a:ext uri="{FF2B5EF4-FFF2-40B4-BE49-F238E27FC236}">
                <a16:creationId xmlns:a16="http://schemas.microsoft.com/office/drawing/2014/main" id="{9045562F-01B8-9617-D57D-F738A0F1148A}"/>
              </a:ext>
            </a:extLst>
          </p:cNvPr>
          <p:cNvSpPr/>
          <p:nvPr/>
        </p:nvSpPr>
        <p:spPr>
          <a:xfrm>
            <a:off x="209896" y="632460"/>
            <a:ext cx="5411986" cy="676513"/>
          </a:xfrm>
          <a:prstGeom prst="rect">
            <a:avLst/>
          </a:prstGeom>
          <a:noFill/>
          <a:ln/>
        </p:spPr>
        <p:txBody>
          <a:bodyPr wrap="none" lIns="0" tIns="0" rIns="0" bIns="0" rtlCol="0" anchor="t"/>
          <a:lstStyle/>
          <a:p>
            <a:pPr marL="0" indent="0" algn="l">
              <a:lnSpc>
                <a:spcPts val="5300"/>
              </a:lnSpc>
              <a:buNone/>
            </a:pPr>
            <a:endParaRPr lang="en-US" sz="7200" b="1" dirty="0">
              <a:solidFill>
                <a:schemeClr val="accent4">
                  <a:lumMod val="20000"/>
                  <a:lumOff val="80000"/>
                </a:schemeClr>
              </a:solidFill>
              <a:effectLst>
                <a:outerShdw blurRad="38100" dist="38100" dir="2700000" algn="tl">
                  <a:srgbClr val="000000">
                    <a:alpha val="43137"/>
                  </a:srgbClr>
                </a:outerShdw>
              </a:effectLst>
            </a:endParaRPr>
          </a:p>
        </p:txBody>
      </p:sp>
      <p:sp>
        <p:nvSpPr>
          <p:cNvPr id="35" name="Text 0">
            <a:extLst>
              <a:ext uri="{FF2B5EF4-FFF2-40B4-BE49-F238E27FC236}">
                <a16:creationId xmlns:a16="http://schemas.microsoft.com/office/drawing/2014/main" id="{C59FE040-C45F-7C0E-7E84-FF53C96A5F27}"/>
              </a:ext>
            </a:extLst>
          </p:cNvPr>
          <p:cNvSpPr/>
          <p:nvPr/>
        </p:nvSpPr>
        <p:spPr>
          <a:xfrm>
            <a:off x="115553" y="552635"/>
            <a:ext cx="5411986" cy="676513"/>
          </a:xfrm>
          <a:prstGeom prst="rect">
            <a:avLst/>
          </a:prstGeom>
          <a:noFill/>
          <a:ln/>
        </p:spPr>
        <p:txBody>
          <a:bodyPr wrap="none" lIns="0" tIns="0" rIns="0" bIns="0" rtlCol="0" anchor="t"/>
          <a:lstStyle/>
          <a:p>
            <a:pPr marL="0" indent="0" algn="ctr">
              <a:lnSpc>
                <a:spcPts val="5300"/>
              </a:lnSpc>
              <a:buNone/>
            </a:pPr>
            <a:r>
              <a:rPr lang="en-US" sz="96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Strategy</a:t>
            </a:r>
            <a:endParaRPr lang="en-US" sz="9600" b="1" dirty="0">
              <a:solidFill>
                <a:schemeClr val="accent4">
                  <a:lumMod val="20000"/>
                  <a:lumOff val="80000"/>
                </a:schemeClr>
              </a:solidFill>
              <a:effectLst>
                <a:outerShdw blurRad="38100" dist="38100" dir="2700000" algn="tl">
                  <a:srgbClr val="000000">
                    <a:alpha val="43137"/>
                  </a:srgbClr>
                </a:outerShdw>
              </a:effectLst>
            </a:endParaRPr>
          </a:p>
        </p:txBody>
      </p:sp>
      <p:sp>
        <p:nvSpPr>
          <p:cNvPr id="37" name="Shape 1">
            <a:extLst>
              <a:ext uri="{FF2B5EF4-FFF2-40B4-BE49-F238E27FC236}">
                <a16:creationId xmlns:a16="http://schemas.microsoft.com/office/drawing/2014/main" id="{2FD2A4BB-856F-3B8E-547A-EDF0E795FE3A}"/>
              </a:ext>
            </a:extLst>
          </p:cNvPr>
          <p:cNvSpPr/>
          <p:nvPr/>
        </p:nvSpPr>
        <p:spPr>
          <a:xfrm>
            <a:off x="3930729" y="2091631"/>
            <a:ext cx="8663317" cy="1078111"/>
          </a:xfrm>
          <a:prstGeom prst="roundRect">
            <a:avLst>
              <a:gd name="adj" fmla="val 10178"/>
            </a:avLst>
          </a:prstGeom>
          <a:solidFill>
            <a:srgbClr val="123332"/>
          </a:solidFill>
          <a:ln w="22860">
            <a:solidFill>
              <a:srgbClr val="4A6B6A"/>
            </a:solidFill>
            <a:prstDash val="solid"/>
          </a:ln>
        </p:spPr>
        <p:txBody>
          <a:bodyPr/>
          <a:lstStyle/>
          <a:p>
            <a:endParaRPr lang="en-US" dirty="0"/>
          </a:p>
        </p:txBody>
      </p:sp>
      <p:sp>
        <p:nvSpPr>
          <p:cNvPr id="38" name="Shape 2">
            <a:extLst>
              <a:ext uri="{FF2B5EF4-FFF2-40B4-BE49-F238E27FC236}">
                <a16:creationId xmlns:a16="http://schemas.microsoft.com/office/drawing/2014/main" id="{7F482EC3-12D6-8150-CA03-85D91DC3B8CF}"/>
              </a:ext>
            </a:extLst>
          </p:cNvPr>
          <p:cNvSpPr/>
          <p:nvPr/>
        </p:nvSpPr>
        <p:spPr>
          <a:xfrm>
            <a:off x="3907870" y="2091631"/>
            <a:ext cx="91440" cy="1078111"/>
          </a:xfrm>
          <a:prstGeom prst="roundRect">
            <a:avLst>
              <a:gd name="adj" fmla="val 29874"/>
            </a:avLst>
          </a:prstGeom>
          <a:solidFill>
            <a:srgbClr val="EF9C82"/>
          </a:solidFill>
          <a:ln/>
        </p:spPr>
        <p:txBody>
          <a:bodyPr/>
          <a:lstStyle/>
          <a:p>
            <a:endParaRPr lang="en-US"/>
          </a:p>
        </p:txBody>
      </p:sp>
      <p:sp>
        <p:nvSpPr>
          <p:cNvPr id="39" name="Text 3">
            <a:extLst>
              <a:ext uri="{FF2B5EF4-FFF2-40B4-BE49-F238E27FC236}">
                <a16:creationId xmlns:a16="http://schemas.microsoft.com/office/drawing/2014/main" id="{4B677C07-8C0E-2524-5C45-606B5E6E9253}"/>
              </a:ext>
            </a:extLst>
          </p:cNvPr>
          <p:cNvSpPr/>
          <p:nvPr/>
        </p:nvSpPr>
        <p:spPr>
          <a:xfrm>
            <a:off x="4204216" y="2267510"/>
            <a:ext cx="2573179" cy="267653"/>
          </a:xfrm>
          <a:prstGeom prst="rect">
            <a:avLst/>
          </a:prstGeom>
          <a:noFill/>
          <a:ln/>
        </p:spPr>
        <p:txBody>
          <a:bodyPr wrap="none" lIns="0" tIns="0" rIns="0" bIns="0" rtlCol="0" anchor="t"/>
          <a:lstStyle/>
          <a:p>
            <a:pPr marL="0" indent="0" algn="l">
              <a:lnSpc>
                <a:spcPts val="2100"/>
              </a:lnSpc>
              <a:buNone/>
            </a:pPr>
            <a:r>
              <a:rPr lang="en-US" b="1" u="sng"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Brand Positioning</a:t>
            </a:r>
            <a:endParaRPr lang="en-US" b="1" u="sng" dirty="0">
              <a:effectLst>
                <a:outerShdw blurRad="38100" dist="38100" dir="2700000" algn="tl">
                  <a:srgbClr val="000000">
                    <a:alpha val="43137"/>
                  </a:srgbClr>
                </a:outerShdw>
              </a:effectLst>
              <a:latin typeface="Aptos" panose="020B0004020202020204" pitchFamily="34" charset="0"/>
            </a:endParaRPr>
          </a:p>
        </p:txBody>
      </p:sp>
      <p:sp>
        <p:nvSpPr>
          <p:cNvPr id="40" name="Text 4">
            <a:extLst>
              <a:ext uri="{FF2B5EF4-FFF2-40B4-BE49-F238E27FC236}">
                <a16:creationId xmlns:a16="http://schemas.microsoft.com/office/drawing/2014/main" id="{1B2B5A05-FA0C-15CE-69BB-D666B25CE669}"/>
              </a:ext>
            </a:extLst>
          </p:cNvPr>
          <p:cNvSpPr/>
          <p:nvPr/>
        </p:nvSpPr>
        <p:spPr>
          <a:xfrm>
            <a:off x="4204216" y="2644343"/>
            <a:ext cx="6108383" cy="291465"/>
          </a:xfrm>
          <a:prstGeom prst="rect">
            <a:avLst/>
          </a:prstGeom>
          <a:noFill/>
          <a:ln/>
        </p:spPr>
        <p:txBody>
          <a:bodyPr wrap="none" lIns="0" tIns="0" rIns="0" bIns="0" rtlCol="0" anchor="t"/>
          <a:lstStyle/>
          <a:p>
            <a:pPr marL="0" indent="0" algn="l">
              <a:lnSpc>
                <a:spcPts val="2250"/>
              </a:lnSpc>
              <a:buNone/>
            </a:pPr>
            <a:r>
              <a:rPr lang="en-US" sz="1600" b="1" dirty="0">
                <a:solidFill>
                  <a:srgbClr val="F9EEE7"/>
                </a:solidFill>
                <a:latin typeface="Aptos" panose="020B0004020202020204" pitchFamily="34" charset="0"/>
                <a:ea typeface="Quattrocento" pitchFamily="34" charset="-122"/>
                <a:cs typeface="Quattrocento" pitchFamily="34" charset="-120"/>
              </a:rPr>
              <a:t>HPS Cairo – The most trusted partner for dairy testing and maintenance solutions in Egypt</a:t>
            </a:r>
            <a:endParaRPr lang="en-US" sz="1600" b="1" dirty="0">
              <a:latin typeface="Aptos" panose="020B0004020202020204" pitchFamily="34" charset="0"/>
            </a:endParaRPr>
          </a:p>
        </p:txBody>
      </p:sp>
      <p:sp>
        <p:nvSpPr>
          <p:cNvPr id="41" name="Text 3">
            <a:extLst>
              <a:ext uri="{FF2B5EF4-FFF2-40B4-BE49-F238E27FC236}">
                <a16:creationId xmlns:a16="http://schemas.microsoft.com/office/drawing/2014/main" id="{E00091D1-E4BE-9BB0-5089-F833E81209A1}"/>
              </a:ext>
            </a:extLst>
          </p:cNvPr>
          <p:cNvSpPr/>
          <p:nvPr/>
        </p:nvSpPr>
        <p:spPr>
          <a:xfrm>
            <a:off x="591513" y="3666297"/>
            <a:ext cx="2573179" cy="267653"/>
          </a:xfrm>
          <a:prstGeom prst="rect">
            <a:avLst/>
          </a:prstGeom>
          <a:noFill/>
          <a:ln/>
        </p:spPr>
        <p:txBody>
          <a:bodyPr wrap="none" lIns="0" tIns="0" rIns="0" bIns="0" rtlCol="0" anchor="t"/>
          <a:lstStyle/>
          <a:p>
            <a:pPr marL="0" indent="0" algn="l">
              <a:lnSpc>
                <a:spcPts val="2100"/>
              </a:lnSpc>
              <a:buNone/>
            </a:pPr>
            <a:r>
              <a:rPr lang="en-US" sz="4400" b="1" u="sng"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Key Pillars:-</a:t>
            </a:r>
            <a:endParaRPr lang="en-US" sz="4400" b="1" u="sng" dirty="0">
              <a:effectLst>
                <a:outerShdw blurRad="38100" dist="38100" dir="2700000" algn="tl">
                  <a:srgbClr val="000000">
                    <a:alpha val="43137"/>
                  </a:srgbClr>
                </a:outerShdw>
              </a:effectLst>
              <a:latin typeface="Aptos" panose="020B00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1B632BE3-B639-042A-83DE-AF1153778D6B}"/>
              </a:ext>
            </a:extLst>
          </p:cNvPr>
          <p:cNvPicPr>
            <a:picLocks noChangeAspect="1"/>
          </p:cNvPicPr>
          <p:nvPr/>
        </p:nvPicPr>
        <p:blipFill>
          <a:blip r:embed="rId3"/>
          <a:stretch>
            <a:fillRect/>
          </a:stretch>
        </p:blipFill>
        <p:spPr>
          <a:xfrm>
            <a:off x="0" y="-194907"/>
            <a:ext cx="7376930" cy="1998227"/>
          </a:xfrm>
          <a:prstGeom prst="rect">
            <a:avLst/>
          </a:prstGeom>
        </p:spPr>
      </p:pic>
      <p:sp>
        <p:nvSpPr>
          <p:cNvPr id="34" name="Text 0">
            <a:extLst>
              <a:ext uri="{FF2B5EF4-FFF2-40B4-BE49-F238E27FC236}">
                <a16:creationId xmlns:a16="http://schemas.microsoft.com/office/drawing/2014/main" id="{9045562F-01B8-9617-D57D-F738A0F1148A}"/>
              </a:ext>
            </a:extLst>
          </p:cNvPr>
          <p:cNvSpPr/>
          <p:nvPr/>
        </p:nvSpPr>
        <p:spPr>
          <a:xfrm>
            <a:off x="209896" y="632460"/>
            <a:ext cx="5411986" cy="676513"/>
          </a:xfrm>
          <a:prstGeom prst="rect">
            <a:avLst/>
          </a:prstGeom>
          <a:noFill/>
          <a:ln/>
        </p:spPr>
        <p:txBody>
          <a:bodyPr wrap="none" lIns="0" tIns="0" rIns="0" bIns="0" rtlCol="0" anchor="t"/>
          <a:lstStyle/>
          <a:p>
            <a:pPr marL="0" indent="0" algn="l">
              <a:lnSpc>
                <a:spcPts val="5300"/>
              </a:lnSpc>
              <a:buNone/>
            </a:pPr>
            <a:endParaRPr lang="en-US" sz="7200" b="1" dirty="0">
              <a:solidFill>
                <a:schemeClr val="accent4">
                  <a:lumMod val="20000"/>
                  <a:lumOff val="80000"/>
                </a:schemeClr>
              </a:solidFill>
              <a:effectLst>
                <a:outerShdw blurRad="38100" dist="38100" dir="2700000" algn="tl">
                  <a:srgbClr val="000000">
                    <a:alpha val="43137"/>
                  </a:srgbClr>
                </a:outerShdw>
              </a:effectLst>
            </a:endParaRPr>
          </a:p>
        </p:txBody>
      </p:sp>
      <p:sp>
        <p:nvSpPr>
          <p:cNvPr id="35" name="Text 0">
            <a:extLst>
              <a:ext uri="{FF2B5EF4-FFF2-40B4-BE49-F238E27FC236}">
                <a16:creationId xmlns:a16="http://schemas.microsoft.com/office/drawing/2014/main" id="{C59FE040-C45F-7C0E-7E84-FF53C96A5F27}"/>
              </a:ext>
            </a:extLst>
          </p:cNvPr>
          <p:cNvSpPr/>
          <p:nvPr/>
        </p:nvSpPr>
        <p:spPr>
          <a:xfrm>
            <a:off x="115553" y="552635"/>
            <a:ext cx="5411986" cy="676513"/>
          </a:xfrm>
          <a:prstGeom prst="rect">
            <a:avLst/>
          </a:prstGeom>
          <a:noFill/>
          <a:ln/>
        </p:spPr>
        <p:txBody>
          <a:bodyPr wrap="none" lIns="0" tIns="0" rIns="0" bIns="0" rtlCol="0" anchor="t"/>
          <a:lstStyle/>
          <a:p>
            <a:pPr marL="0" indent="0" algn="ctr">
              <a:lnSpc>
                <a:spcPts val="5300"/>
              </a:lnSpc>
              <a:buNone/>
            </a:pPr>
            <a:r>
              <a:rPr lang="en-US" sz="96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Strategy</a:t>
            </a:r>
            <a:endParaRPr lang="en-US" sz="9600" b="1" dirty="0">
              <a:solidFill>
                <a:schemeClr val="accent4">
                  <a:lumMod val="20000"/>
                  <a:lumOff val="80000"/>
                </a:schemeClr>
              </a:solidFill>
              <a:effectLst>
                <a:outerShdw blurRad="38100" dist="38100" dir="2700000" algn="tl">
                  <a:srgbClr val="000000">
                    <a:alpha val="43137"/>
                  </a:srgbClr>
                </a:outerShdw>
              </a:effectLst>
            </a:endParaRPr>
          </a:p>
        </p:txBody>
      </p:sp>
      <p:sp>
        <p:nvSpPr>
          <p:cNvPr id="2" name="Shape 1">
            <a:extLst>
              <a:ext uri="{FF2B5EF4-FFF2-40B4-BE49-F238E27FC236}">
                <a16:creationId xmlns:a16="http://schemas.microsoft.com/office/drawing/2014/main" id="{11255CC4-F53A-7F09-205F-D798E55CBB10}"/>
              </a:ext>
            </a:extLst>
          </p:cNvPr>
          <p:cNvSpPr/>
          <p:nvPr/>
        </p:nvSpPr>
        <p:spPr>
          <a:xfrm>
            <a:off x="172887" y="3505100"/>
            <a:ext cx="7006521" cy="1078111"/>
          </a:xfrm>
          <a:prstGeom prst="roundRect">
            <a:avLst>
              <a:gd name="adj" fmla="val 10178"/>
            </a:avLst>
          </a:prstGeom>
          <a:solidFill>
            <a:srgbClr val="123332"/>
          </a:solidFill>
          <a:ln w="22860">
            <a:solidFill>
              <a:srgbClr val="4A6B6A"/>
            </a:solidFill>
            <a:prstDash val="solid"/>
          </a:ln>
        </p:spPr>
        <p:txBody>
          <a:bodyPr/>
          <a:lstStyle/>
          <a:p>
            <a:endParaRPr lang="en-US" sz="1600" dirty="0"/>
          </a:p>
        </p:txBody>
      </p:sp>
      <p:sp>
        <p:nvSpPr>
          <p:cNvPr id="27" name="Shape 2">
            <a:extLst>
              <a:ext uri="{FF2B5EF4-FFF2-40B4-BE49-F238E27FC236}">
                <a16:creationId xmlns:a16="http://schemas.microsoft.com/office/drawing/2014/main" id="{A5A5403A-2B2B-BA39-F7D1-8C3D1F089C87}"/>
              </a:ext>
            </a:extLst>
          </p:cNvPr>
          <p:cNvSpPr/>
          <p:nvPr/>
        </p:nvSpPr>
        <p:spPr>
          <a:xfrm>
            <a:off x="150027" y="3505100"/>
            <a:ext cx="97267" cy="1078111"/>
          </a:xfrm>
          <a:prstGeom prst="roundRect">
            <a:avLst>
              <a:gd name="adj" fmla="val 29874"/>
            </a:avLst>
          </a:prstGeom>
          <a:solidFill>
            <a:srgbClr val="EF9C82"/>
          </a:solidFill>
          <a:ln/>
        </p:spPr>
        <p:txBody>
          <a:bodyPr/>
          <a:lstStyle/>
          <a:p>
            <a:endParaRPr lang="en-US"/>
          </a:p>
        </p:txBody>
      </p:sp>
      <p:sp>
        <p:nvSpPr>
          <p:cNvPr id="28" name="Text 3">
            <a:extLst>
              <a:ext uri="{FF2B5EF4-FFF2-40B4-BE49-F238E27FC236}">
                <a16:creationId xmlns:a16="http://schemas.microsoft.com/office/drawing/2014/main" id="{93641541-A75D-CAC7-867A-F6298DCF49FA}"/>
              </a:ext>
            </a:extLst>
          </p:cNvPr>
          <p:cNvSpPr/>
          <p:nvPr/>
        </p:nvSpPr>
        <p:spPr>
          <a:xfrm>
            <a:off x="446374" y="3680979"/>
            <a:ext cx="2737156" cy="267653"/>
          </a:xfrm>
          <a:prstGeom prst="rect">
            <a:avLst/>
          </a:prstGeom>
          <a:noFill/>
          <a:ln/>
        </p:spPr>
        <p:txBody>
          <a:bodyPr wrap="none" lIns="0" tIns="0" rIns="0" bIns="0" rtlCol="0" anchor="t"/>
          <a:lstStyle/>
          <a:p>
            <a:pPr marL="0" indent="0" algn="l">
              <a:lnSpc>
                <a:spcPts val="2100"/>
              </a:lnSpc>
              <a:buNone/>
            </a:pPr>
            <a:r>
              <a:rPr lang="en-US" sz="24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Phase 1</a:t>
            </a:r>
            <a:endParaRPr lang="en-US" sz="2400" b="1" dirty="0">
              <a:effectLst>
                <a:outerShdw blurRad="38100" dist="38100" dir="2700000" algn="tl">
                  <a:srgbClr val="000000">
                    <a:alpha val="43137"/>
                  </a:srgbClr>
                </a:outerShdw>
              </a:effectLst>
              <a:latin typeface="Aptos" panose="020B0004020202020204" pitchFamily="34" charset="0"/>
            </a:endParaRPr>
          </a:p>
        </p:txBody>
      </p:sp>
      <p:sp>
        <p:nvSpPr>
          <p:cNvPr id="29" name="Text 4">
            <a:extLst>
              <a:ext uri="{FF2B5EF4-FFF2-40B4-BE49-F238E27FC236}">
                <a16:creationId xmlns:a16="http://schemas.microsoft.com/office/drawing/2014/main" id="{D884464E-8BB8-59FF-5BD9-6BCEF7448821}"/>
              </a:ext>
            </a:extLst>
          </p:cNvPr>
          <p:cNvSpPr/>
          <p:nvPr/>
        </p:nvSpPr>
        <p:spPr>
          <a:xfrm>
            <a:off x="446374" y="4057812"/>
            <a:ext cx="6497643" cy="291465"/>
          </a:xfrm>
          <a:prstGeom prst="rect">
            <a:avLst/>
          </a:prstGeom>
          <a:noFill/>
          <a:ln/>
        </p:spPr>
        <p:txBody>
          <a:bodyPr wrap="none" lIns="0" tIns="0" rIns="0" bIns="0" rtlCol="0" anchor="t"/>
          <a:lstStyle/>
          <a:p>
            <a:pPr marL="0" indent="0" algn="l">
              <a:lnSpc>
                <a:spcPts val="2250"/>
              </a:lnSpc>
              <a:buNone/>
            </a:pPr>
            <a:r>
              <a:rPr lang="en-US" sz="1400" b="1" dirty="0">
                <a:solidFill>
                  <a:schemeClr val="bg1">
                    <a:lumMod val="95000"/>
                  </a:schemeClr>
                </a:solidFill>
                <a:latin typeface="Aptos" panose="020B0004020202020204" pitchFamily="34" charset="0"/>
                <a:ea typeface="Quattrocento" pitchFamily="34" charset="-122"/>
                <a:cs typeface="Quattrocento" pitchFamily="34" charset="-120"/>
              </a:rPr>
              <a:t>Awareness – Introduce HPS Cairo &amp; Product lineup</a:t>
            </a:r>
            <a:endParaRPr lang="en-US" sz="1400" b="1" dirty="0">
              <a:solidFill>
                <a:schemeClr val="bg1">
                  <a:lumMod val="95000"/>
                </a:schemeClr>
              </a:solidFill>
              <a:latin typeface="Aptos" panose="020B0004020202020204" pitchFamily="34" charset="0"/>
            </a:endParaRPr>
          </a:p>
        </p:txBody>
      </p:sp>
      <p:sp>
        <p:nvSpPr>
          <p:cNvPr id="30" name="Shape 5">
            <a:extLst>
              <a:ext uri="{FF2B5EF4-FFF2-40B4-BE49-F238E27FC236}">
                <a16:creationId xmlns:a16="http://schemas.microsoft.com/office/drawing/2014/main" id="{00968251-C2D1-9714-0774-AE0B4A9F6D0C}"/>
              </a:ext>
            </a:extLst>
          </p:cNvPr>
          <p:cNvSpPr/>
          <p:nvPr/>
        </p:nvSpPr>
        <p:spPr>
          <a:xfrm>
            <a:off x="7464224" y="3505100"/>
            <a:ext cx="7006522"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31" name="Shape 6">
            <a:extLst>
              <a:ext uri="{FF2B5EF4-FFF2-40B4-BE49-F238E27FC236}">
                <a16:creationId xmlns:a16="http://schemas.microsoft.com/office/drawing/2014/main" id="{B433479C-77DF-D592-7785-C2AEA9684689}"/>
              </a:ext>
            </a:extLst>
          </p:cNvPr>
          <p:cNvSpPr/>
          <p:nvPr/>
        </p:nvSpPr>
        <p:spPr>
          <a:xfrm>
            <a:off x="7441363" y="3505100"/>
            <a:ext cx="97265" cy="1078111"/>
          </a:xfrm>
          <a:prstGeom prst="roundRect">
            <a:avLst>
              <a:gd name="adj" fmla="val 29874"/>
            </a:avLst>
          </a:prstGeom>
          <a:solidFill>
            <a:srgbClr val="EF9C82"/>
          </a:solidFill>
          <a:ln/>
        </p:spPr>
        <p:txBody>
          <a:bodyPr/>
          <a:lstStyle/>
          <a:p>
            <a:endParaRPr lang="en-US"/>
          </a:p>
        </p:txBody>
      </p:sp>
      <p:sp>
        <p:nvSpPr>
          <p:cNvPr id="32" name="Text 7">
            <a:extLst>
              <a:ext uri="{FF2B5EF4-FFF2-40B4-BE49-F238E27FC236}">
                <a16:creationId xmlns:a16="http://schemas.microsoft.com/office/drawing/2014/main" id="{131D8F0A-FB00-B497-F58D-7072050CF40B}"/>
              </a:ext>
            </a:extLst>
          </p:cNvPr>
          <p:cNvSpPr/>
          <p:nvPr/>
        </p:nvSpPr>
        <p:spPr>
          <a:xfrm>
            <a:off x="7737711" y="3680979"/>
            <a:ext cx="2278896" cy="267653"/>
          </a:xfrm>
          <a:prstGeom prst="rect">
            <a:avLst/>
          </a:prstGeom>
          <a:noFill/>
          <a:ln/>
        </p:spPr>
        <p:txBody>
          <a:bodyPr wrap="none" lIns="0" tIns="0" rIns="0" bIns="0" rtlCol="0" anchor="t"/>
          <a:lstStyle/>
          <a:p>
            <a:pPr marL="0" indent="0" algn="l">
              <a:lnSpc>
                <a:spcPts val="2100"/>
              </a:lnSpc>
              <a:buNone/>
            </a:pPr>
            <a:r>
              <a:rPr lang="en-US" sz="24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Phase 2</a:t>
            </a:r>
            <a:endParaRPr lang="en-US" sz="2400" b="1" dirty="0">
              <a:effectLst>
                <a:outerShdw blurRad="38100" dist="38100" dir="2700000" algn="tl">
                  <a:srgbClr val="000000">
                    <a:alpha val="43137"/>
                  </a:srgbClr>
                </a:outerShdw>
              </a:effectLst>
              <a:latin typeface="Aptos" panose="020B0004020202020204" pitchFamily="34" charset="0"/>
            </a:endParaRPr>
          </a:p>
        </p:txBody>
      </p:sp>
      <p:sp>
        <p:nvSpPr>
          <p:cNvPr id="42" name="Text 8">
            <a:extLst>
              <a:ext uri="{FF2B5EF4-FFF2-40B4-BE49-F238E27FC236}">
                <a16:creationId xmlns:a16="http://schemas.microsoft.com/office/drawing/2014/main" id="{4AD81283-2A8B-AF89-5CF4-251D1A18E02C}"/>
              </a:ext>
            </a:extLst>
          </p:cNvPr>
          <p:cNvSpPr/>
          <p:nvPr/>
        </p:nvSpPr>
        <p:spPr>
          <a:xfrm>
            <a:off x="7737710" y="4057812"/>
            <a:ext cx="6497652" cy="291465"/>
          </a:xfrm>
          <a:prstGeom prst="rect">
            <a:avLst/>
          </a:prstGeom>
          <a:noFill/>
          <a:ln/>
        </p:spPr>
        <p:txBody>
          <a:bodyPr wrap="none" lIns="0" tIns="0" rIns="0" bIns="0" rtlCol="0" anchor="t"/>
          <a:lstStyle/>
          <a:p>
            <a:pPr marL="0" indent="0" algn="l">
              <a:lnSpc>
                <a:spcPts val="2250"/>
              </a:lnSpc>
              <a:buNone/>
            </a:pPr>
            <a:r>
              <a:rPr lang="en-US" sz="1400" b="1" dirty="0">
                <a:solidFill>
                  <a:schemeClr val="bg1">
                    <a:lumMod val="95000"/>
                  </a:schemeClr>
                </a:solidFill>
                <a:latin typeface="Aptos" panose="020B0004020202020204" pitchFamily="34" charset="0"/>
                <a:ea typeface="Quattrocento" pitchFamily="34" charset="-122"/>
                <a:cs typeface="Quattrocento" pitchFamily="34" charset="-120"/>
              </a:rPr>
              <a:t>Consideration – Compare </a:t>
            </a:r>
            <a:r>
              <a:rPr lang="en-US" sz="1400" b="1" dirty="0" err="1">
                <a:solidFill>
                  <a:schemeClr val="bg1">
                    <a:lumMod val="95000"/>
                  </a:schemeClr>
                </a:solidFill>
                <a:latin typeface="Aptos" panose="020B0004020202020204" pitchFamily="34" charset="0"/>
                <a:ea typeface="Quattrocento" pitchFamily="34" charset="-122"/>
                <a:cs typeface="Quattrocento" pitchFamily="34" charset="-120"/>
              </a:rPr>
              <a:t>eko</a:t>
            </a:r>
            <a:r>
              <a:rPr lang="en-US" sz="1400" b="1" dirty="0">
                <a:solidFill>
                  <a:schemeClr val="bg1">
                    <a:lumMod val="95000"/>
                  </a:schemeClr>
                </a:solidFill>
                <a:latin typeface="Aptos" panose="020B0004020202020204" pitchFamily="34" charset="0"/>
                <a:ea typeface="Quattrocento" pitchFamily="34" charset="-122"/>
                <a:cs typeface="Quattrocento" pitchFamily="34" charset="-120"/>
              </a:rPr>
              <a:t>+ Vs imported devices, show results accuracy</a:t>
            </a:r>
            <a:endParaRPr lang="en-US" sz="1400" b="1" dirty="0">
              <a:solidFill>
                <a:schemeClr val="bg1">
                  <a:lumMod val="95000"/>
                </a:schemeClr>
              </a:solidFill>
              <a:latin typeface="Aptos" panose="020B0004020202020204" pitchFamily="34" charset="0"/>
            </a:endParaRPr>
          </a:p>
        </p:txBody>
      </p:sp>
      <p:sp>
        <p:nvSpPr>
          <p:cNvPr id="43" name="Shape 9">
            <a:extLst>
              <a:ext uri="{FF2B5EF4-FFF2-40B4-BE49-F238E27FC236}">
                <a16:creationId xmlns:a16="http://schemas.microsoft.com/office/drawing/2014/main" id="{7A92BBB8-76C0-D514-9931-FBF628CBB716}"/>
              </a:ext>
            </a:extLst>
          </p:cNvPr>
          <p:cNvSpPr/>
          <p:nvPr/>
        </p:nvSpPr>
        <p:spPr>
          <a:xfrm>
            <a:off x="172887" y="5549030"/>
            <a:ext cx="7006521"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44" name="Shape 10">
            <a:extLst>
              <a:ext uri="{FF2B5EF4-FFF2-40B4-BE49-F238E27FC236}">
                <a16:creationId xmlns:a16="http://schemas.microsoft.com/office/drawing/2014/main" id="{54695C7C-479E-D56B-1E87-7E3C80A6C707}"/>
              </a:ext>
            </a:extLst>
          </p:cNvPr>
          <p:cNvSpPr/>
          <p:nvPr/>
        </p:nvSpPr>
        <p:spPr>
          <a:xfrm>
            <a:off x="150027" y="5549030"/>
            <a:ext cx="97267" cy="1078111"/>
          </a:xfrm>
          <a:prstGeom prst="roundRect">
            <a:avLst>
              <a:gd name="adj" fmla="val 29874"/>
            </a:avLst>
          </a:prstGeom>
          <a:solidFill>
            <a:srgbClr val="EF9C82"/>
          </a:solidFill>
          <a:ln/>
        </p:spPr>
        <p:txBody>
          <a:bodyPr/>
          <a:lstStyle/>
          <a:p>
            <a:endParaRPr lang="en-US"/>
          </a:p>
        </p:txBody>
      </p:sp>
      <p:sp>
        <p:nvSpPr>
          <p:cNvPr id="45" name="Text 11">
            <a:extLst>
              <a:ext uri="{FF2B5EF4-FFF2-40B4-BE49-F238E27FC236}">
                <a16:creationId xmlns:a16="http://schemas.microsoft.com/office/drawing/2014/main" id="{42A4EA55-40C8-8E52-EF5A-F05D258A0BA3}"/>
              </a:ext>
            </a:extLst>
          </p:cNvPr>
          <p:cNvSpPr/>
          <p:nvPr/>
        </p:nvSpPr>
        <p:spPr>
          <a:xfrm>
            <a:off x="446374" y="5753936"/>
            <a:ext cx="2278937" cy="267653"/>
          </a:xfrm>
          <a:prstGeom prst="rect">
            <a:avLst/>
          </a:prstGeom>
          <a:noFill/>
          <a:ln/>
        </p:spPr>
        <p:txBody>
          <a:bodyPr wrap="none" lIns="0" tIns="0" rIns="0" bIns="0" rtlCol="0" anchor="t"/>
          <a:lstStyle/>
          <a:p>
            <a:pPr marL="0" indent="0" algn="l">
              <a:lnSpc>
                <a:spcPts val="2100"/>
              </a:lnSpc>
              <a:buNone/>
            </a:pPr>
            <a:r>
              <a:rPr lang="en-US" sz="24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Phase 3</a:t>
            </a:r>
            <a:endParaRPr lang="en-US" sz="2400" b="1" dirty="0">
              <a:effectLst>
                <a:outerShdw blurRad="38100" dist="38100" dir="2700000" algn="tl">
                  <a:srgbClr val="000000">
                    <a:alpha val="43137"/>
                  </a:srgbClr>
                </a:outerShdw>
              </a:effectLst>
              <a:latin typeface="Aptos" panose="020B0004020202020204" pitchFamily="34" charset="0"/>
            </a:endParaRPr>
          </a:p>
        </p:txBody>
      </p:sp>
      <p:sp>
        <p:nvSpPr>
          <p:cNvPr id="46" name="Text 12">
            <a:extLst>
              <a:ext uri="{FF2B5EF4-FFF2-40B4-BE49-F238E27FC236}">
                <a16:creationId xmlns:a16="http://schemas.microsoft.com/office/drawing/2014/main" id="{D26BF89D-273F-4AEC-5EBA-D1E65DAF923C}"/>
              </a:ext>
            </a:extLst>
          </p:cNvPr>
          <p:cNvSpPr/>
          <p:nvPr/>
        </p:nvSpPr>
        <p:spPr>
          <a:xfrm>
            <a:off x="446374" y="6130769"/>
            <a:ext cx="6497643" cy="291465"/>
          </a:xfrm>
          <a:prstGeom prst="rect">
            <a:avLst/>
          </a:prstGeom>
          <a:noFill/>
          <a:ln/>
        </p:spPr>
        <p:txBody>
          <a:bodyPr wrap="none" lIns="0" tIns="0" rIns="0" bIns="0" rtlCol="0" anchor="t"/>
          <a:lstStyle/>
          <a:p>
            <a:pPr marL="0" indent="0" algn="l">
              <a:lnSpc>
                <a:spcPts val="2250"/>
              </a:lnSpc>
              <a:buNone/>
            </a:pPr>
            <a:r>
              <a:rPr lang="en-US" sz="1400" b="1" dirty="0">
                <a:solidFill>
                  <a:schemeClr val="bg1">
                    <a:lumMod val="95000"/>
                  </a:schemeClr>
                </a:solidFill>
                <a:latin typeface="Aptos" panose="020B0004020202020204" pitchFamily="34" charset="0"/>
                <a:ea typeface="Quattrocento" pitchFamily="34" charset="-122"/>
                <a:cs typeface="Quattrocento" pitchFamily="34" charset="-120"/>
              </a:rPr>
              <a:t>Conversion – Promote offers, maintenance benefits, and free consolations.</a:t>
            </a:r>
            <a:endParaRPr lang="en-US" sz="1400" b="1" dirty="0">
              <a:solidFill>
                <a:schemeClr val="bg1">
                  <a:lumMod val="95000"/>
                </a:schemeClr>
              </a:solidFill>
              <a:latin typeface="Aptos" panose="020B0004020202020204" pitchFamily="34" charset="0"/>
            </a:endParaRPr>
          </a:p>
        </p:txBody>
      </p:sp>
      <p:sp>
        <p:nvSpPr>
          <p:cNvPr id="47" name="Shape 13">
            <a:extLst>
              <a:ext uri="{FF2B5EF4-FFF2-40B4-BE49-F238E27FC236}">
                <a16:creationId xmlns:a16="http://schemas.microsoft.com/office/drawing/2014/main" id="{3BA04B55-9AEA-431A-FB27-4B90C18C7522}"/>
              </a:ext>
            </a:extLst>
          </p:cNvPr>
          <p:cNvSpPr/>
          <p:nvPr/>
        </p:nvSpPr>
        <p:spPr>
          <a:xfrm>
            <a:off x="7464224" y="5563550"/>
            <a:ext cx="7006522" cy="1078111"/>
          </a:xfrm>
          <a:prstGeom prst="roundRect">
            <a:avLst>
              <a:gd name="adj" fmla="val 10178"/>
            </a:avLst>
          </a:prstGeom>
          <a:solidFill>
            <a:srgbClr val="123332"/>
          </a:solidFill>
          <a:ln w="22860">
            <a:solidFill>
              <a:srgbClr val="4A6B6A"/>
            </a:solidFill>
            <a:prstDash val="solid"/>
          </a:ln>
        </p:spPr>
        <p:txBody>
          <a:bodyPr/>
          <a:lstStyle/>
          <a:p>
            <a:endParaRPr lang="en-US"/>
          </a:p>
        </p:txBody>
      </p:sp>
      <p:sp>
        <p:nvSpPr>
          <p:cNvPr id="48" name="Shape 14">
            <a:extLst>
              <a:ext uri="{FF2B5EF4-FFF2-40B4-BE49-F238E27FC236}">
                <a16:creationId xmlns:a16="http://schemas.microsoft.com/office/drawing/2014/main" id="{E543FDC5-BEF8-CD43-4511-18E12FCDAD3C}"/>
              </a:ext>
            </a:extLst>
          </p:cNvPr>
          <p:cNvSpPr/>
          <p:nvPr/>
        </p:nvSpPr>
        <p:spPr>
          <a:xfrm>
            <a:off x="7441363" y="5563544"/>
            <a:ext cx="97265" cy="1078111"/>
          </a:xfrm>
          <a:prstGeom prst="roundRect">
            <a:avLst>
              <a:gd name="adj" fmla="val 29874"/>
            </a:avLst>
          </a:prstGeom>
          <a:solidFill>
            <a:srgbClr val="EF9C82"/>
          </a:solidFill>
          <a:ln/>
        </p:spPr>
        <p:txBody>
          <a:bodyPr/>
          <a:lstStyle/>
          <a:p>
            <a:endParaRPr lang="en-US"/>
          </a:p>
        </p:txBody>
      </p:sp>
      <p:sp>
        <p:nvSpPr>
          <p:cNvPr id="49" name="Text 15">
            <a:extLst>
              <a:ext uri="{FF2B5EF4-FFF2-40B4-BE49-F238E27FC236}">
                <a16:creationId xmlns:a16="http://schemas.microsoft.com/office/drawing/2014/main" id="{17B68BD8-C9F5-46EF-751E-FADBA113643E}"/>
              </a:ext>
            </a:extLst>
          </p:cNvPr>
          <p:cNvSpPr/>
          <p:nvPr/>
        </p:nvSpPr>
        <p:spPr>
          <a:xfrm>
            <a:off x="7737711" y="5768456"/>
            <a:ext cx="2278896" cy="267653"/>
          </a:xfrm>
          <a:prstGeom prst="rect">
            <a:avLst/>
          </a:prstGeom>
          <a:noFill/>
          <a:ln/>
        </p:spPr>
        <p:txBody>
          <a:bodyPr wrap="none" lIns="0" tIns="0" rIns="0" bIns="0" rtlCol="0" anchor="t"/>
          <a:lstStyle/>
          <a:p>
            <a:pPr marL="0" indent="0" algn="l">
              <a:lnSpc>
                <a:spcPts val="2100"/>
              </a:lnSpc>
              <a:buNone/>
            </a:pPr>
            <a:r>
              <a:rPr lang="en-US" sz="24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Phase 4</a:t>
            </a:r>
            <a:endParaRPr lang="en-US" sz="2400" b="1" dirty="0">
              <a:effectLst>
                <a:outerShdw blurRad="38100" dist="38100" dir="2700000" algn="tl">
                  <a:srgbClr val="000000">
                    <a:alpha val="43137"/>
                  </a:srgbClr>
                </a:outerShdw>
              </a:effectLst>
              <a:latin typeface="Aptos" panose="020B0004020202020204" pitchFamily="34" charset="0"/>
            </a:endParaRPr>
          </a:p>
        </p:txBody>
      </p:sp>
      <p:sp>
        <p:nvSpPr>
          <p:cNvPr id="50" name="Text 16">
            <a:extLst>
              <a:ext uri="{FF2B5EF4-FFF2-40B4-BE49-F238E27FC236}">
                <a16:creationId xmlns:a16="http://schemas.microsoft.com/office/drawing/2014/main" id="{8E22D3FE-AA87-A770-3617-4C965442E6FA}"/>
              </a:ext>
            </a:extLst>
          </p:cNvPr>
          <p:cNvSpPr/>
          <p:nvPr/>
        </p:nvSpPr>
        <p:spPr>
          <a:xfrm>
            <a:off x="7737710" y="6145289"/>
            <a:ext cx="6497652" cy="291465"/>
          </a:xfrm>
          <a:prstGeom prst="rect">
            <a:avLst/>
          </a:prstGeom>
          <a:noFill/>
          <a:ln/>
        </p:spPr>
        <p:txBody>
          <a:bodyPr wrap="none" lIns="0" tIns="0" rIns="0" bIns="0" rtlCol="0" anchor="t"/>
          <a:lstStyle/>
          <a:p>
            <a:pPr marL="0" indent="0" algn="l">
              <a:lnSpc>
                <a:spcPts val="2250"/>
              </a:lnSpc>
              <a:buNone/>
            </a:pPr>
            <a:r>
              <a:rPr lang="en-US" sz="1400" b="1" dirty="0">
                <a:solidFill>
                  <a:schemeClr val="bg1">
                    <a:lumMod val="95000"/>
                  </a:schemeClr>
                </a:solidFill>
                <a:latin typeface="Aptos" panose="020B0004020202020204" pitchFamily="34" charset="0"/>
                <a:ea typeface="Quattrocento" pitchFamily="34" charset="-122"/>
                <a:cs typeface="Quattrocento" pitchFamily="34" charset="-120"/>
              </a:rPr>
              <a:t>Retention – Client testimonials and follow-up service reminders</a:t>
            </a:r>
            <a:endParaRPr lang="en-US" sz="1400" b="1" dirty="0">
              <a:solidFill>
                <a:schemeClr val="bg1">
                  <a:lumMod val="95000"/>
                </a:schemeClr>
              </a:solidFill>
              <a:latin typeface="Aptos" panose="020B0004020202020204" pitchFamily="34" charset="0"/>
            </a:endParaRPr>
          </a:p>
        </p:txBody>
      </p:sp>
      <p:sp>
        <p:nvSpPr>
          <p:cNvPr id="51" name="Text 3">
            <a:extLst>
              <a:ext uri="{FF2B5EF4-FFF2-40B4-BE49-F238E27FC236}">
                <a16:creationId xmlns:a16="http://schemas.microsoft.com/office/drawing/2014/main" id="{79F696EE-E4EA-2ED7-2BCB-F48313ABFA91}"/>
              </a:ext>
            </a:extLst>
          </p:cNvPr>
          <p:cNvSpPr/>
          <p:nvPr/>
        </p:nvSpPr>
        <p:spPr>
          <a:xfrm>
            <a:off x="6028610" y="2701958"/>
            <a:ext cx="2573179" cy="267653"/>
          </a:xfrm>
          <a:prstGeom prst="rect">
            <a:avLst/>
          </a:prstGeom>
          <a:noFill/>
          <a:ln/>
        </p:spPr>
        <p:txBody>
          <a:bodyPr wrap="none" lIns="0" tIns="0" rIns="0" bIns="0" rtlCol="0" anchor="t"/>
          <a:lstStyle/>
          <a:p>
            <a:pPr marL="0" indent="0" algn="ctr">
              <a:lnSpc>
                <a:spcPts val="2100"/>
              </a:lnSpc>
              <a:buNone/>
            </a:pPr>
            <a:r>
              <a:rPr lang="en-US" sz="4400" b="1" dirty="0">
                <a:solidFill>
                  <a:srgbClr val="F9EEE7"/>
                </a:solidFill>
                <a:effectLst>
                  <a:outerShdw blurRad="38100" dist="38100" dir="2700000" algn="tl">
                    <a:srgbClr val="000000">
                      <a:alpha val="43137"/>
                    </a:srgbClr>
                  </a:outerShdw>
                </a:effectLst>
                <a:latin typeface="Aptos" panose="020B0004020202020204" pitchFamily="34" charset="0"/>
                <a:ea typeface="Quattrocento" pitchFamily="34" charset="-122"/>
                <a:cs typeface="Quattrocento" pitchFamily="34" charset="-120"/>
              </a:rPr>
              <a:t>Campaign Phase</a:t>
            </a:r>
            <a:endParaRPr lang="en-US" sz="4400" b="1" dirty="0">
              <a:effectLst>
                <a:outerShdw blurRad="38100" dist="38100" dir="2700000" algn="tl">
                  <a:srgbClr val="000000">
                    <a:alpha val="43137"/>
                  </a:srgbClr>
                </a:outerShdw>
              </a:effectLst>
              <a:latin typeface="Aptos" panose="020B0004020202020204" pitchFamily="34" charset="0"/>
            </a:endParaRPr>
          </a:p>
        </p:txBody>
      </p:sp>
      <p:sp>
        <p:nvSpPr>
          <p:cNvPr id="52" name="Freeform 10">
            <a:extLst>
              <a:ext uri="{FF2B5EF4-FFF2-40B4-BE49-F238E27FC236}">
                <a16:creationId xmlns:a16="http://schemas.microsoft.com/office/drawing/2014/main" id="{D43479C5-4972-56EC-C04C-9FA5F9DCC22C}"/>
              </a:ext>
            </a:extLst>
          </p:cNvPr>
          <p:cNvSpPr/>
          <p:nvPr/>
        </p:nvSpPr>
        <p:spPr>
          <a:xfrm>
            <a:off x="9533778" y="2476971"/>
            <a:ext cx="576565" cy="574468"/>
          </a:xfrm>
          <a:custGeom>
            <a:avLst/>
            <a:gdLst/>
            <a:ahLst/>
            <a:cxnLst/>
            <a:rect l="l" t="t" r="r" b="b"/>
            <a:pathLst>
              <a:path w="576565" h="574468">
                <a:moveTo>
                  <a:pt x="0" y="0"/>
                </a:moveTo>
                <a:lnTo>
                  <a:pt x="576565" y="0"/>
                </a:lnTo>
                <a:lnTo>
                  <a:pt x="576565" y="574469"/>
                </a:lnTo>
                <a:lnTo>
                  <a:pt x="0" y="5744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3" name="Freeform 11">
            <a:extLst>
              <a:ext uri="{FF2B5EF4-FFF2-40B4-BE49-F238E27FC236}">
                <a16:creationId xmlns:a16="http://schemas.microsoft.com/office/drawing/2014/main" id="{B4D3241B-93C5-9E14-0051-2F4EAAF9A334}"/>
              </a:ext>
            </a:extLst>
          </p:cNvPr>
          <p:cNvSpPr/>
          <p:nvPr/>
        </p:nvSpPr>
        <p:spPr>
          <a:xfrm>
            <a:off x="4532085" y="2436285"/>
            <a:ext cx="576565" cy="574468"/>
          </a:xfrm>
          <a:custGeom>
            <a:avLst/>
            <a:gdLst/>
            <a:ahLst/>
            <a:cxnLst/>
            <a:rect l="l" t="t" r="r" b="b"/>
            <a:pathLst>
              <a:path w="576565" h="574468">
                <a:moveTo>
                  <a:pt x="0" y="0"/>
                </a:moveTo>
                <a:lnTo>
                  <a:pt x="576565" y="0"/>
                </a:lnTo>
                <a:lnTo>
                  <a:pt x="576565" y="574469"/>
                </a:lnTo>
                <a:lnTo>
                  <a:pt x="0" y="5744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Rectangle 2">
            <a:extLst>
              <a:ext uri="{FF2B5EF4-FFF2-40B4-BE49-F238E27FC236}">
                <a16:creationId xmlns:a16="http://schemas.microsoft.com/office/drawing/2014/main" id="{7E6A8442-526B-E444-7B1B-5A981A9FACFE}"/>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1580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3332"/>
        </a:solidFill>
        <a:effectLst/>
      </p:bgPr>
    </p:bg>
    <p:spTree>
      <p:nvGrpSpPr>
        <p:cNvPr id="1" name="Shape 422"/>
        <p:cNvGrpSpPr/>
        <p:nvPr/>
      </p:nvGrpSpPr>
      <p:grpSpPr>
        <a:xfrm>
          <a:off x="0" y="0"/>
          <a:ext cx="0" cy="0"/>
          <a:chOff x="0" y="0"/>
          <a:chExt cx="0" cy="0"/>
        </a:xfrm>
      </p:grpSpPr>
      <p:grpSp>
        <p:nvGrpSpPr>
          <p:cNvPr id="424" name="Google Shape;424;p15"/>
          <p:cNvGrpSpPr/>
          <p:nvPr/>
        </p:nvGrpSpPr>
        <p:grpSpPr>
          <a:xfrm>
            <a:off x="-1633370" y="-396240"/>
            <a:ext cx="17129760" cy="9448800"/>
            <a:chOff x="-2209800" y="-495300"/>
            <a:chExt cx="21412200" cy="11811000"/>
          </a:xfrm>
        </p:grpSpPr>
        <p:sp>
          <p:nvSpPr>
            <p:cNvPr id="425" name="Google Shape;425;p15"/>
            <p:cNvSpPr/>
            <p:nvPr/>
          </p:nvSpPr>
          <p:spPr>
            <a:xfrm>
              <a:off x="-41564" y="65404"/>
              <a:ext cx="6691746" cy="3446723"/>
            </a:xfrm>
            <a:custGeom>
              <a:avLst/>
              <a:gdLst/>
              <a:ahLst/>
              <a:cxnLst/>
              <a:rect l="l" t="t" r="r" b="b"/>
              <a:pathLst>
                <a:path w="6691746" h="3446723" extrusionOk="0">
                  <a:moveTo>
                    <a:pt x="0" y="3446723"/>
                  </a:moveTo>
                  <a:cubicBezTo>
                    <a:pt x="561109" y="3389573"/>
                    <a:pt x="1122218" y="3332423"/>
                    <a:pt x="1246909" y="2906396"/>
                  </a:cubicBezTo>
                  <a:cubicBezTo>
                    <a:pt x="1371600" y="2480369"/>
                    <a:pt x="644237" y="1302732"/>
                    <a:pt x="748146" y="890560"/>
                  </a:cubicBezTo>
                  <a:cubicBezTo>
                    <a:pt x="852055" y="478388"/>
                    <a:pt x="1530928" y="398724"/>
                    <a:pt x="1870364" y="433360"/>
                  </a:cubicBezTo>
                  <a:cubicBezTo>
                    <a:pt x="2209800" y="467996"/>
                    <a:pt x="2462646" y="991005"/>
                    <a:pt x="2784764" y="1098378"/>
                  </a:cubicBezTo>
                  <a:cubicBezTo>
                    <a:pt x="3106882" y="1205751"/>
                    <a:pt x="3546764" y="1247314"/>
                    <a:pt x="3803073" y="1077596"/>
                  </a:cubicBezTo>
                  <a:cubicBezTo>
                    <a:pt x="4059382" y="907878"/>
                    <a:pt x="4090555" y="229005"/>
                    <a:pt x="4322619" y="80069"/>
                  </a:cubicBezTo>
                  <a:cubicBezTo>
                    <a:pt x="4554683" y="-68867"/>
                    <a:pt x="4956464" y="3869"/>
                    <a:pt x="5195455" y="183978"/>
                  </a:cubicBezTo>
                  <a:cubicBezTo>
                    <a:pt x="5434446" y="364087"/>
                    <a:pt x="5507182" y="932123"/>
                    <a:pt x="5756564" y="1160723"/>
                  </a:cubicBezTo>
                  <a:cubicBezTo>
                    <a:pt x="6005946" y="1389323"/>
                    <a:pt x="6442364" y="1482842"/>
                    <a:pt x="6691746" y="1555578"/>
                  </a:cubicBez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26" name="Google Shape;426;p15"/>
            <p:cNvSpPr/>
            <p:nvPr/>
          </p:nvSpPr>
          <p:spPr>
            <a:xfrm>
              <a:off x="11887200" y="7356134"/>
              <a:ext cx="6442364" cy="1768412"/>
            </a:xfrm>
            <a:custGeom>
              <a:avLst/>
              <a:gdLst/>
              <a:ahLst/>
              <a:cxnLst/>
              <a:rect l="l" t="t" r="r" b="b"/>
              <a:pathLst>
                <a:path w="6442364" h="1768412" extrusionOk="0">
                  <a:moveTo>
                    <a:pt x="6442364" y="229230"/>
                  </a:moveTo>
                  <a:cubicBezTo>
                    <a:pt x="6068291" y="1017207"/>
                    <a:pt x="5694218" y="1805184"/>
                    <a:pt x="5174673" y="1767084"/>
                  </a:cubicBezTo>
                  <a:cubicBezTo>
                    <a:pt x="4655128" y="1728984"/>
                    <a:pt x="4045527" y="35266"/>
                    <a:pt x="3325091" y="630"/>
                  </a:cubicBezTo>
                  <a:cubicBezTo>
                    <a:pt x="2604655" y="-34006"/>
                    <a:pt x="1406237" y="1368766"/>
                    <a:pt x="852055" y="1559266"/>
                  </a:cubicBezTo>
                  <a:cubicBezTo>
                    <a:pt x="297873" y="1749766"/>
                    <a:pt x="256309" y="1316812"/>
                    <a:pt x="0" y="1143630"/>
                  </a:cubicBez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grpSp>
          <p:nvGrpSpPr>
            <p:cNvPr id="427" name="Google Shape;427;p15"/>
            <p:cNvGrpSpPr/>
            <p:nvPr/>
          </p:nvGrpSpPr>
          <p:grpSpPr>
            <a:xfrm>
              <a:off x="13411200" y="-495300"/>
              <a:ext cx="5791200" cy="5105400"/>
              <a:chOff x="13411200" y="-495300"/>
              <a:chExt cx="5791200" cy="5105400"/>
            </a:xfrm>
          </p:grpSpPr>
          <p:sp>
            <p:nvSpPr>
              <p:cNvPr id="428" name="Google Shape;428;p15"/>
              <p:cNvSpPr/>
              <p:nvPr/>
            </p:nvSpPr>
            <p:spPr>
              <a:xfrm>
                <a:off x="14271330" y="-250010"/>
                <a:ext cx="4286834" cy="4486715"/>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29" name="Google Shape;429;p15"/>
              <p:cNvSpPr/>
              <p:nvPr/>
            </p:nvSpPr>
            <p:spPr>
              <a:xfrm>
                <a:off x="14957130" y="207190"/>
                <a:ext cx="3635670" cy="386951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0" name="Google Shape;430;p15"/>
              <p:cNvSpPr/>
              <p:nvPr/>
            </p:nvSpPr>
            <p:spPr>
              <a:xfrm>
                <a:off x="15871530" y="740590"/>
                <a:ext cx="2645070" cy="310751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1" name="Google Shape;431;p15"/>
              <p:cNvSpPr/>
              <p:nvPr/>
            </p:nvSpPr>
            <p:spPr>
              <a:xfrm>
                <a:off x="13411200" y="-495300"/>
                <a:ext cx="5791200" cy="510540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2" name="Google Shape;432;p15"/>
              <p:cNvSpPr/>
              <p:nvPr/>
            </p:nvSpPr>
            <p:spPr>
              <a:xfrm>
                <a:off x="16576475" y="1142951"/>
                <a:ext cx="1412279" cy="1882786"/>
              </a:xfrm>
              <a:custGeom>
                <a:avLst/>
                <a:gdLst/>
                <a:ahLst/>
                <a:cxnLst/>
                <a:rect l="l" t="t" r="r" b="b"/>
                <a:pathLst>
                  <a:path w="1412279" h="1882786" extrusionOk="0">
                    <a:moveTo>
                      <a:pt x="1379016" y="1059922"/>
                    </a:moveTo>
                    <a:cubicBezTo>
                      <a:pt x="1299352" y="772440"/>
                      <a:pt x="984161" y="6976"/>
                      <a:pt x="755561" y="49"/>
                    </a:cubicBezTo>
                    <a:cubicBezTo>
                      <a:pt x="526961" y="-6878"/>
                      <a:pt x="62834" y="713558"/>
                      <a:pt x="7416" y="1018358"/>
                    </a:cubicBezTo>
                    <a:cubicBezTo>
                      <a:pt x="-48002" y="1323158"/>
                      <a:pt x="218698" y="1711085"/>
                      <a:pt x="423052" y="1828849"/>
                    </a:cubicBezTo>
                    <a:cubicBezTo>
                      <a:pt x="627406" y="1946613"/>
                      <a:pt x="1077679" y="1853095"/>
                      <a:pt x="1233543" y="1724940"/>
                    </a:cubicBezTo>
                    <a:cubicBezTo>
                      <a:pt x="1389407" y="1596786"/>
                      <a:pt x="1458680" y="1347404"/>
                      <a:pt x="1379016" y="1059922"/>
                    </a:cubicBezTo>
                    <a:close/>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3" name="Google Shape;433;p15"/>
              <p:cNvSpPr/>
              <p:nvPr/>
            </p:nvSpPr>
            <p:spPr>
              <a:xfrm flipH="1">
                <a:off x="16798306" y="1529082"/>
                <a:ext cx="1108694" cy="1328418"/>
              </a:xfrm>
              <a:custGeom>
                <a:avLst/>
                <a:gdLst/>
                <a:ahLst/>
                <a:cxnLst/>
                <a:rect l="l" t="t" r="r" b="b"/>
                <a:pathLst>
                  <a:path w="1412279" h="1882786" extrusionOk="0">
                    <a:moveTo>
                      <a:pt x="1379016" y="1059922"/>
                    </a:moveTo>
                    <a:cubicBezTo>
                      <a:pt x="1299352" y="772440"/>
                      <a:pt x="984161" y="6976"/>
                      <a:pt x="755561" y="49"/>
                    </a:cubicBezTo>
                    <a:cubicBezTo>
                      <a:pt x="526961" y="-6878"/>
                      <a:pt x="62834" y="713558"/>
                      <a:pt x="7416" y="1018358"/>
                    </a:cubicBezTo>
                    <a:cubicBezTo>
                      <a:pt x="-48002" y="1323158"/>
                      <a:pt x="218698" y="1711085"/>
                      <a:pt x="423052" y="1828849"/>
                    </a:cubicBezTo>
                    <a:cubicBezTo>
                      <a:pt x="627406" y="1946613"/>
                      <a:pt x="1077679" y="1853095"/>
                      <a:pt x="1233543" y="1724940"/>
                    </a:cubicBezTo>
                    <a:cubicBezTo>
                      <a:pt x="1389407" y="1596786"/>
                      <a:pt x="1458680" y="1347404"/>
                      <a:pt x="1379016" y="1059922"/>
                    </a:cubicBezTo>
                    <a:close/>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grpSp>
        <p:grpSp>
          <p:nvGrpSpPr>
            <p:cNvPr id="434" name="Google Shape;434;p15"/>
            <p:cNvGrpSpPr/>
            <p:nvPr/>
          </p:nvGrpSpPr>
          <p:grpSpPr>
            <a:xfrm flipH="1">
              <a:off x="-2209800" y="6210300"/>
              <a:ext cx="5791200" cy="5105400"/>
              <a:chOff x="13411200" y="-495300"/>
              <a:chExt cx="5791200" cy="5105400"/>
            </a:xfrm>
          </p:grpSpPr>
          <p:sp>
            <p:nvSpPr>
              <p:cNvPr id="435" name="Google Shape;435;p15"/>
              <p:cNvSpPr/>
              <p:nvPr/>
            </p:nvSpPr>
            <p:spPr>
              <a:xfrm>
                <a:off x="14271330" y="-250010"/>
                <a:ext cx="4286834" cy="4486715"/>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6" name="Google Shape;436;p15"/>
              <p:cNvSpPr/>
              <p:nvPr/>
            </p:nvSpPr>
            <p:spPr>
              <a:xfrm>
                <a:off x="14957130" y="207190"/>
                <a:ext cx="3635670" cy="386951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7" name="Google Shape;437;p15"/>
              <p:cNvSpPr/>
              <p:nvPr/>
            </p:nvSpPr>
            <p:spPr>
              <a:xfrm>
                <a:off x="15871530" y="740590"/>
                <a:ext cx="2645070" cy="310751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8" name="Google Shape;438;p15"/>
              <p:cNvSpPr/>
              <p:nvPr/>
            </p:nvSpPr>
            <p:spPr>
              <a:xfrm>
                <a:off x="13411200" y="-495300"/>
                <a:ext cx="5791200" cy="5105400"/>
              </a:xfrm>
              <a:custGeom>
                <a:avLst/>
                <a:gdLst/>
                <a:ahLst/>
                <a:cxnLst/>
                <a:rect l="l" t="t" r="r" b="b"/>
                <a:pathLst>
                  <a:path w="4286834" h="4486715" extrusionOk="0">
                    <a:moveTo>
                      <a:pt x="4016670" y="2245065"/>
                    </a:moveTo>
                    <a:cubicBezTo>
                      <a:pt x="3500588" y="1140164"/>
                      <a:pt x="2984507" y="35264"/>
                      <a:pt x="2333343" y="628"/>
                    </a:cubicBezTo>
                    <a:cubicBezTo>
                      <a:pt x="1682179" y="-34008"/>
                      <a:pt x="407561" y="1372228"/>
                      <a:pt x="109688" y="2037246"/>
                    </a:cubicBezTo>
                    <a:cubicBezTo>
                      <a:pt x="-188185" y="2702264"/>
                      <a:pt x="175497" y="3585492"/>
                      <a:pt x="546106" y="3990737"/>
                    </a:cubicBezTo>
                    <a:cubicBezTo>
                      <a:pt x="916715" y="4395983"/>
                      <a:pt x="1709888" y="4541455"/>
                      <a:pt x="2333343" y="4468719"/>
                    </a:cubicBezTo>
                    <a:cubicBezTo>
                      <a:pt x="2956798" y="4395983"/>
                      <a:pt x="4286834" y="3554319"/>
                      <a:pt x="4286834" y="3554319"/>
                    </a:cubicBezTo>
                    <a:lnTo>
                      <a:pt x="4286834" y="3554319"/>
                    </a:lnTo>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39" name="Google Shape;439;p15"/>
              <p:cNvSpPr/>
              <p:nvPr/>
            </p:nvSpPr>
            <p:spPr>
              <a:xfrm>
                <a:off x="16576475" y="1142951"/>
                <a:ext cx="1412279" cy="1882786"/>
              </a:xfrm>
              <a:custGeom>
                <a:avLst/>
                <a:gdLst/>
                <a:ahLst/>
                <a:cxnLst/>
                <a:rect l="l" t="t" r="r" b="b"/>
                <a:pathLst>
                  <a:path w="1412279" h="1882786" extrusionOk="0">
                    <a:moveTo>
                      <a:pt x="1379016" y="1059922"/>
                    </a:moveTo>
                    <a:cubicBezTo>
                      <a:pt x="1299352" y="772440"/>
                      <a:pt x="984161" y="6976"/>
                      <a:pt x="755561" y="49"/>
                    </a:cubicBezTo>
                    <a:cubicBezTo>
                      <a:pt x="526961" y="-6878"/>
                      <a:pt x="62834" y="713558"/>
                      <a:pt x="7416" y="1018358"/>
                    </a:cubicBezTo>
                    <a:cubicBezTo>
                      <a:pt x="-48002" y="1323158"/>
                      <a:pt x="218698" y="1711085"/>
                      <a:pt x="423052" y="1828849"/>
                    </a:cubicBezTo>
                    <a:cubicBezTo>
                      <a:pt x="627406" y="1946613"/>
                      <a:pt x="1077679" y="1853095"/>
                      <a:pt x="1233543" y="1724940"/>
                    </a:cubicBezTo>
                    <a:cubicBezTo>
                      <a:pt x="1389407" y="1596786"/>
                      <a:pt x="1458680" y="1347404"/>
                      <a:pt x="1379016" y="1059922"/>
                    </a:cubicBezTo>
                    <a:close/>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40" name="Google Shape;440;p15"/>
              <p:cNvSpPr/>
              <p:nvPr/>
            </p:nvSpPr>
            <p:spPr>
              <a:xfrm flipH="1">
                <a:off x="16798306" y="1529082"/>
                <a:ext cx="1108694" cy="1328418"/>
              </a:xfrm>
              <a:custGeom>
                <a:avLst/>
                <a:gdLst/>
                <a:ahLst/>
                <a:cxnLst/>
                <a:rect l="l" t="t" r="r" b="b"/>
                <a:pathLst>
                  <a:path w="1412279" h="1882786" extrusionOk="0">
                    <a:moveTo>
                      <a:pt x="1379016" y="1059922"/>
                    </a:moveTo>
                    <a:cubicBezTo>
                      <a:pt x="1299352" y="772440"/>
                      <a:pt x="984161" y="6976"/>
                      <a:pt x="755561" y="49"/>
                    </a:cubicBezTo>
                    <a:cubicBezTo>
                      <a:pt x="526961" y="-6878"/>
                      <a:pt x="62834" y="713558"/>
                      <a:pt x="7416" y="1018358"/>
                    </a:cubicBezTo>
                    <a:cubicBezTo>
                      <a:pt x="-48002" y="1323158"/>
                      <a:pt x="218698" y="1711085"/>
                      <a:pt x="423052" y="1828849"/>
                    </a:cubicBezTo>
                    <a:cubicBezTo>
                      <a:pt x="627406" y="1946613"/>
                      <a:pt x="1077679" y="1853095"/>
                      <a:pt x="1233543" y="1724940"/>
                    </a:cubicBezTo>
                    <a:cubicBezTo>
                      <a:pt x="1389407" y="1596786"/>
                      <a:pt x="1458680" y="1347404"/>
                      <a:pt x="1379016" y="1059922"/>
                    </a:cubicBezTo>
                    <a:close/>
                  </a:path>
                </a:pathLst>
              </a:custGeom>
              <a:noFill/>
              <a:ln w="25400" cap="flat" cmpd="sng">
                <a:solidFill>
                  <a:schemeClr val="bg1">
                    <a:lumMod val="95000"/>
                  </a:schemeClr>
                </a:solidFill>
                <a:prstDash val="solid"/>
                <a:round/>
                <a:headEnd type="none" w="sm" len="sm"/>
                <a:tailEnd type="none" w="sm" len="sm"/>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grpSp>
      </p:grpSp>
      <p:sp>
        <p:nvSpPr>
          <p:cNvPr id="2" name="Google Shape;481;p17">
            <a:extLst>
              <a:ext uri="{FF2B5EF4-FFF2-40B4-BE49-F238E27FC236}">
                <a16:creationId xmlns:a16="http://schemas.microsoft.com/office/drawing/2014/main" id="{646A9924-720A-D51B-D818-FEC31C0ECE5F}"/>
              </a:ext>
            </a:extLst>
          </p:cNvPr>
          <p:cNvSpPr/>
          <p:nvPr/>
        </p:nvSpPr>
        <p:spPr>
          <a:xfrm>
            <a:off x="-685719" y="-540003"/>
            <a:ext cx="15483840" cy="8717280"/>
          </a:xfrm>
          <a:prstGeom prst="rect">
            <a:avLst/>
          </a:prstGeom>
          <a:solidFill>
            <a:srgbClr val="1D1B10">
              <a:alpha val="86666"/>
            </a:srgbClr>
          </a:solidFill>
          <a:ln>
            <a:noFill/>
          </a:ln>
        </p:spPr>
        <p:txBody>
          <a:bodyPr spcFirstLastPara="1" wrap="square" lIns="73140" tIns="36560" rIns="73140" bIns="36560" anchor="ctr" anchorCtr="0">
            <a:noAutofit/>
          </a:bodyPr>
          <a:lstStyle/>
          <a:p>
            <a:pPr algn="r"/>
            <a:endParaRPr sz="1440">
              <a:solidFill>
                <a:schemeClr val="accent4">
                  <a:lumMod val="40000"/>
                  <a:lumOff val="60000"/>
                </a:schemeClr>
              </a:solidFill>
              <a:latin typeface="Calibri"/>
              <a:ea typeface="Calibri"/>
              <a:cs typeface="Calibri"/>
              <a:sym typeface="Calibri"/>
            </a:endParaRPr>
          </a:p>
        </p:txBody>
      </p:sp>
      <p:sp>
        <p:nvSpPr>
          <p:cNvPr id="423" name="Google Shape;423;p15"/>
          <p:cNvSpPr txBox="1"/>
          <p:nvPr/>
        </p:nvSpPr>
        <p:spPr>
          <a:xfrm>
            <a:off x="5242560" y="180404"/>
            <a:ext cx="5608320" cy="886364"/>
          </a:xfrm>
          <a:prstGeom prst="rect">
            <a:avLst/>
          </a:prstGeom>
          <a:noFill/>
          <a:ln>
            <a:noFill/>
          </a:ln>
        </p:spPr>
        <p:txBody>
          <a:bodyPr spcFirstLastPara="1" wrap="square" lIns="73140" tIns="36560" rIns="73140" bIns="36560" anchor="t" anchorCtr="0">
            <a:spAutoFit/>
          </a:bodyPr>
          <a:lstStyle/>
          <a:p>
            <a:r>
              <a:rPr lang="en-US" sz="5280" b="1" dirty="0">
                <a:solidFill>
                  <a:schemeClr val="accent4">
                    <a:lumMod val="20000"/>
                    <a:lumOff val="80000"/>
                  </a:schemeClr>
                </a:solidFill>
                <a:latin typeface="Arial Rounded"/>
                <a:ea typeface="Arial Rounded"/>
                <a:cs typeface="Arial Rounded"/>
                <a:sym typeface="Arial Rounded"/>
              </a:rPr>
              <a:t>Segmentation</a:t>
            </a:r>
            <a:endParaRPr sz="1440" dirty="0">
              <a:solidFill>
                <a:schemeClr val="accent4">
                  <a:lumMod val="20000"/>
                  <a:lumOff val="80000"/>
                </a:schemeClr>
              </a:solidFill>
            </a:endParaRPr>
          </a:p>
        </p:txBody>
      </p:sp>
      <p:sp>
        <p:nvSpPr>
          <p:cNvPr id="441" name="Google Shape;441;p15"/>
          <p:cNvSpPr/>
          <p:nvPr/>
        </p:nvSpPr>
        <p:spPr>
          <a:xfrm>
            <a:off x="9875520" y="180906"/>
            <a:ext cx="991984" cy="812530"/>
          </a:xfrm>
          <a:custGeom>
            <a:avLst/>
            <a:gdLst/>
            <a:ahLst/>
            <a:cxnLst/>
            <a:rect l="l" t="t" r="r" b="b"/>
            <a:pathLst>
              <a:path w="11170" h="10760" extrusionOk="0">
                <a:moveTo>
                  <a:pt x="9070" y="1"/>
                </a:moveTo>
                <a:cubicBezTo>
                  <a:pt x="8985" y="1"/>
                  <a:pt x="8904" y="40"/>
                  <a:pt x="8835" y="92"/>
                </a:cubicBezTo>
                <a:lnTo>
                  <a:pt x="7359" y="1592"/>
                </a:lnTo>
                <a:cubicBezTo>
                  <a:pt x="7287" y="1663"/>
                  <a:pt x="7264" y="1735"/>
                  <a:pt x="7264" y="1830"/>
                </a:cubicBezTo>
                <a:lnTo>
                  <a:pt x="7383" y="3330"/>
                </a:lnTo>
                <a:lnTo>
                  <a:pt x="7168" y="3545"/>
                </a:lnTo>
                <a:cubicBezTo>
                  <a:pt x="6399" y="2877"/>
                  <a:pt x="5446" y="2548"/>
                  <a:pt x="4494" y="2548"/>
                </a:cubicBezTo>
                <a:cubicBezTo>
                  <a:pt x="3444" y="2548"/>
                  <a:pt x="2395" y="2948"/>
                  <a:pt x="1596" y="3735"/>
                </a:cubicBezTo>
                <a:cubicBezTo>
                  <a:pt x="96" y="5259"/>
                  <a:pt x="0" y="7688"/>
                  <a:pt x="1381" y="9308"/>
                </a:cubicBezTo>
                <a:cubicBezTo>
                  <a:pt x="2199" y="10263"/>
                  <a:pt x="3354" y="10760"/>
                  <a:pt x="4515" y="10760"/>
                </a:cubicBezTo>
                <a:cubicBezTo>
                  <a:pt x="5350" y="10760"/>
                  <a:pt x="6189" y="10503"/>
                  <a:pt x="6906" y="9975"/>
                </a:cubicBezTo>
                <a:cubicBezTo>
                  <a:pt x="8645" y="8712"/>
                  <a:pt x="9121" y="6331"/>
                  <a:pt x="8002" y="4497"/>
                </a:cubicBezTo>
                <a:lnTo>
                  <a:pt x="8002" y="4497"/>
                </a:lnTo>
                <a:lnTo>
                  <a:pt x="7073" y="5426"/>
                </a:lnTo>
                <a:cubicBezTo>
                  <a:pt x="7692" y="6736"/>
                  <a:pt x="7240" y="8284"/>
                  <a:pt x="6025" y="9046"/>
                </a:cubicBezTo>
                <a:cubicBezTo>
                  <a:pt x="5550" y="9338"/>
                  <a:pt x="5021" y="9480"/>
                  <a:pt x="4500" y="9480"/>
                </a:cubicBezTo>
                <a:cubicBezTo>
                  <a:pt x="3663" y="9480"/>
                  <a:pt x="2844" y="9116"/>
                  <a:pt x="2286" y="8427"/>
                </a:cubicBezTo>
                <a:cubicBezTo>
                  <a:pt x="642" y="6353"/>
                  <a:pt x="2414" y="3780"/>
                  <a:pt x="4530" y="3780"/>
                </a:cubicBezTo>
                <a:cubicBezTo>
                  <a:pt x="5111" y="3780"/>
                  <a:pt x="5718" y="3974"/>
                  <a:pt x="6287" y="4426"/>
                </a:cubicBezTo>
                <a:lnTo>
                  <a:pt x="5835" y="4878"/>
                </a:lnTo>
                <a:cubicBezTo>
                  <a:pt x="5416" y="4567"/>
                  <a:pt x="4967" y="4431"/>
                  <a:pt x="4535" y="4431"/>
                </a:cubicBezTo>
                <a:cubicBezTo>
                  <a:pt x="3049" y="4431"/>
                  <a:pt x="1761" y="6036"/>
                  <a:pt x="2572" y="7641"/>
                </a:cubicBezTo>
                <a:cubicBezTo>
                  <a:pt x="2994" y="8474"/>
                  <a:pt x="3750" y="8849"/>
                  <a:pt x="4505" y="8849"/>
                </a:cubicBezTo>
                <a:cubicBezTo>
                  <a:pt x="5625" y="8849"/>
                  <a:pt x="6740" y="8021"/>
                  <a:pt x="6740" y="6641"/>
                </a:cubicBezTo>
                <a:cubicBezTo>
                  <a:pt x="6716" y="6379"/>
                  <a:pt x="6692" y="6140"/>
                  <a:pt x="6597" y="5902"/>
                </a:cubicBezTo>
                <a:lnTo>
                  <a:pt x="6049" y="6426"/>
                </a:lnTo>
                <a:cubicBezTo>
                  <a:pt x="6073" y="6498"/>
                  <a:pt x="6073" y="6569"/>
                  <a:pt x="6073" y="6641"/>
                </a:cubicBezTo>
                <a:cubicBezTo>
                  <a:pt x="6073" y="7628"/>
                  <a:pt x="5282" y="8220"/>
                  <a:pt x="4485" y="8220"/>
                </a:cubicBezTo>
                <a:cubicBezTo>
                  <a:pt x="3956" y="8220"/>
                  <a:pt x="3424" y="7959"/>
                  <a:pt x="3120" y="7379"/>
                </a:cubicBezTo>
                <a:cubicBezTo>
                  <a:pt x="2498" y="6249"/>
                  <a:pt x="3412" y="5059"/>
                  <a:pt x="4492" y="5059"/>
                </a:cubicBezTo>
                <a:cubicBezTo>
                  <a:pt x="4778" y="5059"/>
                  <a:pt x="5075" y="5142"/>
                  <a:pt x="5359" y="5331"/>
                </a:cubicBezTo>
                <a:lnTo>
                  <a:pt x="4906" y="5783"/>
                </a:lnTo>
                <a:cubicBezTo>
                  <a:pt x="4787" y="5736"/>
                  <a:pt x="4644" y="5688"/>
                  <a:pt x="4501" y="5688"/>
                </a:cubicBezTo>
                <a:cubicBezTo>
                  <a:pt x="3668" y="5688"/>
                  <a:pt x="3239" y="6712"/>
                  <a:pt x="3834" y="7307"/>
                </a:cubicBezTo>
                <a:cubicBezTo>
                  <a:pt x="4026" y="7499"/>
                  <a:pt x="4262" y="7585"/>
                  <a:pt x="4494" y="7585"/>
                </a:cubicBezTo>
                <a:cubicBezTo>
                  <a:pt x="4983" y="7585"/>
                  <a:pt x="5454" y="7206"/>
                  <a:pt x="5454" y="6641"/>
                </a:cubicBezTo>
                <a:cubicBezTo>
                  <a:pt x="5454" y="6498"/>
                  <a:pt x="5406" y="6355"/>
                  <a:pt x="5359" y="6236"/>
                </a:cubicBezTo>
                <a:lnTo>
                  <a:pt x="5811" y="5759"/>
                </a:lnTo>
                <a:lnTo>
                  <a:pt x="7811" y="3759"/>
                </a:lnTo>
                <a:lnTo>
                  <a:pt x="9336" y="3902"/>
                </a:lnTo>
                <a:cubicBezTo>
                  <a:pt x="9431" y="3902"/>
                  <a:pt x="9502" y="3854"/>
                  <a:pt x="9550" y="3807"/>
                </a:cubicBezTo>
                <a:lnTo>
                  <a:pt x="11050" y="2306"/>
                </a:lnTo>
                <a:cubicBezTo>
                  <a:pt x="11145" y="2235"/>
                  <a:pt x="11169" y="2092"/>
                  <a:pt x="11122" y="1997"/>
                </a:cubicBezTo>
                <a:cubicBezTo>
                  <a:pt x="11098" y="1878"/>
                  <a:pt x="10979" y="1782"/>
                  <a:pt x="10860" y="1782"/>
                </a:cubicBezTo>
                <a:lnTo>
                  <a:pt x="9907" y="1687"/>
                </a:lnTo>
                <a:lnTo>
                  <a:pt x="10550" y="1068"/>
                </a:lnTo>
                <a:cubicBezTo>
                  <a:pt x="10669" y="925"/>
                  <a:pt x="10669" y="735"/>
                  <a:pt x="10550" y="616"/>
                </a:cubicBezTo>
                <a:cubicBezTo>
                  <a:pt x="10491" y="556"/>
                  <a:pt x="10407" y="526"/>
                  <a:pt x="10324" y="526"/>
                </a:cubicBezTo>
                <a:cubicBezTo>
                  <a:pt x="10240" y="526"/>
                  <a:pt x="10157" y="556"/>
                  <a:pt x="10098" y="616"/>
                </a:cubicBezTo>
                <a:lnTo>
                  <a:pt x="9455" y="1258"/>
                </a:lnTo>
                <a:lnTo>
                  <a:pt x="9383" y="282"/>
                </a:lnTo>
                <a:cubicBezTo>
                  <a:pt x="9359" y="163"/>
                  <a:pt x="9288" y="68"/>
                  <a:pt x="9169" y="20"/>
                </a:cubicBezTo>
                <a:cubicBezTo>
                  <a:pt x="9136" y="7"/>
                  <a:pt x="9102" y="1"/>
                  <a:pt x="9070" y="1"/>
                </a:cubicBezTo>
                <a:close/>
              </a:path>
            </a:pathLst>
          </a:custGeom>
          <a:solidFill>
            <a:srgbClr val="F9EEE7"/>
          </a:solidFill>
          <a:ln>
            <a:noFill/>
          </a:ln>
        </p:spPr>
        <p:txBody>
          <a:bodyPr spcFirstLastPara="1" wrap="square" lIns="73140" tIns="73140" rIns="73140" bIns="73140" anchor="ctr" anchorCtr="0">
            <a:noAutofit/>
          </a:bodyPr>
          <a:lstStyle/>
          <a:p>
            <a:pPr>
              <a:buClr>
                <a:srgbClr val="000000"/>
              </a:buClr>
              <a:buSzPts val="1400"/>
            </a:pPr>
            <a:endParaRPr sz="1120">
              <a:solidFill>
                <a:srgbClr val="F9EEE7"/>
              </a:solidFill>
              <a:latin typeface="Arial"/>
              <a:ea typeface="Arial"/>
              <a:cs typeface="Arial"/>
              <a:sym typeface="Arial"/>
            </a:endParaRPr>
          </a:p>
        </p:txBody>
      </p:sp>
      <p:cxnSp>
        <p:nvCxnSpPr>
          <p:cNvPr id="442" name="Google Shape;442;p15"/>
          <p:cNvCxnSpPr/>
          <p:nvPr/>
        </p:nvCxnSpPr>
        <p:spPr>
          <a:xfrm>
            <a:off x="3596640" y="1645919"/>
            <a:ext cx="0" cy="6217920"/>
          </a:xfrm>
          <a:prstGeom prst="straightConnector1">
            <a:avLst/>
          </a:prstGeom>
          <a:noFill/>
          <a:ln w="38100" cap="flat" cmpd="sng">
            <a:solidFill>
              <a:schemeClr val="bg1">
                <a:lumMod val="95000"/>
              </a:schemeClr>
            </a:solidFill>
            <a:prstDash val="solid"/>
            <a:round/>
            <a:headEnd type="none" w="sm" len="sm"/>
            <a:tailEnd type="none" w="sm" len="sm"/>
          </a:ln>
          <a:effectLst>
            <a:outerShdw blurRad="63500" sx="102000" sy="102000" algn="ctr" rotWithShape="0">
              <a:srgbClr val="000000">
                <a:alpha val="40000"/>
              </a:srgbClr>
            </a:outerShdw>
          </a:effectLst>
        </p:spPr>
      </p:cxnSp>
      <p:cxnSp>
        <p:nvCxnSpPr>
          <p:cNvPr id="443" name="Google Shape;443;p15"/>
          <p:cNvCxnSpPr/>
          <p:nvPr/>
        </p:nvCxnSpPr>
        <p:spPr>
          <a:xfrm>
            <a:off x="7315200" y="1645919"/>
            <a:ext cx="0" cy="6217920"/>
          </a:xfrm>
          <a:prstGeom prst="straightConnector1">
            <a:avLst/>
          </a:prstGeom>
          <a:noFill/>
          <a:ln w="38100" cap="flat" cmpd="sng">
            <a:solidFill>
              <a:schemeClr val="bg1">
                <a:lumMod val="95000"/>
              </a:schemeClr>
            </a:solidFill>
            <a:prstDash val="solid"/>
            <a:round/>
            <a:headEnd type="none" w="sm" len="sm"/>
            <a:tailEnd type="none" w="sm" len="sm"/>
          </a:ln>
          <a:effectLst>
            <a:outerShdw blurRad="63500" sx="102000" sy="102000" algn="ctr" rotWithShape="0">
              <a:srgbClr val="000000">
                <a:alpha val="40000"/>
              </a:srgbClr>
            </a:outerShdw>
          </a:effectLst>
        </p:spPr>
      </p:cxnSp>
      <p:cxnSp>
        <p:nvCxnSpPr>
          <p:cNvPr id="444" name="Google Shape;444;p15"/>
          <p:cNvCxnSpPr/>
          <p:nvPr/>
        </p:nvCxnSpPr>
        <p:spPr>
          <a:xfrm>
            <a:off x="10850880" y="1645919"/>
            <a:ext cx="0" cy="6217920"/>
          </a:xfrm>
          <a:prstGeom prst="straightConnector1">
            <a:avLst/>
          </a:prstGeom>
          <a:noFill/>
          <a:ln w="38100" cap="flat" cmpd="sng">
            <a:solidFill>
              <a:schemeClr val="bg1">
                <a:lumMod val="95000"/>
              </a:schemeClr>
            </a:solidFill>
            <a:prstDash val="solid"/>
            <a:round/>
            <a:headEnd type="none" w="sm" len="sm"/>
            <a:tailEnd type="none" w="sm" len="sm"/>
          </a:ln>
          <a:effectLst>
            <a:outerShdw blurRad="63500" sx="102000" sy="102000" algn="ctr" rotWithShape="0">
              <a:srgbClr val="000000">
                <a:alpha val="40000"/>
              </a:srgbClr>
            </a:outerShdw>
          </a:effectLst>
        </p:spPr>
      </p:cxnSp>
      <p:sp>
        <p:nvSpPr>
          <p:cNvPr id="445" name="Google Shape;445;p15"/>
          <p:cNvSpPr txBox="1"/>
          <p:nvPr/>
        </p:nvSpPr>
        <p:spPr>
          <a:xfrm>
            <a:off x="-58051" y="2306731"/>
            <a:ext cx="3495831" cy="4382706"/>
          </a:xfrm>
          <a:prstGeom prst="rect">
            <a:avLst/>
          </a:prstGeom>
          <a:noFill/>
          <a:ln>
            <a:noFill/>
          </a:ln>
        </p:spPr>
        <p:txBody>
          <a:bodyPr spcFirstLastPara="1" wrap="square" lIns="73140" tIns="36560" rIns="73140" bIns="36560" anchor="t" anchorCtr="0">
            <a:spAutoFit/>
          </a:bodyPr>
          <a:lstStyle/>
          <a:p>
            <a:pPr marL="45720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القاهرة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كمركز</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رئيسي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للتوزيع</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marL="45720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التوسع</a:t>
            </a:r>
            <a:r>
              <a:rPr lang="en-US" sz="2560" dirty="0">
                <a:solidFill>
                  <a:schemeClr val="accent4">
                    <a:lumMod val="40000"/>
                    <a:lumOff val="60000"/>
                  </a:schemeClr>
                </a:solidFill>
                <a:latin typeface="Arial"/>
                <a:ea typeface="Arial"/>
                <a:cs typeface="Arial"/>
                <a:sym typeface="Arial"/>
              </a:rPr>
              <a:t> في </a:t>
            </a:r>
            <a:r>
              <a:rPr lang="en-US" sz="2560" dirty="0" err="1">
                <a:solidFill>
                  <a:schemeClr val="accent4">
                    <a:lumMod val="40000"/>
                    <a:lumOff val="60000"/>
                  </a:schemeClr>
                </a:solidFill>
                <a:latin typeface="Arial"/>
                <a:ea typeface="Arial"/>
                <a:cs typeface="Arial"/>
                <a:sym typeface="Arial"/>
              </a:rPr>
              <a:t>المحافظات</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القريبة</a:t>
            </a:r>
            <a:r>
              <a:rPr lang="ar-EG" sz="2560" dirty="0">
                <a:solidFill>
                  <a:schemeClr val="accent4">
                    <a:lumMod val="40000"/>
                    <a:lumOff val="60000"/>
                  </a:schemeClr>
                </a:solidFill>
                <a:latin typeface="Arial"/>
                <a:ea typeface="Arial"/>
                <a:cs typeface="Arial"/>
                <a:sym typeface="Arial"/>
              </a:rPr>
              <a:t> ( </a:t>
            </a:r>
            <a:r>
              <a:rPr lang="en-US" sz="2560" dirty="0" err="1">
                <a:solidFill>
                  <a:schemeClr val="accent4">
                    <a:lumMod val="40000"/>
                    <a:lumOff val="60000"/>
                  </a:schemeClr>
                </a:solidFill>
                <a:latin typeface="Arial"/>
                <a:ea typeface="Arial"/>
                <a:cs typeface="Arial"/>
                <a:sym typeface="Arial"/>
              </a:rPr>
              <a:t>الجيزة</a:t>
            </a:r>
            <a:r>
              <a:rPr lang="en-US" sz="2560" dirty="0">
                <a:solidFill>
                  <a:schemeClr val="accent4">
                    <a:lumMod val="40000"/>
                    <a:lumOff val="60000"/>
                  </a:schemeClr>
                </a:solidFill>
                <a:latin typeface="Arial"/>
                <a:ea typeface="Arial"/>
                <a:cs typeface="Arial"/>
                <a:sym typeface="Arial"/>
              </a:rPr>
              <a:t> </a:t>
            </a:r>
            <a:r>
              <a:rPr lang="ar-EG"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القليوبية</a:t>
            </a:r>
            <a:r>
              <a:rPr lang="en-US" sz="2560" dirty="0">
                <a:solidFill>
                  <a:schemeClr val="accent4">
                    <a:lumMod val="40000"/>
                    <a:lumOff val="60000"/>
                  </a:schemeClr>
                </a:solidFill>
                <a:latin typeface="Arial"/>
                <a:ea typeface="Arial"/>
                <a:cs typeface="Arial"/>
                <a:sym typeface="Arial"/>
              </a:rPr>
              <a:t> </a:t>
            </a:r>
            <a:r>
              <a:rPr lang="ar-EG" sz="2560" dirty="0">
                <a:solidFill>
                  <a:schemeClr val="accent4">
                    <a:lumMod val="40000"/>
                    <a:lumOff val="60000"/>
                  </a:schemeClr>
                </a:solidFill>
                <a:latin typeface="Arial"/>
                <a:ea typeface="Arial"/>
                <a:cs typeface="Arial"/>
                <a:sym typeface="Arial"/>
              </a:rPr>
              <a:t>– الأسكندرية - </a:t>
            </a:r>
            <a:r>
              <a:rPr lang="en-US" sz="2560" dirty="0" err="1">
                <a:solidFill>
                  <a:schemeClr val="accent4">
                    <a:lumMod val="40000"/>
                    <a:lumOff val="60000"/>
                  </a:schemeClr>
                </a:solidFill>
                <a:latin typeface="Arial"/>
                <a:ea typeface="Arial"/>
                <a:cs typeface="Arial"/>
                <a:sym typeface="Arial"/>
              </a:rPr>
              <a:t>الشرقية</a:t>
            </a:r>
            <a:r>
              <a:rPr lang="ar-EG" sz="2560" dirty="0">
                <a:solidFill>
                  <a:schemeClr val="accent4">
                    <a:lumMod val="40000"/>
                    <a:lumOff val="60000"/>
                  </a:schemeClr>
                </a:solidFill>
                <a:latin typeface="Arial"/>
                <a:ea typeface="Arial"/>
                <a:cs typeface="Arial"/>
                <a:sym typeface="Arial"/>
              </a:rPr>
              <a:t> - </a:t>
            </a:r>
            <a:r>
              <a:rPr lang="en-US" sz="2560" dirty="0" err="1">
                <a:solidFill>
                  <a:schemeClr val="accent4">
                    <a:lumMod val="40000"/>
                    <a:lumOff val="60000"/>
                  </a:schemeClr>
                </a:solidFill>
                <a:latin typeface="Arial"/>
                <a:ea typeface="Arial"/>
                <a:cs typeface="Arial"/>
                <a:sym typeface="Arial"/>
              </a:rPr>
              <a:t>المنوفية</a:t>
            </a:r>
            <a:r>
              <a:rPr lang="ar-EG" sz="2560" dirty="0">
                <a:solidFill>
                  <a:schemeClr val="accent4">
                    <a:lumMod val="40000"/>
                    <a:lumOff val="60000"/>
                  </a:schemeClr>
                </a:solidFill>
                <a:latin typeface="Arial"/>
                <a:ea typeface="Arial"/>
                <a:cs typeface="Arial"/>
                <a:sym typeface="Arial"/>
              </a:rPr>
              <a:t>)</a:t>
            </a:r>
            <a:endParaRPr sz="2560" dirty="0">
              <a:solidFill>
                <a:schemeClr val="accent4">
                  <a:lumMod val="40000"/>
                  <a:lumOff val="60000"/>
                </a:schemeClr>
              </a:solidFill>
              <a:latin typeface="Arial"/>
              <a:ea typeface="Arial"/>
              <a:cs typeface="Arial"/>
              <a:sym typeface="Arial"/>
            </a:endParaRPr>
          </a:p>
          <a:p>
            <a:pPr marL="45720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التوزيع</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لمعامل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ومصانع</a:t>
            </a:r>
            <a:r>
              <a:rPr lang="en-US" sz="2560" dirty="0">
                <a:solidFill>
                  <a:schemeClr val="accent4">
                    <a:lumMod val="40000"/>
                    <a:lumOff val="60000"/>
                  </a:schemeClr>
                </a:solidFill>
                <a:latin typeface="Arial"/>
                <a:ea typeface="Arial"/>
                <a:cs typeface="Arial"/>
                <a:sym typeface="Arial"/>
              </a:rPr>
              <a:t> في </a:t>
            </a:r>
            <a:r>
              <a:rPr lang="en-US" sz="2560" dirty="0" err="1">
                <a:solidFill>
                  <a:schemeClr val="accent4">
                    <a:lumMod val="40000"/>
                    <a:lumOff val="60000"/>
                  </a:schemeClr>
                </a:solidFill>
                <a:latin typeface="Arial"/>
                <a:ea typeface="Arial"/>
                <a:cs typeface="Arial"/>
                <a:sym typeface="Arial"/>
              </a:rPr>
              <a:t>الوجه</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البحري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والصعيد</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عبر</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الشحن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المباشر</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342900" indent="-342900" algn="r" rtl="1">
              <a:buClr>
                <a:srgbClr val="F9EEE7"/>
              </a:buClr>
              <a:buFont typeface="Arial" panose="020B0604020202020204" pitchFamily="34" charset="0"/>
              <a:buChar char="•"/>
            </a:pPr>
            <a:endParaRPr sz="2400" b="1" dirty="0">
              <a:solidFill>
                <a:schemeClr val="accent4">
                  <a:lumMod val="40000"/>
                  <a:lumOff val="60000"/>
                </a:schemeClr>
              </a:solidFill>
              <a:latin typeface="Arial"/>
              <a:ea typeface="Arial"/>
              <a:cs typeface="Arial"/>
              <a:sym typeface="Arial"/>
            </a:endParaRPr>
          </a:p>
        </p:txBody>
      </p:sp>
      <p:sp>
        <p:nvSpPr>
          <p:cNvPr id="446" name="Google Shape;446;p15"/>
          <p:cNvSpPr txBox="1"/>
          <p:nvPr/>
        </p:nvSpPr>
        <p:spPr>
          <a:xfrm>
            <a:off x="3600722" y="2074015"/>
            <a:ext cx="3495831" cy="5933900"/>
          </a:xfrm>
          <a:prstGeom prst="rect">
            <a:avLst/>
          </a:prstGeom>
          <a:noFill/>
          <a:ln>
            <a:noFill/>
          </a:ln>
        </p:spPr>
        <p:txBody>
          <a:bodyPr spcFirstLastPara="1" wrap="square" lIns="73140" tIns="36560" rIns="73140" bIns="36560" anchor="t" anchorCtr="0">
            <a:spAutoFit/>
          </a:bodyPr>
          <a:lstStyle/>
          <a:p>
            <a:pPr algn="r" rtl="1"/>
            <a:endParaRPr sz="2240" dirty="0">
              <a:solidFill>
                <a:schemeClr val="accent4">
                  <a:lumMod val="40000"/>
                  <a:lumOff val="60000"/>
                </a:schemeClr>
              </a:solidFill>
              <a:latin typeface="Arial"/>
              <a:ea typeface="Arial"/>
              <a:cs typeface="Arial"/>
              <a:sym typeface="Arial"/>
            </a:endParaRPr>
          </a:p>
          <a:p>
            <a:pPr algn="r" rtl="1">
              <a:buClr>
                <a:schemeClr val="dk1"/>
              </a:buClr>
              <a:buSzPts val="2800"/>
            </a:pPr>
            <a:r>
              <a:rPr lang="en-US" sz="2240" b="1" dirty="0" err="1">
                <a:solidFill>
                  <a:schemeClr val="accent4">
                    <a:lumMod val="40000"/>
                    <a:lumOff val="60000"/>
                  </a:schemeClr>
                </a:solidFill>
                <a:latin typeface="Arial"/>
                <a:ea typeface="Arial"/>
                <a:cs typeface="Arial"/>
                <a:sym typeface="Arial"/>
              </a:rPr>
              <a:t>العمر</a:t>
            </a:r>
            <a:r>
              <a:rPr lang="en-US" sz="2240" b="1" dirty="0">
                <a:solidFill>
                  <a:schemeClr val="accent4">
                    <a:lumMod val="40000"/>
                    <a:lumOff val="60000"/>
                  </a:schemeClr>
                </a:solidFill>
                <a:latin typeface="Arial"/>
                <a:ea typeface="Arial"/>
                <a:cs typeface="Arial"/>
                <a:sym typeface="Arial"/>
              </a:rPr>
              <a:t>:</a:t>
            </a:r>
            <a:r>
              <a:rPr lang="ar-EG" sz="2240" b="1" dirty="0">
                <a:solidFill>
                  <a:schemeClr val="accent4">
                    <a:lumMod val="40000"/>
                    <a:lumOff val="60000"/>
                  </a:schemeClr>
                </a:solidFill>
                <a:latin typeface="Arial"/>
                <a:ea typeface="Arial"/>
                <a:cs typeface="Arial"/>
                <a:sym typeface="Arial"/>
              </a:rPr>
              <a:t> </a:t>
            </a:r>
          </a:p>
          <a:p>
            <a:pPr marL="342900" indent="-342900" algn="r" rtl="1">
              <a:buClr>
                <a:srgbClr val="F9EEE7"/>
              </a:buClr>
              <a:buSzPts val="2800"/>
              <a:buFont typeface="Arial" panose="020B0604020202020204" pitchFamily="34" charset="0"/>
              <a:buChar char="•"/>
            </a:pPr>
            <a:r>
              <a:rPr lang="ar-EG" sz="2240" b="1" dirty="0">
                <a:solidFill>
                  <a:schemeClr val="accent4">
                    <a:lumMod val="40000"/>
                    <a:lumOff val="60000"/>
                  </a:schemeClr>
                </a:solidFill>
                <a:latin typeface="Arial"/>
                <a:ea typeface="Arial"/>
                <a:cs typeface="Arial"/>
                <a:sym typeface="Arial"/>
              </a:rPr>
              <a:t>من 25 ل 60 سنة</a:t>
            </a:r>
          </a:p>
          <a:p>
            <a:pPr algn="r" rtl="1">
              <a:buClr>
                <a:schemeClr val="dk1"/>
              </a:buClr>
              <a:buSzPts val="2800"/>
            </a:pPr>
            <a:endParaRPr sz="2240" dirty="0">
              <a:solidFill>
                <a:schemeClr val="accent4">
                  <a:lumMod val="40000"/>
                  <a:lumOff val="60000"/>
                </a:schemeClr>
              </a:solidFill>
              <a:latin typeface="Arial"/>
              <a:ea typeface="Arial"/>
              <a:cs typeface="Arial"/>
              <a:sym typeface="Arial"/>
            </a:endParaRPr>
          </a:p>
          <a:p>
            <a:pPr algn="r" rtl="1">
              <a:buClr>
                <a:schemeClr val="dk1"/>
              </a:buClr>
              <a:buSzPts val="2800"/>
            </a:pPr>
            <a:r>
              <a:rPr lang="en-US" sz="2240" b="1" dirty="0" err="1">
                <a:solidFill>
                  <a:schemeClr val="accent4">
                    <a:lumMod val="40000"/>
                    <a:lumOff val="60000"/>
                  </a:schemeClr>
                </a:solidFill>
                <a:latin typeface="Arial"/>
                <a:ea typeface="Arial"/>
                <a:cs typeface="Arial"/>
                <a:sym typeface="Arial"/>
              </a:rPr>
              <a:t>النوع</a:t>
            </a:r>
            <a:r>
              <a:rPr lang="en-US" sz="2240" b="1" dirty="0">
                <a:solidFill>
                  <a:schemeClr val="accent4">
                    <a:lumMod val="40000"/>
                    <a:lumOff val="60000"/>
                  </a:schemeClr>
                </a:solidFill>
                <a:latin typeface="Arial"/>
                <a:ea typeface="Arial"/>
                <a:cs typeface="Arial"/>
                <a:sym typeface="Arial"/>
              </a:rPr>
              <a:t>:</a:t>
            </a:r>
            <a:endParaRPr sz="2240" dirty="0">
              <a:solidFill>
                <a:schemeClr val="accent4">
                  <a:lumMod val="40000"/>
                  <a:lumOff val="60000"/>
                </a:schemeClr>
              </a:solidFill>
              <a:latin typeface="Arial"/>
              <a:ea typeface="Arial"/>
              <a:cs typeface="Arial"/>
              <a:sym typeface="Arial"/>
            </a:endParaRPr>
          </a:p>
          <a:p>
            <a:pPr marL="566420" lvl="1" indent="-342900" algn="r" rtl="1">
              <a:buClr>
                <a:srgbClr val="F9EEE7"/>
              </a:buClr>
              <a:buSzPts val="2800"/>
              <a:buFont typeface="Arial" panose="020B0604020202020204" pitchFamily="34" charset="0"/>
              <a:buChar char="•"/>
            </a:pPr>
            <a:r>
              <a:rPr lang="en-US" sz="2240" dirty="0" err="1">
                <a:solidFill>
                  <a:schemeClr val="accent4">
                    <a:lumMod val="40000"/>
                    <a:lumOff val="60000"/>
                  </a:schemeClr>
                </a:solidFill>
                <a:latin typeface="Arial"/>
                <a:ea typeface="Arial"/>
                <a:cs typeface="Arial"/>
                <a:sym typeface="Arial"/>
              </a:rPr>
              <a:t>ذكور</a:t>
            </a:r>
            <a:r>
              <a:rPr lang="ar-EG" sz="2240" dirty="0">
                <a:solidFill>
                  <a:schemeClr val="accent4">
                    <a:lumMod val="40000"/>
                    <a:lumOff val="60000"/>
                  </a:schemeClr>
                </a:solidFill>
                <a:latin typeface="Arial"/>
                <a:ea typeface="Arial"/>
                <a:cs typeface="Arial"/>
                <a:sym typeface="Arial"/>
              </a:rPr>
              <a:t>: 85%</a:t>
            </a:r>
            <a:endParaRPr lang="en-US" sz="2240" dirty="0">
              <a:solidFill>
                <a:schemeClr val="accent4">
                  <a:lumMod val="40000"/>
                  <a:lumOff val="60000"/>
                </a:schemeClr>
              </a:solidFill>
              <a:latin typeface="Arial"/>
              <a:ea typeface="Arial"/>
              <a:cs typeface="Arial"/>
              <a:sym typeface="Arial"/>
            </a:endParaRPr>
          </a:p>
          <a:p>
            <a:pPr marL="566420" lvl="1" indent="-342900" algn="r" rtl="1">
              <a:buClr>
                <a:srgbClr val="F9EEE7"/>
              </a:buClr>
              <a:buSzPts val="2800"/>
              <a:buFont typeface="Arial" panose="020B0604020202020204" pitchFamily="34" charset="0"/>
              <a:buChar char="•"/>
            </a:pPr>
            <a:r>
              <a:rPr lang="en-US" sz="2240" dirty="0" err="1">
                <a:solidFill>
                  <a:schemeClr val="accent4">
                    <a:lumMod val="40000"/>
                    <a:lumOff val="60000"/>
                  </a:schemeClr>
                </a:solidFill>
                <a:latin typeface="Arial"/>
                <a:ea typeface="Arial"/>
                <a:cs typeface="Arial"/>
                <a:sym typeface="Arial"/>
              </a:rPr>
              <a:t>إناث</a:t>
            </a:r>
            <a:r>
              <a:rPr lang="ar-EG" sz="2240" dirty="0">
                <a:solidFill>
                  <a:schemeClr val="accent4">
                    <a:lumMod val="40000"/>
                    <a:lumOff val="60000"/>
                  </a:schemeClr>
                </a:solidFill>
                <a:latin typeface="Arial"/>
                <a:ea typeface="Arial"/>
                <a:cs typeface="Arial"/>
                <a:sym typeface="Arial"/>
              </a:rPr>
              <a:t>: 15 %</a:t>
            </a:r>
          </a:p>
          <a:p>
            <a:pPr marL="223520" lvl="1" algn="r" rtl="1">
              <a:buClr>
                <a:schemeClr val="dk1"/>
              </a:buClr>
              <a:buSzPts val="2800"/>
            </a:pPr>
            <a:endParaRPr sz="2240" dirty="0">
              <a:solidFill>
                <a:schemeClr val="accent4">
                  <a:lumMod val="40000"/>
                  <a:lumOff val="60000"/>
                </a:schemeClr>
              </a:solidFill>
              <a:latin typeface="Arial"/>
              <a:ea typeface="Arial"/>
              <a:cs typeface="Arial"/>
              <a:sym typeface="Arial"/>
            </a:endParaRPr>
          </a:p>
          <a:p>
            <a:pPr algn="r" rtl="1">
              <a:buClr>
                <a:schemeClr val="dk1"/>
              </a:buClr>
              <a:buSzPts val="2800"/>
            </a:pPr>
            <a:r>
              <a:rPr lang="en-US" sz="2240" b="1" dirty="0" err="1">
                <a:solidFill>
                  <a:schemeClr val="accent4">
                    <a:lumMod val="40000"/>
                    <a:lumOff val="60000"/>
                  </a:schemeClr>
                </a:solidFill>
                <a:latin typeface="Arial"/>
                <a:ea typeface="Arial"/>
                <a:cs typeface="Arial"/>
                <a:sym typeface="Arial"/>
              </a:rPr>
              <a:t>المستوى</a:t>
            </a:r>
            <a:r>
              <a:rPr lang="en-US" sz="2240" b="1" dirty="0">
                <a:solidFill>
                  <a:schemeClr val="accent4">
                    <a:lumMod val="40000"/>
                    <a:lumOff val="60000"/>
                  </a:schemeClr>
                </a:solidFill>
                <a:latin typeface="Arial"/>
                <a:ea typeface="Arial"/>
                <a:cs typeface="Arial"/>
                <a:sym typeface="Arial"/>
              </a:rPr>
              <a:t> </a:t>
            </a:r>
            <a:r>
              <a:rPr lang="en-US" sz="2240" b="1" dirty="0" err="1">
                <a:solidFill>
                  <a:schemeClr val="accent4">
                    <a:lumMod val="40000"/>
                    <a:lumOff val="60000"/>
                  </a:schemeClr>
                </a:solidFill>
                <a:latin typeface="Arial"/>
                <a:ea typeface="Arial"/>
                <a:cs typeface="Arial"/>
                <a:sym typeface="Arial"/>
              </a:rPr>
              <a:t>التعليمي</a:t>
            </a:r>
            <a:r>
              <a:rPr lang="en-US" sz="2240" b="1" dirty="0">
                <a:solidFill>
                  <a:schemeClr val="accent4">
                    <a:lumMod val="40000"/>
                    <a:lumOff val="60000"/>
                  </a:schemeClr>
                </a:solidFill>
                <a:latin typeface="Arial"/>
                <a:ea typeface="Arial"/>
                <a:cs typeface="Arial"/>
                <a:sym typeface="Arial"/>
              </a:rPr>
              <a:t>:</a:t>
            </a:r>
            <a:r>
              <a:rPr lang="en-US" sz="2240" dirty="0">
                <a:solidFill>
                  <a:schemeClr val="accent4">
                    <a:lumMod val="40000"/>
                    <a:lumOff val="60000"/>
                  </a:schemeClr>
                </a:solidFill>
                <a:latin typeface="Arial"/>
                <a:ea typeface="Arial"/>
                <a:cs typeface="Arial"/>
                <a:sym typeface="Arial"/>
              </a:rPr>
              <a:t> </a:t>
            </a:r>
            <a:endParaRPr lang="ar-EG" sz="2240" dirty="0">
              <a:solidFill>
                <a:schemeClr val="accent4">
                  <a:lumMod val="40000"/>
                  <a:lumOff val="60000"/>
                </a:schemeClr>
              </a:solidFill>
              <a:latin typeface="Arial"/>
              <a:ea typeface="Arial"/>
              <a:cs typeface="Arial"/>
              <a:sym typeface="Arial"/>
            </a:endParaRPr>
          </a:p>
          <a:p>
            <a:pPr marL="342900" indent="-342900" algn="r" rtl="1">
              <a:buClr>
                <a:srgbClr val="F9EEE7"/>
              </a:buClr>
              <a:buSzPts val="2800"/>
              <a:buFont typeface="Arial" panose="020B0604020202020204" pitchFamily="34" charset="0"/>
              <a:buChar char="•"/>
            </a:pPr>
            <a:r>
              <a:rPr lang="en-US" sz="2240" dirty="0" err="1">
                <a:solidFill>
                  <a:schemeClr val="accent4">
                    <a:lumMod val="40000"/>
                    <a:lumOff val="60000"/>
                  </a:schemeClr>
                </a:solidFill>
                <a:latin typeface="Arial"/>
                <a:ea typeface="Arial"/>
                <a:cs typeface="Arial"/>
                <a:sym typeface="Arial"/>
              </a:rPr>
              <a:t>أقل</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من</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المتوسط</a:t>
            </a:r>
            <a:r>
              <a:rPr lang="en-US" sz="2240" dirty="0">
                <a:solidFill>
                  <a:schemeClr val="accent4">
                    <a:lumMod val="40000"/>
                    <a:lumOff val="60000"/>
                  </a:schemeClr>
                </a:solidFill>
                <a:latin typeface="Arial"/>
                <a:ea typeface="Arial"/>
                <a:cs typeface="Arial"/>
                <a:sym typeface="Arial"/>
              </a:rPr>
              <a:t> إلى </a:t>
            </a:r>
            <a:r>
              <a:rPr lang="en-US" sz="2240" dirty="0" err="1">
                <a:solidFill>
                  <a:schemeClr val="accent4">
                    <a:lumMod val="40000"/>
                    <a:lumOff val="60000"/>
                  </a:schemeClr>
                </a:solidFill>
                <a:latin typeface="Arial"/>
                <a:ea typeface="Arial"/>
                <a:cs typeface="Arial"/>
                <a:sym typeface="Arial"/>
              </a:rPr>
              <a:t>المتوسط</a:t>
            </a:r>
            <a:r>
              <a:rPr lang="en-US" sz="224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algn="r" rtl="1">
              <a:buClr>
                <a:schemeClr val="dk1"/>
              </a:buClr>
              <a:buSzPts val="2800"/>
            </a:pPr>
            <a:endParaRPr sz="2240" dirty="0">
              <a:solidFill>
                <a:schemeClr val="accent4">
                  <a:lumMod val="40000"/>
                  <a:lumOff val="60000"/>
                </a:schemeClr>
              </a:solidFill>
              <a:latin typeface="Arial"/>
              <a:ea typeface="Arial"/>
              <a:cs typeface="Arial"/>
              <a:sym typeface="Arial"/>
            </a:endParaRPr>
          </a:p>
          <a:p>
            <a:pPr algn="r" rtl="1">
              <a:buClr>
                <a:schemeClr val="dk1"/>
              </a:buClr>
              <a:buSzPts val="2800"/>
            </a:pPr>
            <a:r>
              <a:rPr lang="en-US" sz="2240" b="1" dirty="0" err="1">
                <a:solidFill>
                  <a:schemeClr val="accent4">
                    <a:lumMod val="40000"/>
                    <a:lumOff val="60000"/>
                  </a:schemeClr>
                </a:solidFill>
                <a:latin typeface="Arial"/>
                <a:ea typeface="Arial"/>
                <a:cs typeface="Arial"/>
                <a:sym typeface="Arial"/>
              </a:rPr>
              <a:t>المستوى</a:t>
            </a:r>
            <a:r>
              <a:rPr lang="en-US" sz="2240" b="1" dirty="0">
                <a:solidFill>
                  <a:schemeClr val="accent4">
                    <a:lumMod val="40000"/>
                    <a:lumOff val="60000"/>
                  </a:schemeClr>
                </a:solidFill>
                <a:latin typeface="Arial"/>
                <a:ea typeface="Arial"/>
                <a:cs typeface="Arial"/>
                <a:sym typeface="Arial"/>
              </a:rPr>
              <a:t> </a:t>
            </a:r>
            <a:r>
              <a:rPr lang="en-US" sz="2240" b="1" dirty="0" err="1">
                <a:solidFill>
                  <a:schemeClr val="accent4">
                    <a:lumMod val="40000"/>
                    <a:lumOff val="60000"/>
                  </a:schemeClr>
                </a:solidFill>
                <a:latin typeface="Arial"/>
                <a:ea typeface="Arial"/>
                <a:cs typeface="Arial"/>
                <a:sym typeface="Arial"/>
              </a:rPr>
              <a:t>الاقتصادي</a:t>
            </a:r>
            <a:r>
              <a:rPr lang="en-US" sz="2240" b="1" dirty="0">
                <a:solidFill>
                  <a:schemeClr val="accent4">
                    <a:lumMod val="40000"/>
                    <a:lumOff val="60000"/>
                  </a:schemeClr>
                </a:solidFill>
                <a:latin typeface="Arial"/>
                <a:ea typeface="Arial"/>
                <a:cs typeface="Arial"/>
                <a:sym typeface="Arial"/>
              </a:rPr>
              <a:t>:</a:t>
            </a:r>
            <a:r>
              <a:rPr lang="en-US" sz="2240" dirty="0">
                <a:solidFill>
                  <a:schemeClr val="accent4">
                    <a:lumMod val="40000"/>
                    <a:lumOff val="60000"/>
                  </a:schemeClr>
                </a:solidFill>
                <a:latin typeface="Arial"/>
                <a:ea typeface="Arial"/>
                <a:cs typeface="Arial"/>
                <a:sym typeface="Arial"/>
              </a:rPr>
              <a:t> </a:t>
            </a:r>
            <a:endParaRPr lang="ar-EG" sz="2240" dirty="0">
              <a:solidFill>
                <a:schemeClr val="accent4">
                  <a:lumMod val="40000"/>
                  <a:lumOff val="60000"/>
                </a:schemeClr>
              </a:solidFill>
              <a:latin typeface="Arial"/>
              <a:ea typeface="Arial"/>
              <a:cs typeface="Arial"/>
              <a:sym typeface="Arial"/>
            </a:endParaRPr>
          </a:p>
          <a:p>
            <a:pPr marL="342900" indent="-342900" algn="r" rtl="1">
              <a:buClr>
                <a:srgbClr val="F9EEE7"/>
              </a:buClr>
              <a:buSzPts val="2800"/>
              <a:buFont typeface="Arial" panose="020B0604020202020204" pitchFamily="34" charset="0"/>
              <a:buChar char="•"/>
            </a:pPr>
            <a:r>
              <a:rPr lang="en-US" sz="2240" dirty="0" err="1">
                <a:solidFill>
                  <a:schemeClr val="accent4">
                    <a:lumMod val="40000"/>
                    <a:lumOff val="60000"/>
                  </a:schemeClr>
                </a:solidFill>
                <a:latin typeface="Arial"/>
                <a:ea typeface="Arial"/>
                <a:cs typeface="Arial"/>
                <a:sym typeface="Arial"/>
              </a:rPr>
              <a:t>من</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الطبقة</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المتوسطة</a:t>
            </a:r>
            <a:r>
              <a:rPr lang="en-US" sz="2240" dirty="0">
                <a:solidFill>
                  <a:schemeClr val="accent4">
                    <a:lumMod val="40000"/>
                    <a:lumOff val="60000"/>
                  </a:schemeClr>
                </a:solidFill>
                <a:latin typeface="Arial"/>
                <a:ea typeface="Arial"/>
                <a:cs typeface="Arial"/>
                <a:sym typeface="Arial"/>
              </a:rPr>
              <a:t> إلى </a:t>
            </a:r>
            <a:r>
              <a:rPr lang="en-US" sz="2240" dirty="0" err="1">
                <a:solidFill>
                  <a:schemeClr val="accent4">
                    <a:lumMod val="40000"/>
                    <a:lumOff val="60000"/>
                  </a:schemeClr>
                </a:solidFill>
                <a:latin typeface="Arial"/>
                <a:ea typeface="Arial"/>
                <a:cs typeface="Arial"/>
                <a:sym typeface="Arial"/>
              </a:rPr>
              <a:t>العالية</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خصوصاً</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الفئات</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الباحثة</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عن</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منتجات</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عالية</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الجودة</a:t>
            </a:r>
            <a:r>
              <a:rPr lang="en-US" sz="2240" dirty="0">
                <a:solidFill>
                  <a:schemeClr val="accent4">
                    <a:lumMod val="40000"/>
                    <a:lumOff val="60000"/>
                  </a:schemeClr>
                </a:solidFill>
                <a:latin typeface="Arial"/>
                <a:ea typeface="Arial"/>
                <a:cs typeface="Arial"/>
                <a:sym typeface="Arial"/>
              </a:rPr>
              <a:t> </a:t>
            </a:r>
            <a:r>
              <a:rPr lang="en-US" sz="2240" dirty="0" err="1">
                <a:solidFill>
                  <a:schemeClr val="accent4">
                    <a:lumMod val="40000"/>
                    <a:lumOff val="60000"/>
                  </a:schemeClr>
                </a:solidFill>
                <a:latin typeface="Arial"/>
                <a:ea typeface="Arial"/>
                <a:cs typeface="Arial"/>
                <a:sym typeface="Arial"/>
              </a:rPr>
              <a:t>وموثوقة</a:t>
            </a:r>
            <a:r>
              <a:rPr lang="en-US" sz="224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algn="r" rtl="1"/>
            <a:endParaRPr sz="2240" dirty="0">
              <a:solidFill>
                <a:schemeClr val="accent4">
                  <a:lumMod val="40000"/>
                  <a:lumOff val="60000"/>
                </a:schemeClr>
              </a:solidFill>
              <a:latin typeface="Arial"/>
              <a:ea typeface="Arial"/>
              <a:cs typeface="Arial"/>
              <a:sym typeface="Arial"/>
            </a:endParaRPr>
          </a:p>
          <a:p>
            <a:pPr algn="r" rtl="1"/>
            <a:endParaRPr sz="2240" b="1" dirty="0">
              <a:solidFill>
                <a:schemeClr val="accent4">
                  <a:lumMod val="40000"/>
                  <a:lumOff val="60000"/>
                </a:schemeClr>
              </a:solidFill>
              <a:latin typeface="Arial"/>
              <a:ea typeface="Arial"/>
              <a:cs typeface="Arial"/>
              <a:sym typeface="Arial"/>
            </a:endParaRPr>
          </a:p>
        </p:txBody>
      </p:sp>
      <p:sp>
        <p:nvSpPr>
          <p:cNvPr id="447" name="Google Shape;447;p15"/>
          <p:cNvSpPr txBox="1"/>
          <p:nvPr/>
        </p:nvSpPr>
        <p:spPr>
          <a:xfrm>
            <a:off x="7294985" y="2410476"/>
            <a:ext cx="3335257" cy="5983144"/>
          </a:xfrm>
          <a:prstGeom prst="rect">
            <a:avLst/>
          </a:prstGeom>
          <a:noFill/>
          <a:ln>
            <a:noFill/>
          </a:ln>
        </p:spPr>
        <p:txBody>
          <a:bodyPr spcFirstLastPara="1" wrap="square" lIns="73140" tIns="36560" rIns="73140" bIns="36560" anchor="t" anchorCtr="0">
            <a:spAutoFit/>
          </a:bodyPr>
          <a:lstStyle/>
          <a:p>
            <a:pPr marL="29464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يستخدمون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الأجهزة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بشكل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يومي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لتحليل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اللبن</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marL="29464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حساسون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للجودة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والدقة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لأن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أي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خطأ</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يؤثر</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على</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الإنتاج</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marL="29464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يميلون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لتكرار</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الشراء</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من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المورد</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الذي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يقدم</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صيانة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وقطع</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غيار</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أصلية</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marL="294640" indent="-457200" algn="r" rtl="1">
              <a:buClr>
                <a:srgbClr val="F9EEE7"/>
              </a:buClr>
              <a:buSzPts val="3200"/>
              <a:buFont typeface="Arial" panose="020B0604020202020204" pitchFamily="34" charset="0"/>
              <a:buChar char="•"/>
            </a:pPr>
            <a:r>
              <a:rPr lang="en-US" sz="2560" dirty="0" err="1">
                <a:solidFill>
                  <a:schemeClr val="accent4">
                    <a:lumMod val="40000"/>
                    <a:lumOff val="60000"/>
                  </a:schemeClr>
                </a:solidFill>
                <a:latin typeface="Arial"/>
                <a:ea typeface="Arial"/>
                <a:cs typeface="Arial"/>
                <a:sym typeface="Arial"/>
              </a:rPr>
              <a:t>يستجيبون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للعروض</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الخاصة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مثل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صيانة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مجانية</a:t>
            </a:r>
            <a:r>
              <a:rPr lang="en-US" sz="2560" dirty="0">
                <a:solidFill>
                  <a:schemeClr val="accent4">
                    <a:lumMod val="40000"/>
                    <a:lumOff val="60000"/>
                  </a:schemeClr>
                </a:solidFill>
                <a:latin typeface="Arial"/>
                <a:ea typeface="Arial"/>
                <a:cs typeface="Arial"/>
                <a:sym typeface="Arial"/>
              </a:rPr>
              <a:t> أول </a:t>
            </a:r>
            <a:r>
              <a:rPr lang="en-US" sz="2560" dirty="0" err="1">
                <a:solidFill>
                  <a:schemeClr val="accent4">
                    <a:lumMod val="40000"/>
                    <a:lumOff val="60000"/>
                  </a:schemeClr>
                </a:solidFill>
                <a:latin typeface="Arial"/>
                <a:ea typeface="Arial"/>
                <a:cs typeface="Arial"/>
                <a:sym typeface="Arial"/>
              </a:rPr>
              <a:t>شهر</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Font typeface="Arial" panose="020B0604020202020204" pitchFamily="34" charset="0"/>
              <a:buChar char="•"/>
            </a:pPr>
            <a:endParaRPr sz="2560" b="1" dirty="0">
              <a:solidFill>
                <a:schemeClr val="accent4">
                  <a:lumMod val="40000"/>
                  <a:lumOff val="60000"/>
                </a:schemeClr>
              </a:solidFill>
              <a:latin typeface="Arial"/>
              <a:ea typeface="Arial"/>
              <a:cs typeface="Arial"/>
              <a:sym typeface="Arial"/>
            </a:endParaRPr>
          </a:p>
        </p:txBody>
      </p:sp>
      <p:sp>
        <p:nvSpPr>
          <p:cNvPr id="448" name="Google Shape;448;p15"/>
          <p:cNvSpPr txBox="1"/>
          <p:nvPr/>
        </p:nvSpPr>
        <p:spPr>
          <a:xfrm>
            <a:off x="11013545" y="2485415"/>
            <a:ext cx="3429468" cy="5195236"/>
          </a:xfrm>
          <a:prstGeom prst="rect">
            <a:avLst/>
          </a:prstGeom>
          <a:noFill/>
          <a:ln>
            <a:noFill/>
          </a:ln>
        </p:spPr>
        <p:txBody>
          <a:bodyPr spcFirstLastPara="1" wrap="square" lIns="73140" tIns="36560" rIns="73140" bIns="36560" anchor="t" anchorCtr="0">
            <a:spAutoFit/>
          </a:bodyPr>
          <a:lstStyle/>
          <a:p>
            <a:pPr indent="-162560" algn="r" rtl="1">
              <a:buClr>
                <a:srgbClr val="F9EEE7"/>
              </a:buClr>
              <a:buSzPts val="3200"/>
              <a:buFont typeface="Arial"/>
              <a:buChar char="•"/>
            </a:pPr>
            <a:r>
              <a:rPr lang="en-US" sz="2560" dirty="0" err="1">
                <a:solidFill>
                  <a:schemeClr val="accent4">
                    <a:lumMod val="40000"/>
                    <a:lumOff val="60000"/>
                  </a:schemeClr>
                </a:solidFill>
                <a:latin typeface="Arial"/>
                <a:ea typeface="Arial"/>
                <a:cs typeface="Arial"/>
                <a:sym typeface="Arial"/>
              </a:rPr>
              <a:t>يبحثون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عن</a:t>
            </a:r>
            <a:r>
              <a:rPr lang="en-US" sz="2560"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الدقة</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والجودة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لتفادي</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الخسائر</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الناتجة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عن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الغش</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indent="-162560" algn="r" rtl="1">
              <a:buClr>
                <a:srgbClr val="F9EEE7"/>
              </a:buClr>
              <a:buSzPts val="3200"/>
              <a:buFont typeface="Arial"/>
              <a:buChar char="•"/>
            </a:pPr>
            <a:r>
              <a:rPr lang="en-US" sz="2560" dirty="0" err="1">
                <a:solidFill>
                  <a:schemeClr val="accent4">
                    <a:lumMod val="40000"/>
                    <a:lumOff val="60000"/>
                  </a:schemeClr>
                </a:solidFill>
                <a:latin typeface="Arial"/>
                <a:ea typeface="Arial"/>
                <a:cs typeface="Arial"/>
                <a:sym typeface="Arial"/>
              </a:rPr>
              <a:t>يقدّرون</a:t>
            </a:r>
            <a:r>
              <a:rPr lang="en-US" sz="2560"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الضمان</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وخدمة</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ما</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بعد</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البيع</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indent="-162560" algn="r" rtl="1">
              <a:buClr>
                <a:srgbClr val="F9EEE7"/>
              </a:buClr>
              <a:buSzPts val="3200"/>
              <a:buFont typeface="Arial"/>
              <a:buChar char="•"/>
            </a:pPr>
            <a:r>
              <a:rPr lang="en-US" sz="2560" dirty="0" err="1">
                <a:solidFill>
                  <a:schemeClr val="accent4">
                    <a:lumMod val="40000"/>
                    <a:lumOff val="60000"/>
                  </a:schemeClr>
                </a:solidFill>
                <a:latin typeface="Arial"/>
                <a:ea typeface="Arial"/>
                <a:cs typeface="Arial"/>
                <a:sym typeface="Arial"/>
              </a:rPr>
              <a:t>يميلون</a:t>
            </a:r>
            <a:r>
              <a:rPr lang="en-US" sz="2560" dirty="0">
                <a:solidFill>
                  <a:schemeClr val="accent4">
                    <a:lumMod val="40000"/>
                    <a:lumOff val="60000"/>
                  </a:schemeClr>
                </a:solidFill>
                <a:latin typeface="Arial"/>
                <a:ea typeface="Arial"/>
                <a:cs typeface="Arial"/>
                <a:sym typeface="Arial"/>
              </a:rPr>
              <a:t> إلى </a:t>
            </a:r>
            <a:r>
              <a:rPr lang="en-US" sz="2560" dirty="0" err="1">
                <a:solidFill>
                  <a:schemeClr val="accent4">
                    <a:lumMod val="40000"/>
                    <a:lumOff val="60000"/>
                  </a:schemeClr>
                </a:solidFill>
                <a:latin typeface="Arial"/>
                <a:ea typeface="Arial"/>
                <a:cs typeface="Arial"/>
                <a:sym typeface="Arial"/>
              </a:rPr>
              <a:t>الحلول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العملية</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التي</a:t>
            </a:r>
            <a:r>
              <a:rPr lang="en-US" sz="2560"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توفير</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الوقت</a:t>
            </a:r>
            <a:r>
              <a:rPr lang="en-US" sz="2560" b="1" dirty="0">
                <a:solidFill>
                  <a:schemeClr val="accent4">
                    <a:lumMod val="40000"/>
                    <a:lumOff val="60000"/>
                  </a:schemeClr>
                </a:solidFill>
                <a:latin typeface="Arial"/>
                <a:ea typeface="Arial"/>
                <a:cs typeface="Arial"/>
                <a:sym typeface="Arial"/>
              </a:rPr>
              <a:t> </a:t>
            </a:r>
            <a:r>
              <a:rPr lang="en-US" sz="2560" b="1" dirty="0" err="1">
                <a:solidFill>
                  <a:schemeClr val="accent4">
                    <a:lumMod val="40000"/>
                    <a:lumOff val="60000"/>
                  </a:schemeClr>
                </a:solidFill>
                <a:latin typeface="Arial"/>
                <a:ea typeface="Arial"/>
                <a:cs typeface="Arial"/>
                <a:sym typeface="Arial"/>
              </a:rPr>
              <a:t>والجهد</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SzPts val="3200"/>
              <a:buFont typeface="Arial" panose="020B0604020202020204" pitchFamily="34" charset="0"/>
              <a:buChar char="•"/>
            </a:pPr>
            <a:endParaRPr sz="2560" dirty="0">
              <a:solidFill>
                <a:schemeClr val="accent4">
                  <a:lumMod val="40000"/>
                  <a:lumOff val="60000"/>
                </a:schemeClr>
              </a:solidFill>
              <a:latin typeface="Arial"/>
              <a:ea typeface="Arial"/>
              <a:cs typeface="Arial"/>
              <a:sym typeface="Arial"/>
            </a:endParaRPr>
          </a:p>
          <a:p>
            <a:pPr indent="-162560" algn="r" rtl="1">
              <a:buClr>
                <a:srgbClr val="F9EEE7"/>
              </a:buClr>
              <a:buSzPts val="3200"/>
              <a:buFont typeface="Arial"/>
              <a:buChar char="•"/>
            </a:pPr>
            <a:r>
              <a:rPr lang="en-US" sz="2560" dirty="0" err="1">
                <a:solidFill>
                  <a:schemeClr val="accent4">
                    <a:lumMod val="40000"/>
                    <a:lumOff val="60000"/>
                  </a:schemeClr>
                </a:solidFill>
                <a:latin typeface="Arial"/>
                <a:ea typeface="Arial"/>
                <a:cs typeface="Arial"/>
                <a:sym typeface="Arial"/>
              </a:rPr>
              <a:t>لديهم</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قلق</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من</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مشاكل</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الكهرباء</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وتأثيرها</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على</a:t>
            </a:r>
            <a:r>
              <a:rPr lang="en-US" sz="2560" dirty="0">
                <a:solidFill>
                  <a:schemeClr val="accent4">
                    <a:lumMod val="40000"/>
                    <a:lumOff val="60000"/>
                  </a:schemeClr>
                </a:solidFill>
                <a:latin typeface="Arial"/>
                <a:ea typeface="Arial"/>
                <a:cs typeface="Arial"/>
                <a:sym typeface="Arial"/>
              </a:rPr>
              <a:t> </a:t>
            </a:r>
            <a:r>
              <a:rPr lang="en-US" sz="2560" dirty="0" err="1">
                <a:solidFill>
                  <a:schemeClr val="accent4">
                    <a:lumMod val="40000"/>
                    <a:lumOff val="60000"/>
                  </a:schemeClr>
                </a:solidFill>
                <a:latin typeface="Arial"/>
                <a:ea typeface="Arial"/>
                <a:cs typeface="Arial"/>
                <a:sym typeface="Arial"/>
              </a:rPr>
              <a:t>الأجهزة</a:t>
            </a:r>
            <a:r>
              <a:rPr lang="en-US" sz="2560" dirty="0">
                <a:solidFill>
                  <a:schemeClr val="accent4">
                    <a:lumMod val="40000"/>
                    <a:lumOff val="60000"/>
                  </a:schemeClr>
                </a:solidFill>
                <a:latin typeface="Arial"/>
                <a:ea typeface="Arial"/>
                <a:cs typeface="Arial"/>
                <a:sym typeface="Arial"/>
              </a:rPr>
              <a:t>.</a:t>
            </a:r>
            <a:endParaRPr sz="1440" dirty="0">
              <a:solidFill>
                <a:schemeClr val="accent4">
                  <a:lumMod val="40000"/>
                  <a:lumOff val="60000"/>
                </a:schemeClr>
              </a:solidFill>
            </a:endParaRPr>
          </a:p>
          <a:p>
            <a:pPr marL="457200" indent="-457200" algn="r" rtl="1">
              <a:buClr>
                <a:srgbClr val="F9EEE7"/>
              </a:buClr>
              <a:buFont typeface="Arial" panose="020B0604020202020204" pitchFamily="34" charset="0"/>
              <a:buChar char="•"/>
            </a:pPr>
            <a:endParaRPr sz="2560" b="1" dirty="0">
              <a:solidFill>
                <a:schemeClr val="accent4">
                  <a:lumMod val="40000"/>
                  <a:lumOff val="60000"/>
                </a:schemeClr>
              </a:solidFill>
              <a:latin typeface="Arial"/>
              <a:ea typeface="Arial"/>
              <a:cs typeface="Arial"/>
              <a:sym typeface="Arial"/>
            </a:endParaRPr>
          </a:p>
        </p:txBody>
      </p:sp>
      <p:sp>
        <p:nvSpPr>
          <p:cNvPr id="449" name="Google Shape;449;p15"/>
          <p:cNvSpPr txBox="1"/>
          <p:nvPr/>
        </p:nvSpPr>
        <p:spPr>
          <a:xfrm>
            <a:off x="1" y="1353932"/>
            <a:ext cx="3434871" cy="566277"/>
          </a:xfrm>
          <a:prstGeom prst="rect">
            <a:avLst/>
          </a:prstGeom>
          <a:noFill/>
          <a:ln>
            <a:noFill/>
          </a:ln>
        </p:spPr>
        <p:txBody>
          <a:bodyPr spcFirstLastPara="1" wrap="square" lIns="73140" tIns="36560" rIns="73140" bIns="36560" anchor="t" anchorCtr="0">
            <a:spAutoFit/>
          </a:bodyPr>
          <a:lstStyle/>
          <a:p>
            <a:pPr algn="ctr"/>
            <a:r>
              <a:rPr lang="en-US" sz="3200" b="1" dirty="0">
                <a:solidFill>
                  <a:srgbClr val="F9EEE7"/>
                </a:solidFill>
                <a:latin typeface="Arial Rounded"/>
                <a:ea typeface="Arial Rounded"/>
                <a:cs typeface="Arial Rounded"/>
                <a:sym typeface="Arial Rounded"/>
              </a:rPr>
              <a:t> 1. Geographic</a:t>
            </a:r>
            <a:endParaRPr sz="1440" dirty="0">
              <a:solidFill>
                <a:srgbClr val="F9EEE7"/>
              </a:solidFill>
            </a:endParaRPr>
          </a:p>
        </p:txBody>
      </p:sp>
      <p:sp>
        <p:nvSpPr>
          <p:cNvPr id="450" name="Google Shape;450;p15"/>
          <p:cNvSpPr txBox="1"/>
          <p:nvPr/>
        </p:nvSpPr>
        <p:spPr>
          <a:xfrm>
            <a:off x="3413760" y="1353932"/>
            <a:ext cx="3798569" cy="566277"/>
          </a:xfrm>
          <a:prstGeom prst="rect">
            <a:avLst/>
          </a:prstGeom>
          <a:noFill/>
          <a:ln>
            <a:noFill/>
          </a:ln>
        </p:spPr>
        <p:txBody>
          <a:bodyPr spcFirstLastPara="1" wrap="square" lIns="73140" tIns="36560" rIns="73140" bIns="36560" anchor="t" anchorCtr="0">
            <a:spAutoFit/>
          </a:bodyPr>
          <a:lstStyle/>
          <a:p>
            <a:pPr algn="ctr"/>
            <a:r>
              <a:rPr lang="en-US" sz="3200" b="1">
                <a:solidFill>
                  <a:srgbClr val="F9EEE7"/>
                </a:solidFill>
                <a:latin typeface="Arial Rounded"/>
                <a:ea typeface="Arial Rounded"/>
                <a:cs typeface="Arial Rounded"/>
                <a:sym typeface="Arial Rounded"/>
              </a:rPr>
              <a:t>  2. Demographic</a:t>
            </a:r>
            <a:endParaRPr sz="1440">
              <a:solidFill>
                <a:srgbClr val="F9EEE7"/>
              </a:solidFill>
            </a:endParaRPr>
          </a:p>
        </p:txBody>
      </p:sp>
      <p:sp>
        <p:nvSpPr>
          <p:cNvPr id="451" name="Google Shape;451;p15"/>
          <p:cNvSpPr txBox="1"/>
          <p:nvPr/>
        </p:nvSpPr>
        <p:spPr>
          <a:xfrm>
            <a:off x="7249490" y="1353932"/>
            <a:ext cx="3434871" cy="566277"/>
          </a:xfrm>
          <a:prstGeom prst="rect">
            <a:avLst/>
          </a:prstGeom>
          <a:noFill/>
          <a:ln>
            <a:noFill/>
          </a:ln>
        </p:spPr>
        <p:txBody>
          <a:bodyPr spcFirstLastPara="1" wrap="square" lIns="73140" tIns="36560" rIns="73140" bIns="36560" anchor="t" anchorCtr="0">
            <a:spAutoFit/>
          </a:bodyPr>
          <a:lstStyle/>
          <a:p>
            <a:pPr algn="ctr"/>
            <a:r>
              <a:rPr lang="en-US" sz="3200" b="1">
                <a:solidFill>
                  <a:srgbClr val="F9EEE7"/>
                </a:solidFill>
                <a:latin typeface="Arial Rounded"/>
                <a:ea typeface="Arial Rounded"/>
                <a:cs typeface="Arial Rounded"/>
                <a:sym typeface="Arial Rounded"/>
              </a:rPr>
              <a:t> 3. Behavioral</a:t>
            </a:r>
            <a:endParaRPr sz="1440">
              <a:solidFill>
                <a:srgbClr val="F9EEE7"/>
              </a:solidFill>
            </a:endParaRPr>
          </a:p>
        </p:txBody>
      </p:sp>
      <p:sp>
        <p:nvSpPr>
          <p:cNvPr id="452" name="Google Shape;452;p15"/>
          <p:cNvSpPr txBox="1"/>
          <p:nvPr/>
        </p:nvSpPr>
        <p:spPr>
          <a:xfrm>
            <a:off x="10772817" y="1353932"/>
            <a:ext cx="3857583" cy="566277"/>
          </a:xfrm>
          <a:prstGeom prst="rect">
            <a:avLst/>
          </a:prstGeom>
          <a:noFill/>
          <a:ln>
            <a:noFill/>
          </a:ln>
        </p:spPr>
        <p:txBody>
          <a:bodyPr spcFirstLastPara="1" wrap="square" lIns="73140" tIns="36560" rIns="73140" bIns="36560" anchor="t" anchorCtr="0">
            <a:spAutoFit/>
          </a:bodyPr>
          <a:lstStyle/>
          <a:p>
            <a:pPr algn="ctr"/>
            <a:r>
              <a:rPr lang="en-US" sz="3200" b="1">
                <a:solidFill>
                  <a:srgbClr val="F9EEE7"/>
                </a:solidFill>
                <a:latin typeface="Arial Rounded"/>
                <a:ea typeface="Arial Rounded"/>
                <a:cs typeface="Arial Rounded"/>
                <a:sym typeface="Arial Rounded"/>
              </a:rPr>
              <a:t>  4.Psychographic</a:t>
            </a:r>
            <a:endParaRPr sz="1440">
              <a:solidFill>
                <a:srgbClr val="F9EEE7"/>
              </a:solidFill>
            </a:endParaRPr>
          </a:p>
        </p:txBody>
      </p:sp>
      <p:sp>
        <p:nvSpPr>
          <p:cNvPr id="453" name="Google Shape;453;p15"/>
          <p:cNvSpPr/>
          <p:nvPr/>
        </p:nvSpPr>
        <p:spPr>
          <a:xfrm>
            <a:off x="12836720" y="-762000"/>
            <a:ext cx="1282046" cy="212120"/>
          </a:xfrm>
          <a:custGeom>
            <a:avLst/>
            <a:gdLst/>
            <a:ahLst/>
            <a:cxnLst/>
            <a:rect l="l" t="t" r="r" b="b"/>
            <a:pathLst>
              <a:path w="1602558" h="265150" extrusionOk="0">
                <a:moveTo>
                  <a:pt x="0" y="0"/>
                </a:moveTo>
                <a:lnTo>
                  <a:pt x="1602558" y="0"/>
                </a:lnTo>
                <a:lnTo>
                  <a:pt x="1602558" y="265150"/>
                </a:lnTo>
                <a:lnTo>
                  <a:pt x="0" y="265150"/>
                </a:lnTo>
                <a:lnTo>
                  <a:pt x="0" y="0"/>
                </a:lnTo>
                <a:close/>
              </a:path>
            </a:pathLst>
          </a:custGeom>
          <a:blipFill rotWithShape="1">
            <a:blip r:embed="rId3">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54" name="Google Shape;454;p15"/>
          <p:cNvSpPr/>
          <p:nvPr/>
        </p:nvSpPr>
        <p:spPr>
          <a:xfrm>
            <a:off x="424834" y="8535640"/>
            <a:ext cx="1282046" cy="212120"/>
          </a:xfrm>
          <a:custGeom>
            <a:avLst/>
            <a:gdLst/>
            <a:ahLst/>
            <a:cxnLst/>
            <a:rect l="l" t="t" r="r" b="b"/>
            <a:pathLst>
              <a:path w="1602558" h="265150" extrusionOk="0">
                <a:moveTo>
                  <a:pt x="0" y="0"/>
                </a:moveTo>
                <a:lnTo>
                  <a:pt x="1602558" y="0"/>
                </a:lnTo>
                <a:lnTo>
                  <a:pt x="1602558" y="265150"/>
                </a:lnTo>
                <a:lnTo>
                  <a:pt x="0" y="265150"/>
                </a:lnTo>
                <a:lnTo>
                  <a:pt x="0" y="0"/>
                </a:lnTo>
                <a:close/>
              </a:path>
            </a:pathLst>
          </a:custGeom>
          <a:blipFill rotWithShape="1">
            <a:blip r:embed="rId4">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55" name="Google Shape;455;p15"/>
          <p:cNvSpPr/>
          <p:nvPr/>
        </p:nvSpPr>
        <p:spPr>
          <a:xfrm>
            <a:off x="0" y="-141366"/>
            <a:ext cx="14630400" cy="295433"/>
          </a:xfrm>
          <a:prstGeom prst="rect">
            <a:avLst/>
          </a:prstGeom>
          <a:solidFill>
            <a:srgbClr val="000000"/>
          </a:solidFill>
          <a:ln w="9525" cap="flat" cmpd="sng">
            <a:solidFill>
              <a:schemeClr val="dk1"/>
            </a:solidFill>
            <a:prstDash val="solid"/>
            <a:miter lim="800000"/>
            <a:headEnd type="none" w="sm" len="sm"/>
            <a:tailEnd type="none" w="sm" len="sm"/>
          </a:ln>
        </p:spPr>
        <p:txBody>
          <a:bodyPr spcFirstLastPara="1" wrap="square" lIns="73140" tIns="36560" rIns="73140" bIns="36560" anchor="ctr" anchorCtr="0">
            <a:spAutoFit/>
          </a:bodyPr>
          <a:lstStyle/>
          <a:p>
            <a:endParaRPr sz="1440">
              <a:solidFill>
                <a:schemeClr val="dk1"/>
              </a:solidFill>
              <a:latin typeface="Calibri"/>
              <a:ea typeface="Calibri"/>
              <a:cs typeface="Calibri"/>
              <a:sym typeface="Calibri"/>
            </a:endParaRPr>
          </a:p>
        </p:txBody>
      </p:sp>
      <p:sp>
        <p:nvSpPr>
          <p:cNvPr id="456" name="Google Shape;456;p15"/>
          <p:cNvSpPr/>
          <p:nvPr/>
        </p:nvSpPr>
        <p:spPr>
          <a:xfrm>
            <a:off x="0" y="47864"/>
            <a:ext cx="14630400" cy="295433"/>
          </a:xfrm>
          <a:prstGeom prst="rect">
            <a:avLst/>
          </a:prstGeom>
          <a:noFill/>
          <a:ln>
            <a:noFill/>
          </a:ln>
        </p:spPr>
        <p:txBody>
          <a:bodyPr spcFirstLastPara="1" wrap="square" lIns="73140" tIns="36560" rIns="73140" bIns="36560" anchor="ctr" anchorCtr="0">
            <a:spAutoFit/>
          </a:bodyPr>
          <a:lstStyle/>
          <a:p>
            <a:endParaRPr sz="144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3332"/>
        </a:solidFill>
        <a:effectLst/>
      </p:bgPr>
    </p:bg>
    <p:spTree>
      <p:nvGrpSpPr>
        <p:cNvPr id="1" name="Shape 460"/>
        <p:cNvGrpSpPr/>
        <p:nvPr/>
      </p:nvGrpSpPr>
      <p:grpSpPr>
        <a:xfrm>
          <a:off x="0" y="0"/>
          <a:ext cx="0" cy="0"/>
          <a:chOff x="0" y="0"/>
          <a:chExt cx="0" cy="0"/>
        </a:xfrm>
      </p:grpSpPr>
      <p:pic>
        <p:nvPicPr>
          <p:cNvPr id="2" name="Picture 1">
            <a:extLst>
              <a:ext uri="{FF2B5EF4-FFF2-40B4-BE49-F238E27FC236}">
                <a16:creationId xmlns:a16="http://schemas.microsoft.com/office/drawing/2014/main" id="{382CF3EF-5F15-FE7D-A6A1-B2F93A878CA2}"/>
              </a:ext>
            </a:extLst>
          </p:cNvPr>
          <p:cNvPicPr>
            <a:picLocks noChangeAspect="1"/>
          </p:cNvPicPr>
          <p:nvPr/>
        </p:nvPicPr>
        <p:blipFill>
          <a:blip r:embed="rId3"/>
          <a:stretch>
            <a:fillRect/>
          </a:stretch>
        </p:blipFill>
        <p:spPr>
          <a:xfrm>
            <a:off x="0" y="-48408"/>
            <a:ext cx="7376930" cy="1998227"/>
          </a:xfrm>
          <a:prstGeom prst="rect">
            <a:avLst/>
          </a:prstGeom>
        </p:spPr>
      </p:pic>
      <p:grpSp>
        <p:nvGrpSpPr>
          <p:cNvPr id="461" name="Google Shape;461;p16"/>
          <p:cNvGrpSpPr/>
          <p:nvPr/>
        </p:nvGrpSpPr>
        <p:grpSpPr>
          <a:xfrm>
            <a:off x="-1158240" y="7419720"/>
            <a:ext cx="16581119" cy="3801502"/>
            <a:chOff x="0" y="-38100"/>
            <a:chExt cx="5458805" cy="1330740"/>
          </a:xfrm>
          <a:solidFill>
            <a:srgbClr val="948A54"/>
          </a:solidFill>
        </p:grpSpPr>
        <p:sp>
          <p:nvSpPr>
            <p:cNvPr id="462" name="Google Shape;462;p16"/>
            <p:cNvSpPr/>
            <p:nvPr/>
          </p:nvSpPr>
          <p:spPr>
            <a:xfrm>
              <a:off x="1292" y="0"/>
              <a:ext cx="5457513" cy="1292640"/>
            </a:xfrm>
            <a:custGeom>
              <a:avLst/>
              <a:gdLst/>
              <a:ahLst/>
              <a:cxnLst/>
              <a:rect l="l" t="t" r="r" b="b"/>
              <a:pathLst>
                <a:path w="5457513" h="1292640" extrusionOk="0">
                  <a:moveTo>
                    <a:pt x="0" y="0"/>
                  </a:moveTo>
                  <a:lnTo>
                    <a:pt x="5457513" y="0"/>
                  </a:lnTo>
                  <a:lnTo>
                    <a:pt x="5457513" y="1292640"/>
                  </a:lnTo>
                  <a:lnTo>
                    <a:pt x="0" y="1292640"/>
                  </a:lnTo>
                  <a:close/>
                </a:path>
              </a:pathLst>
            </a:custGeom>
            <a:gr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63" name="Google Shape;463;p16"/>
            <p:cNvSpPr txBox="1"/>
            <p:nvPr/>
          </p:nvSpPr>
          <p:spPr>
            <a:xfrm>
              <a:off x="0" y="-38100"/>
              <a:ext cx="5457513" cy="1330740"/>
            </a:xfrm>
            <a:prstGeom prst="rect">
              <a:avLst/>
            </a:prstGeom>
            <a:grpFill/>
            <a:ln>
              <a:noFill/>
            </a:ln>
          </p:spPr>
          <p:txBody>
            <a:bodyPr spcFirstLastPara="1" wrap="square" lIns="40640" tIns="40640" rIns="40640" bIns="40640" anchor="ctr" anchorCtr="0">
              <a:noAutofit/>
            </a:bodyPr>
            <a:lstStyle/>
            <a:p>
              <a:pPr algn="ctr">
                <a:lnSpc>
                  <a:spcPct val="147722"/>
                </a:lnSpc>
              </a:pPr>
              <a:endParaRPr sz="1440">
                <a:solidFill>
                  <a:schemeClr val="dk1"/>
                </a:solidFill>
                <a:latin typeface="Calibri"/>
                <a:ea typeface="Calibri"/>
                <a:cs typeface="Calibri"/>
                <a:sym typeface="Calibri"/>
              </a:endParaRPr>
            </a:p>
          </p:txBody>
        </p:sp>
      </p:grpSp>
      <p:sp>
        <p:nvSpPr>
          <p:cNvPr id="469" name="Google Shape;469;p16"/>
          <p:cNvSpPr txBox="1"/>
          <p:nvPr/>
        </p:nvSpPr>
        <p:spPr>
          <a:xfrm>
            <a:off x="491680" y="-48408"/>
            <a:ext cx="5716502" cy="1551162"/>
          </a:xfrm>
          <a:prstGeom prst="rect">
            <a:avLst/>
          </a:prstGeom>
          <a:noFill/>
          <a:ln>
            <a:noFill/>
          </a:ln>
        </p:spPr>
        <p:txBody>
          <a:bodyPr spcFirstLastPara="1" wrap="square" lIns="73140" tIns="36560" rIns="73140" bIns="36560" anchor="t" anchorCtr="0">
            <a:spAutoFit/>
          </a:bodyPr>
          <a:lstStyle/>
          <a:p>
            <a:r>
              <a:rPr lang="en-US" sz="9600" b="1" dirty="0">
                <a:solidFill>
                  <a:schemeClr val="accent4">
                    <a:lumMod val="20000"/>
                    <a:lumOff val="80000"/>
                  </a:schemeClr>
                </a:solidFill>
                <a:effectLst>
                  <a:outerShdw blurRad="38100" dist="38100" dir="2700000" algn="tl">
                    <a:srgbClr val="000000">
                      <a:alpha val="43137"/>
                    </a:srgbClr>
                  </a:outerShdw>
                </a:effectLst>
                <a:latin typeface="Arial Rounded"/>
                <a:ea typeface="Arial Rounded"/>
                <a:cs typeface="Arial Rounded"/>
                <a:sym typeface="Arial Rounded"/>
              </a:rPr>
              <a:t>Targeting</a:t>
            </a:r>
            <a:endParaRPr sz="1600" dirty="0">
              <a:solidFill>
                <a:schemeClr val="accent4">
                  <a:lumMod val="20000"/>
                  <a:lumOff val="80000"/>
                </a:schemeClr>
              </a:solidFill>
              <a:effectLst>
                <a:outerShdw blurRad="38100" dist="38100" dir="2700000" algn="tl">
                  <a:srgbClr val="000000">
                    <a:alpha val="43137"/>
                  </a:srgbClr>
                </a:outerShdw>
              </a:effectLst>
            </a:endParaRPr>
          </a:p>
        </p:txBody>
      </p:sp>
      <p:sp>
        <p:nvSpPr>
          <p:cNvPr id="471" name="Google Shape;471;p16"/>
          <p:cNvSpPr/>
          <p:nvPr/>
        </p:nvSpPr>
        <p:spPr>
          <a:xfrm>
            <a:off x="792480" y="7926040"/>
            <a:ext cx="1282046" cy="212120"/>
          </a:xfrm>
          <a:custGeom>
            <a:avLst/>
            <a:gdLst/>
            <a:ahLst/>
            <a:cxnLst/>
            <a:rect l="l" t="t" r="r" b="b"/>
            <a:pathLst>
              <a:path w="1602558" h="265150" extrusionOk="0">
                <a:moveTo>
                  <a:pt x="0" y="0"/>
                </a:moveTo>
                <a:lnTo>
                  <a:pt x="1602558" y="0"/>
                </a:lnTo>
                <a:lnTo>
                  <a:pt x="1602558" y="265150"/>
                </a:lnTo>
                <a:lnTo>
                  <a:pt x="0" y="265150"/>
                </a:lnTo>
                <a:lnTo>
                  <a:pt x="0" y="0"/>
                </a:lnTo>
                <a:close/>
              </a:path>
            </a:pathLst>
          </a:custGeom>
          <a:blipFill rotWithShape="1">
            <a:blip r:embed="rId4">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72" name="Google Shape;472;p16"/>
          <p:cNvSpPr txBox="1"/>
          <p:nvPr/>
        </p:nvSpPr>
        <p:spPr>
          <a:xfrm>
            <a:off x="2865890" y="2272701"/>
            <a:ext cx="9022080" cy="4407328"/>
          </a:xfrm>
          <a:prstGeom prst="rect">
            <a:avLst/>
          </a:prstGeom>
          <a:noFill/>
          <a:ln>
            <a:noFill/>
          </a:ln>
        </p:spPr>
        <p:txBody>
          <a:bodyPr spcFirstLastPara="1" wrap="square" lIns="73140" tIns="36560" rIns="73140" bIns="36560" anchor="t" anchorCtr="0">
            <a:spAutoFit/>
          </a:bodyPr>
          <a:lstStyle/>
          <a:p>
            <a:pPr algn="ctr"/>
            <a:r>
              <a:rPr lang="en-US" sz="2560" b="1" dirty="0">
                <a:solidFill>
                  <a:srgbClr val="F9EEE7"/>
                </a:solidFill>
                <a:latin typeface="Arial"/>
                <a:ea typeface="Arial"/>
                <a:cs typeface="Arial"/>
                <a:sym typeface="Arial"/>
              </a:rPr>
              <a:t>B2B : (</a:t>
            </a:r>
            <a:r>
              <a:rPr lang="en-US" sz="2560" b="1" dirty="0" err="1">
                <a:solidFill>
                  <a:srgbClr val="F9EEE7"/>
                </a:solidFill>
                <a:latin typeface="Arial"/>
                <a:ea typeface="Arial"/>
                <a:cs typeface="Arial"/>
                <a:sym typeface="Arial"/>
              </a:rPr>
              <a:t>شركة</a:t>
            </a:r>
            <a:r>
              <a:rPr lang="en-US" sz="2560" b="1" dirty="0">
                <a:solidFill>
                  <a:srgbClr val="F9EEE7"/>
                </a:solidFill>
                <a:latin typeface="Arial"/>
                <a:ea typeface="Arial"/>
                <a:cs typeface="Arial"/>
                <a:sym typeface="Arial"/>
              </a:rPr>
              <a:t> إلى </a:t>
            </a:r>
            <a:r>
              <a:rPr lang="en-US" sz="2560" b="1" dirty="0" err="1">
                <a:solidFill>
                  <a:srgbClr val="F9EEE7"/>
                </a:solidFill>
                <a:latin typeface="Arial"/>
                <a:ea typeface="Arial"/>
                <a:cs typeface="Arial"/>
                <a:sym typeface="Arial"/>
              </a:rPr>
              <a:t>شركة</a:t>
            </a:r>
            <a:r>
              <a:rPr lang="en-US" sz="2560" b="1" dirty="0">
                <a:solidFill>
                  <a:srgbClr val="F9EEE7"/>
                </a:solidFill>
                <a:latin typeface="Arial"/>
                <a:ea typeface="Arial"/>
                <a:cs typeface="Arial"/>
                <a:sym typeface="Arial"/>
              </a:rPr>
              <a:t>)</a:t>
            </a:r>
            <a:endParaRPr sz="2560" dirty="0">
              <a:solidFill>
                <a:srgbClr val="F9EEE7"/>
              </a:solidFill>
              <a:latin typeface="Arial"/>
              <a:ea typeface="Arial"/>
              <a:cs typeface="Arial"/>
              <a:sym typeface="Arial"/>
            </a:endParaRPr>
          </a:p>
          <a:p>
            <a:pPr marL="822960" lvl="1" indent="-457200" algn="r" rtl="1">
              <a:buFont typeface="Arial" panose="020B0604020202020204" pitchFamily="34" charset="0"/>
              <a:buChar char="•"/>
            </a:pPr>
            <a:r>
              <a:rPr lang="en-US" sz="2560" dirty="0" err="1">
                <a:solidFill>
                  <a:srgbClr val="F9EEE7"/>
                </a:solidFill>
                <a:latin typeface="Arial"/>
                <a:ea typeface="Arial"/>
                <a:cs typeface="Arial"/>
                <a:sym typeface="Arial"/>
              </a:rPr>
              <a:t>معامل</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ومصانع</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الألبان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والأجبان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التي</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تحتاج</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لأجهزة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دقيقة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وسريعة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للكشف</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عن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الغش</a:t>
            </a:r>
            <a:r>
              <a:rPr lang="en-US" sz="2560" dirty="0">
                <a:solidFill>
                  <a:srgbClr val="F9EEE7"/>
                </a:solidFill>
                <a:latin typeface="Arial"/>
                <a:ea typeface="Arial"/>
                <a:cs typeface="Arial"/>
                <a:sym typeface="Arial"/>
              </a:rPr>
              <a:t>.</a:t>
            </a:r>
            <a:endParaRPr sz="1440" dirty="0">
              <a:solidFill>
                <a:srgbClr val="F9EEE7"/>
              </a:solidFill>
            </a:endParaRPr>
          </a:p>
          <a:p>
            <a:pPr marL="822960" lvl="1" indent="-457200" algn="r" rtl="1">
              <a:buFont typeface="Arial" panose="020B0604020202020204" pitchFamily="34" charset="0"/>
              <a:buChar char="•"/>
            </a:pPr>
            <a:r>
              <a:rPr lang="en-US" sz="2560" dirty="0" err="1">
                <a:solidFill>
                  <a:srgbClr val="F9EEE7"/>
                </a:solidFill>
                <a:latin typeface="Arial"/>
                <a:ea typeface="Arial"/>
                <a:cs typeface="Arial"/>
                <a:sym typeface="Arial"/>
              </a:rPr>
              <a:t>مراكز</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تجميع</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الألبان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التي</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تبحث</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عن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حلول</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عملية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لتحليل</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الكميات</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الكبيرة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بسرعة</a:t>
            </a:r>
            <a:r>
              <a:rPr lang="en-US" sz="2560" dirty="0">
                <a:solidFill>
                  <a:srgbClr val="F9EEE7"/>
                </a:solidFill>
                <a:latin typeface="Arial"/>
                <a:ea typeface="Arial"/>
                <a:cs typeface="Arial"/>
                <a:sym typeface="Arial"/>
              </a:rPr>
              <a:t>.</a:t>
            </a:r>
            <a:endParaRPr sz="1440" dirty="0">
              <a:solidFill>
                <a:srgbClr val="F9EEE7"/>
              </a:solidFill>
            </a:endParaRPr>
          </a:p>
          <a:p>
            <a:pPr marL="822960" lvl="1" indent="-457200" algn="r" rtl="1">
              <a:buFont typeface="Arial" panose="020B0604020202020204" pitchFamily="34" charset="0"/>
              <a:buChar char="•"/>
            </a:pPr>
            <a:r>
              <a:rPr lang="en-US" sz="2560" dirty="0" err="1">
                <a:solidFill>
                  <a:srgbClr val="F9EEE7"/>
                </a:solidFill>
                <a:latin typeface="Arial"/>
                <a:ea typeface="Arial"/>
                <a:cs typeface="Arial"/>
                <a:sym typeface="Arial"/>
              </a:rPr>
              <a:t>وزارة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الزراعة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وكليات</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الزراعة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لاستخدام</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الأجهزة</a:t>
            </a:r>
            <a:r>
              <a:rPr lang="en-US" sz="2560" dirty="0">
                <a:solidFill>
                  <a:srgbClr val="F9EEE7"/>
                </a:solidFill>
                <a:latin typeface="Arial"/>
                <a:ea typeface="Arial"/>
                <a:cs typeface="Arial"/>
                <a:sym typeface="Arial"/>
              </a:rPr>
              <a:t> في </a:t>
            </a:r>
            <a:r>
              <a:rPr lang="en-US" sz="2560" dirty="0" err="1">
                <a:solidFill>
                  <a:srgbClr val="F9EEE7"/>
                </a:solidFill>
                <a:latin typeface="Arial"/>
                <a:ea typeface="Arial"/>
                <a:cs typeface="Arial"/>
                <a:sym typeface="Arial"/>
              </a:rPr>
              <a:t>الأبحاث</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وضمان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جودة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المنتجات</a:t>
            </a:r>
            <a:r>
              <a:rPr lang="en-US" sz="2560" dirty="0">
                <a:solidFill>
                  <a:srgbClr val="F9EEE7"/>
                </a:solidFill>
                <a:latin typeface="Arial"/>
                <a:ea typeface="Arial"/>
                <a:cs typeface="Arial"/>
                <a:sym typeface="Arial"/>
              </a:rPr>
              <a:t>.</a:t>
            </a:r>
            <a:endParaRPr sz="1440" dirty="0">
              <a:solidFill>
                <a:srgbClr val="F9EEE7"/>
              </a:solidFill>
            </a:endParaRPr>
          </a:p>
          <a:p>
            <a:pPr marL="365760" lvl="1" algn="r"/>
            <a:endParaRPr sz="2560" dirty="0">
              <a:solidFill>
                <a:srgbClr val="F9EEE7"/>
              </a:solidFill>
              <a:latin typeface="Arial"/>
              <a:ea typeface="Arial"/>
              <a:cs typeface="Arial"/>
              <a:sym typeface="Arial"/>
            </a:endParaRPr>
          </a:p>
          <a:p>
            <a:pPr algn="ctr"/>
            <a:r>
              <a:rPr lang="en-US" sz="2560" b="1" dirty="0">
                <a:solidFill>
                  <a:srgbClr val="F9EEE7"/>
                </a:solidFill>
                <a:latin typeface="Arial"/>
                <a:ea typeface="Arial"/>
                <a:cs typeface="Arial"/>
                <a:sym typeface="Arial"/>
              </a:rPr>
              <a:t>B2C : (</a:t>
            </a:r>
            <a:r>
              <a:rPr lang="en-US" sz="2560" b="1" dirty="0" err="1">
                <a:solidFill>
                  <a:srgbClr val="F9EEE7"/>
                </a:solidFill>
                <a:latin typeface="Arial"/>
                <a:ea typeface="Arial"/>
                <a:cs typeface="Arial"/>
                <a:sym typeface="Arial"/>
              </a:rPr>
              <a:t>شركة</a:t>
            </a:r>
            <a:r>
              <a:rPr lang="en-US" sz="2560" b="1" dirty="0">
                <a:solidFill>
                  <a:srgbClr val="F9EEE7"/>
                </a:solidFill>
                <a:latin typeface="Arial"/>
                <a:ea typeface="Arial"/>
                <a:cs typeface="Arial"/>
                <a:sym typeface="Arial"/>
              </a:rPr>
              <a:t> إلى </a:t>
            </a:r>
            <a:r>
              <a:rPr lang="en-US" sz="2560" b="1" dirty="0" err="1">
                <a:solidFill>
                  <a:srgbClr val="F9EEE7"/>
                </a:solidFill>
                <a:latin typeface="Arial"/>
                <a:ea typeface="Arial"/>
                <a:cs typeface="Arial"/>
                <a:sym typeface="Arial"/>
              </a:rPr>
              <a:t>مستهلك</a:t>
            </a:r>
            <a:r>
              <a:rPr lang="en-US" sz="2560" b="1" dirty="0">
                <a:solidFill>
                  <a:srgbClr val="F9EEE7"/>
                </a:solidFill>
                <a:latin typeface="Arial"/>
                <a:ea typeface="Arial"/>
                <a:cs typeface="Arial"/>
                <a:sym typeface="Arial"/>
              </a:rPr>
              <a:t>)</a:t>
            </a:r>
            <a:endParaRPr sz="2560" dirty="0">
              <a:solidFill>
                <a:srgbClr val="F9EEE7"/>
              </a:solidFill>
              <a:latin typeface="Arial"/>
              <a:ea typeface="Arial"/>
              <a:cs typeface="Arial"/>
              <a:sym typeface="Arial"/>
            </a:endParaRPr>
          </a:p>
          <a:p>
            <a:pPr marL="822960" lvl="1" indent="-457200" algn="r" rtl="1">
              <a:buFont typeface="Arial" panose="020B0604020202020204" pitchFamily="34" charset="0"/>
              <a:buChar char="•"/>
            </a:pPr>
            <a:r>
              <a:rPr lang="en-US" sz="2560" dirty="0" err="1">
                <a:solidFill>
                  <a:srgbClr val="F9EEE7"/>
                </a:solidFill>
                <a:latin typeface="Arial"/>
                <a:ea typeface="Arial"/>
                <a:cs typeface="Arial"/>
                <a:sym typeface="Arial"/>
              </a:rPr>
              <a:t>متعهدو</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تجميع</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الألبان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الصغار</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الذين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يحتاجون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أجهزة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موثوقة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وبسعر</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مناسب</a:t>
            </a:r>
            <a:r>
              <a:rPr lang="en-US" sz="2560" dirty="0">
                <a:solidFill>
                  <a:srgbClr val="F9EEE7"/>
                </a:solidFill>
                <a:latin typeface="Arial"/>
                <a:ea typeface="Arial"/>
                <a:cs typeface="Arial"/>
                <a:sym typeface="Arial"/>
              </a:rPr>
              <a:t>.</a:t>
            </a:r>
            <a:endParaRPr sz="1440" dirty="0">
              <a:solidFill>
                <a:srgbClr val="F9EEE7"/>
              </a:solidFill>
            </a:endParaRPr>
          </a:p>
          <a:p>
            <a:pPr marL="822960" lvl="1" indent="-457200" algn="r" rtl="1">
              <a:buFont typeface="Arial" panose="020B0604020202020204" pitchFamily="34" charset="0"/>
              <a:buChar char="•"/>
            </a:pPr>
            <a:r>
              <a:rPr lang="en-US" sz="2560" dirty="0" err="1">
                <a:solidFill>
                  <a:srgbClr val="F9EEE7"/>
                </a:solidFill>
                <a:latin typeface="Arial"/>
                <a:ea typeface="Arial"/>
                <a:cs typeface="Arial"/>
                <a:sym typeface="Arial"/>
              </a:rPr>
              <a:t>أصحاب</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مزارع</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الألبان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الراغبون</a:t>
            </a:r>
            <a:r>
              <a:rPr lang="en-US" sz="2560" dirty="0">
                <a:solidFill>
                  <a:srgbClr val="F9EEE7"/>
                </a:solidFill>
                <a:latin typeface="Arial"/>
                <a:ea typeface="Arial"/>
                <a:cs typeface="Arial"/>
                <a:sym typeface="Arial"/>
              </a:rPr>
              <a:t> في </a:t>
            </a:r>
            <a:r>
              <a:rPr lang="en-US" sz="2560" dirty="0" err="1">
                <a:solidFill>
                  <a:srgbClr val="F9EEE7"/>
                </a:solidFill>
                <a:latin typeface="Arial"/>
                <a:ea typeface="Arial"/>
                <a:cs typeface="Arial"/>
                <a:sym typeface="Arial"/>
              </a:rPr>
              <a:t>حماية</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منتجاتهم</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وضمان</a:t>
            </a:r>
            <a:r>
              <a:rPr lang="en-US" sz="2560" dirty="0">
                <a:solidFill>
                  <a:srgbClr val="F9EEE7"/>
                </a:solidFill>
                <a:latin typeface="Arial"/>
                <a:ea typeface="Arial"/>
                <a:cs typeface="Arial"/>
                <a:sym typeface="Arial"/>
              </a:rPr>
              <a:t> </a:t>
            </a:r>
            <a:r>
              <a:rPr lang="en-US" sz="2560" dirty="0" err="1">
                <a:solidFill>
                  <a:srgbClr val="F9EEE7"/>
                </a:solidFill>
                <a:latin typeface="Arial"/>
                <a:ea typeface="Arial"/>
                <a:cs typeface="Arial"/>
                <a:sym typeface="Arial"/>
              </a:rPr>
              <a:t>جودتها</a:t>
            </a:r>
            <a:r>
              <a:rPr lang="en-US" sz="2560" dirty="0">
                <a:solidFill>
                  <a:srgbClr val="F9EEE7"/>
                </a:solidFill>
                <a:latin typeface="Arial"/>
                <a:ea typeface="Arial"/>
                <a:cs typeface="Arial"/>
                <a:sym typeface="Arial"/>
              </a:rPr>
              <a:t>.</a:t>
            </a:r>
            <a:endParaRPr sz="1440" dirty="0">
              <a:solidFill>
                <a:srgbClr val="F9EEE7"/>
              </a:solidFill>
            </a:endParaRPr>
          </a:p>
        </p:txBody>
      </p:sp>
      <p:cxnSp>
        <p:nvCxnSpPr>
          <p:cNvPr id="473" name="Google Shape;473;p16"/>
          <p:cNvCxnSpPr/>
          <p:nvPr/>
        </p:nvCxnSpPr>
        <p:spPr>
          <a:xfrm rot="10800000">
            <a:off x="9140000" y="294041"/>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cxnSp>
        <p:nvCxnSpPr>
          <p:cNvPr id="474" name="Google Shape;474;p16"/>
          <p:cNvCxnSpPr/>
          <p:nvPr/>
        </p:nvCxnSpPr>
        <p:spPr>
          <a:xfrm>
            <a:off x="188259" y="7089289"/>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sp>
        <p:nvSpPr>
          <p:cNvPr id="475" name="Google Shape;475;p16"/>
          <p:cNvSpPr/>
          <p:nvPr/>
        </p:nvSpPr>
        <p:spPr>
          <a:xfrm>
            <a:off x="-60959" y="-1371600"/>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3332"/>
        </a:solidFill>
        <a:effectLst/>
      </p:bgPr>
    </p:bg>
    <p:spTree>
      <p:nvGrpSpPr>
        <p:cNvPr id="1" name="Shape 479"/>
        <p:cNvGrpSpPr/>
        <p:nvPr/>
      </p:nvGrpSpPr>
      <p:grpSpPr>
        <a:xfrm>
          <a:off x="0" y="0"/>
          <a:ext cx="0" cy="0"/>
          <a:chOff x="0" y="0"/>
          <a:chExt cx="0" cy="0"/>
        </a:xfrm>
      </p:grpSpPr>
      <p:pic>
        <p:nvPicPr>
          <p:cNvPr id="3" name="Picture 2" descr="A blue and white machine&#10;&#10;AI-generated content may be incorrect.">
            <a:extLst>
              <a:ext uri="{FF2B5EF4-FFF2-40B4-BE49-F238E27FC236}">
                <a16:creationId xmlns:a16="http://schemas.microsoft.com/office/drawing/2014/main" id="{77C5F6E4-50E6-6173-EE2B-F97D1265BCC0}"/>
              </a:ext>
            </a:extLst>
          </p:cNvPr>
          <p:cNvPicPr>
            <a:picLocks noChangeAspect="1"/>
          </p:cNvPicPr>
          <p:nvPr/>
        </p:nvPicPr>
        <p:blipFill>
          <a:blip r:embed="rId3"/>
          <a:stretch>
            <a:fillRect/>
          </a:stretch>
        </p:blipFill>
        <p:spPr>
          <a:xfrm>
            <a:off x="3200400" y="0"/>
            <a:ext cx="8229600" cy="8229600"/>
          </a:xfrm>
          <a:prstGeom prst="rect">
            <a:avLst/>
          </a:prstGeom>
        </p:spPr>
      </p:pic>
      <p:sp>
        <p:nvSpPr>
          <p:cNvPr id="481" name="Google Shape;481;p17"/>
          <p:cNvSpPr/>
          <p:nvPr/>
        </p:nvSpPr>
        <p:spPr>
          <a:xfrm>
            <a:off x="-426720" y="-379171"/>
            <a:ext cx="15483840" cy="8717280"/>
          </a:xfrm>
          <a:prstGeom prst="rect">
            <a:avLst/>
          </a:prstGeom>
          <a:solidFill>
            <a:srgbClr val="1D1B10">
              <a:alpha val="86666"/>
            </a:srgbClr>
          </a:solidFill>
          <a:ln>
            <a:noFill/>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483" name="Google Shape;483;p17"/>
          <p:cNvSpPr/>
          <p:nvPr/>
        </p:nvSpPr>
        <p:spPr>
          <a:xfrm>
            <a:off x="-60959" y="-640080"/>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4">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84" name="Google Shape;484;p17"/>
          <p:cNvSpPr txBox="1"/>
          <p:nvPr/>
        </p:nvSpPr>
        <p:spPr>
          <a:xfrm>
            <a:off x="1889760" y="1249680"/>
            <a:ext cx="11765280" cy="8002158"/>
          </a:xfrm>
          <a:prstGeom prst="rect">
            <a:avLst/>
          </a:prstGeom>
          <a:noFill/>
          <a:ln>
            <a:noFill/>
          </a:ln>
        </p:spPr>
        <p:txBody>
          <a:bodyPr spcFirstLastPara="1" wrap="square" lIns="73140" tIns="36560" rIns="73140" bIns="36560" anchor="t" anchorCtr="0">
            <a:spAutoFit/>
          </a:bodyPr>
          <a:lstStyle/>
          <a:p>
            <a:pPr algn="r" rtl="1"/>
            <a:r>
              <a:rPr lang="en-US" sz="2240" b="1" dirty="0" err="1">
                <a:solidFill>
                  <a:srgbClr val="C4BD97"/>
                </a:solidFill>
                <a:latin typeface="Arial"/>
                <a:ea typeface="Arial"/>
                <a:cs typeface="Arial"/>
                <a:sym typeface="Arial"/>
              </a:rPr>
              <a:t>مواصفات</a:t>
            </a:r>
            <a:r>
              <a:rPr lang="en-US" sz="2240" b="1" dirty="0">
                <a:solidFill>
                  <a:srgbClr val="C4BD97"/>
                </a:solidFill>
                <a:latin typeface="Arial"/>
                <a:ea typeface="Arial"/>
                <a:cs typeface="Arial"/>
                <a:sym typeface="Arial"/>
              </a:rPr>
              <a:t> </a:t>
            </a:r>
            <a:r>
              <a:rPr lang="en-US" sz="2240" b="1" dirty="0" err="1">
                <a:solidFill>
                  <a:srgbClr val="C4BD97"/>
                </a:solidFill>
                <a:latin typeface="Arial"/>
                <a:ea typeface="Arial"/>
                <a:cs typeface="Arial"/>
                <a:sym typeface="Arial"/>
              </a:rPr>
              <a:t>المنتج</a:t>
            </a:r>
            <a:r>
              <a:rPr lang="en-US" sz="2240" b="1" dirty="0">
                <a:solidFill>
                  <a:srgbClr val="C4BD97"/>
                </a:solidFill>
                <a:latin typeface="Arial"/>
                <a:ea typeface="Arial"/>
                <a:cs typeface="Arial"/>
                <a:sym typeface="Arial"/>
              </a:rPr>
              <a:t> (Product Features)  </a:t>
            </a:r>
            <a:endParaRPr sz="1440" dirty="0"/>
          </a:p>
          <a:p>
            <a:pPr algn="r" rtl="1"/>
            <a:endParaRPr sz="2240" b="1" dirty="0">
              <a:solidFill>
                <a:srgbClr val="C4BD97"/>
              </a:solidFill>
              <a:latin typeface="Arial"/>
              <a:ea typeface="Arial"/>
              <a:cs typeface="Arial"/>
              <a:sym typeface="Arial"/>
            </a:endParaRPr>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أجهزة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تحليل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الألبان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Ekomilk</a:t>
            </a:r>
            <a:r>
              <a:rPr lang="en-US" sz="2240" dirty="0">
                <a:solidFill>
                  <a:srgbClr val="C4BD97"/>
                </a:solidFill>
                <a:latin typeface="Arial"/>
                <a:ea typeface="Arial"/>
                <a:cs typeface="Arial"/>
                <a:sym typeface="Arial"/>
              </a:rPr>
              <a:t> &amp; </a:t>
            </a:r>
            <a:r>
              <a:rPr lang="en-US" sz="2240" dirty="0" err="1">
                <a:solidFill>
                  <a:srgbClr val="C4BD97"/>
                </a:solidFill>
                <a:latin typeface="Arial"/>
                <a:ea typeface="Arial"/>
                <a:cs typeface="Arial"/>
                <a:sym typeface="Arial"/>
              </a:rPr>
              <a:t>Ekoplus</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تكشف</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بدقة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الغش</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وتحدد</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مكونات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اللبن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دسم</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صلابة</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بروتين</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كثافة</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نقطة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تجمد</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ماء</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مضاف</a:t>
            </a:r>
            <a:r>
              <a:rPr lang="en-US" sz="2240" dirty="0">
                <a:solidFill>
                  <a:srgbClr val="C4BD97"/>
                </a:solidFill>
                <a:latin typeface="Arial"/>
                <a:ea typeface="Arial"/>
                <a:cs typeface="Arial"/>
                <a:sym typeface="Arial"/>
              </a:rPr>
              <a:t>).</a:t>
            </a:r>
            <a:endParaRPr sz="1440" dirty="0"/>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جهاز</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مثبت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الكهرباء</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يحمي</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الأجهزة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التلف</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الناتج</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ارتفاع</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أو</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انخفاض</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الجهد</a:t>
            </a:r>
            <a:r>
              <a:rPr lang="en-US" sz="2240" dirty="0">
                <a:solidFill>
                  <a:srgbClr val="C4BD97"/>
                </a:solidFill>
                <a:latin typeface="Arial"/>
                <a:ea typeface="Arial"/>
                <a:cs typeface="Arial"/>
                <a:sym typeface="Arial"/>
              </a:rPr>
              <a:t>.</a:t>
            </a:r>
            <a:endParaRPr sz="1440" dirty="0"/>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خدمات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صيانة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وإصلاح</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قوية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مع</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ضمان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شامل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لمدة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سنتين</a:t>
            </a:r>
            <a:r>
              <a:rPr lang="en-US" sz="2240" dirty="0">
                <a:solidFill>
                  <a:srgbClr val="C4BD97"/>
                </a:solidFill>
                <a:latin typeface="Arial"/>
                <a:ea typeface="Arial"/>
                <a:cs typeface="Arial"/>
                <a:sym typeface="Arial"/>
              </a:rPr>
              <a:t>.</a:t>
            </a:r>
            <a:endParaRPr sz="1440" dirty="0"/>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ملحقات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متنوعة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محاليل</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وصلة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سيارة</a:t>
            </a:r>
            <a:r>
              <a:rPr lang="en-US" sz="2240" dirty="0">
                <a:solidFill>
                  <a:srgbClr val="C4BD97"/>
                </a:solidFill>
                <a:latin typeface="Arial"/>
                <a:ea typeface="Arial"/>
                <a:cs typeface="Arial"/>
                <a:sym typeface="Arial"/>
              </a:rPr>
              <a:t> – </a:t>
            </a:r>
            <a:r>
              <a:rPr lang="en-US" sz="2240" dirty="0" err="1">
                <a:solidFill>
                  <a:srgbClr val="C4BD97"/>
                </a:solidFill>
                <a:latin typeface="Arial"/>
                <a:ea typeface="Arial"/>
                <a:cs typeface="Arial"/>
                <a:sym typeface="Arial"/>
              </a:rPr>
              <a:t>مصدر</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كهرباء</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احتياطي</a:t>
            </a:r>
            <a:r>
              <a:rPr lang="en-US" sz="2240" dirty="0">
                <a:solidFill>
                  <a:srgbClr val="C4BD97"/>
                </a:solidFill>
                <a:latin typeface="Arial"/>
                <a:ea typeface="Arial"/>
                <a:cs typeface="Arial"/>
                <a:sym typeface="Arial"/>
              </a:rPr>
              <a:t>).</a:t>
            </a:r>
            <a:endParaRPr sz="1440" dirty="0"/>
          </a:p>
          <a:p>
            <a:pPr marL="365760" indent="-223520" algn="ctr" rtl="1">
              <a:lnSpc>
                <a:spcPct val="150000"/>
              </a:lnSpc>
              <a:buClr>
                <a:schemeClr val="dk1"/>
              </a:buClr>
              <a:buSzPts val="2800"/>
            </a:pPr>
            <a:endParaRPr sz="2240" b="1" dirty="0">
              <a:solidFill>
                <a:srgbClr val="C4BD97"/>
              </a:solidFill>
              <a:latin typeface="Arial"/>
              <a:ea typeface="Arial"/>
              <a:cs typeface="Arial"/>
              <a:sym typeface="Arial"/>
            </a:endParaRPr>
          </a:p>
          <a:p>
            <a:pPr algn="r" rtl="1"/>
            <a:r>
              <a:rPr lang="en-US" sz="2240" b="1" dirty="0" err="1">
                <a:solidFill>
                  <a:srgbClr val="C4BD97"/>
                </a:solidFill>
                <a:latin typeface="Arial"/>
                <a:ea typeface="Arial"/>
                <a:cs typeface="Arial"/>
                <a:sym typeface="Arial"/>
              </a:rPr>
              <a:t>محدوديات</a:t>
            </a:r>
            <a:r>
              <a:rPr lang="en-US" sz="2240" b="1" dirty="0">
                <a:solidFill>
                  <a:srgbClr val="C4BD97"/>
                </a:solidFill>
                <a:latin typeface="Arial"/>
                <a:ea typeface="Arial"/>
                <a:cs typeface="Arial"/>
                <a:sym typeface="Arial"/>
              </a:rPr>
              <a:t> </a:t>
            </a:r>
            <a:r>
              <a:rPr lang="en-US" sz="2240" b="1" dirty="0" err="1">
                <a:solidFill>
                  <a:srgbClr val="C4BD97"/>
                </a:solidFill>
                <a:latin typeface="Arial"/>
                <a:ea typeface="Arial"/>
                <a:cs typeface="Arial"/>
                <a:sym typeface="Arial"/>
              </a:rPr>
              <a:t>المنتج</a:t>
            </a:r>
            <a:r>
              <a:rPr lang="en-US" sz="2240" b="1" dirty="0">
                <a:solidFill>
                  <a:srgbClr val="C4BD97"/>
                </a:solidFill>
                <a:latin typeface="Arial"/>
                <a:ea typeface="Arial"/>
                <a:cs typeface="Arial"/>
                <a:sym typeface="Arial"/>
              </a:rPr>
              <a:t> Product Limitations))</a:t>
            </a:r>
            <a:endParaRPr sz="1440" dirty="0"/>
          </a:p>
          <a:p>
            <a:pPr algn="r" rtl="1"/>
            <a:endParaRPr sz="2240" b="1" dirty="0">
              <a:solidFill>
                <a:srgbClr val="C4BD97"/>
              </a:solidFill>
              <a:latin typeface="Arial"/>
              <a:ea typeface="Arial"/>
              <a:cs typeface="Arial"/>
              <a:sym typeface="Arial"/>
            </a:endParaRPr>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الحاجة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لزيادة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التواجد</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الرقمي</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والتسويق</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عبر</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الإنترنت</a:t>
            </a:r>
            <a:r>
              <a:rPr lang="en-US" sz="2240" dirty="0">
                <a:solidFill>
                  <a:srgbClr val="C4BD97"/>
                </a:solidFill>
                <a:latin typeface="Arial"/>
                <a:ea typeface="Arial"/>
                <a:cs typeface="Arial"/>
                <a:sym typeface="Arial"/>
              </a:rPr>
              <a:t>.</a:t>
            </a:r>
            <a:endParaRPr sz="1440" dirty="0"/>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بعض</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العملاء</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مازالوا</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يعتمدون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على</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الطرق</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التقليدية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الطارة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والأنابيب</a:t>
            </a:r>
            <a:r>
              <a:rPr lang="en-US" sz="2240" dirty="0">
                <a:solidFill>
                  <a:srgbClr val="C4BD97"/>
                </a:solidFill>
                <a:latin typeface="Arial"/>
                <a:ea typeface="Arial"/>
                <a:cs typeface="Arial"/>
                <a:sym typeface="Arial"/>
              </a:rPr>
              <a:t>) في </a:t>
            </a:r>
            <a:r>
              <a:rPr lang="en-US" sz="2240" dirty="0" err="1">
                <a:solidFill>
                  <a:srgbClr val="C4BD97"/>
                </a:solidFill>
                <a:latin typeface="Arial"/>
                <a:ea typeface="Arial"/>
                <a:cs typeface="Arial"/>
                <a:sym typeface="Arial"/>
              </a:rPr>
              <a:t>التحليل</a:t>
            </a:r>
            <a:r>
              <a:rPr lang="en-US" sz="2240" dirty="0">
                <a:solidFill>
                  <a:srgbClr val="C4BD97"/>
                </a:solidFill>
                <a:latin typeface="Arial"/>
                <a:ea typeface="Arial"/>
                <a:cs typeface="Arial"/>
                <a:sym typeface="Arial"/>
              </a:rPr>
              <a:t>.</a:t>
            </a:r>
            <a:endParaRPr sz="1440" dirty="0"/>
          </a:p>
          <a:p>
            <a:pPr marL="365760" indent="-365760" algn="r" rtl="1">
              <a:buClr>
                <a:srgbClr val="C4BD97"/>
              </a:buClr>
              <a:buSzPts val="2800"/>
              <a:buFont typeface="Arial"/>
              <a:buChar char="•"/>
            </a:pPr>
            <a:r>
              <a:rPr lang="en-US" sz="2240" dirty="0" err="1">
                <a:solidFill>
                  <a:srgbClr val="C4BD97"/>
                </a:solidFill>
                <a:latin typeface="Arial"/>
                <a:ea typeface="Arial"/>
                <a:cs typeface="Arial"/>
                <a:sym typeface="Arial"/>
              </a:rPr>
              <a:t>الاستثمار</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الأولي</a:t>
            </a:r>
            <a:r>
              <a:rPr lang="en-US" sz="2240" dirty="0">
                <a:solidFill>
                  <a:srgbClr val="C4BD97"/>
                </a:solidFill>
                <a:latin typeface="Arial"/>
                <a:ea typeface="Arial"/>
                <a:cs typeface="Arial"/>
                <a:sym typeface="Arial"/>
              </a:rPr>
              <a:t> في </a:t>
            </a:r>
            <a:r>
              <a:rPr lang="en-US" sz="2240" dirty="0" err="1">
                <a:solidFill>
                  <a:srgbClr val="C4BD97"/>
                </a:solidFill>
                <a:latin typeface="Arial"/>
                <a:ea typeface="Arial"/>
                <a:cs typeface="Arial"/>
                <a:sym typeface="Arial"/>
              </a:rPr>
              <a:t>الأجهزة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قد</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يكون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مرتفع</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لبعض</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العملاء</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الصغار</a:t>
            </a:r>
            <a:r>
              <a:rPr lang="en-US" sz="2240" dirty="0">
                <a:solidFill>
                  <a:srgbClr val="C4BD97"/>
                </a:solidFill>
                <a:latin typeface="Arial"/>
                <a:ea typeface="Arial"/>
                <a:cs typeface="Arial"/>
                <a:sym typeface="Arial"/>
              </a:rPr>
              <a:t>.</a:t>
            </a:r>
            <a:endParaRPr sz="2240" dirty="0">
              <a:solidFill>
                <a:srgbClr val="C4BD97"/>
              </a:solidFill>
              <a:latin typeface="Arial"/>
              <a:ea typeface="Arial"/>
              <a:cs typeface="Arial"/>
              <a:sym typeface="Arial"/>
            </a:endParaRPr>
          </a:p>
          <a:p>
            <a:pPr marL="365760" indent="-223520" algn="r" rtl="1">
              <a:buClr>
                <a:schemeClr val="dk1"/>
              </a:buClr>
              <a:buSzPts val="2800"/>
            </a:pPr>
            <a:endParaRPr sz="2240" dirty="0">
              <a:solidFill>
                <a:srgbClr val="C4BD97"/>
              </a:solidFill>
              <a:latin typeface="Arial"/>
              <a:ea typeface="Arial"/>
              <a:cs typeface="Arial"/>
              <a:sym typeface="Arial"/>
            </a:endParaRPr>
          </a:p>
          <a:p>
            <a:pPr algn="r" rtl="1"/>
            <a:r>
              <a:rPr lang="en-US" sz="2240" b="1" dirty="0" err="1">
                <a:solidFill>
                  <a:srgbClr val="C4BD97"/>
                </a:solidFill>
                <a:latin typeface="Arial"/>
                <a:ea typeface="Arial"/>
                <a:cs typeface="Arial"/>
                <a:sym typeface="Arial"/>
              </a:rPr>
              <a:t>الرسالة</a:t>
            </a:r>
            <a:r>
              <a:rPr lang="en-US" sz="2240" b="1" dirty="0">
                <a:solidFill>
                  <a:srgbClr val="C4BD97"/>
                </a:solidFill>
                <a:latin typeface="Arial"/>
                <a:ea typeface="Arial"/>
                <a:cs typeface="Arial"/>
                <a:sym typeface="Arial"/>
              </a:rPr>
              <a:t> (USP message)</a:t>
            </a:r>
            <a:endParaRPr sz="2240" b="1" dirty="0">
              <a:solidFill>
                <a:srgbClr val="C4BD97"/>
              </a:solidFill>
              <a:latin typeface="Arial"/>
              <a:ea typeface="Arial"/>
              <a:cs typeface="Arial"/>
              <a:sym typeface="Arial"/>
            </a:endParaRPr>
          </a:p>
          <a:p>
            <a:pPr algn="r" rtl="1"/>
            <a:endParaRPr sz="2240" b="1" dirty="0">
              <a:solidFill>
                <a:srgbClr val="C4BD97"/>
              </a:solidFill>
              <a:latin typeface="Arial"/>
              <a:ea typeface="Arial"/>
              <a:cs typeface="Arial"/>
              <a:sym typeface="Arial"/>
            </a:endParaRPr>
          </a:p>
          <a:p>
            <a:pPr algn="r" rtl="1"/>
            <a:r>
              <a:rPr lang="en-US" sz="2240" dirty="0" err="1">
                <a:solidFill>
                  <a:srgbClr val="C4BD97"/>
                </a:solidFill>
                <a:latin typeface="Arial"/>
                <a:ea typeface="Arial"/>
                <a:cs typeface="Arial"/>
                <a:sym typeface="Arial"/>
              </a:rPr>
              <a:t>منتجات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شركة</a:t>
            </a:r>
            <a:r>
              <a:rPr lang="en-US" sz="2240" dirty="0">
                <a:solidFill>
                  <a:srgbClr val="C4BD97"/>
                </a:solidFill>
                <a:latin typeface="Arial"/>
                <a:ea typeface="Arial"/>
                <a:cs typeface="Arial"/>
                <a:sym typeface="Arial"/>
              </a:rPr>
              <a:t>  HPS </a:t>
            </a:r>
            <a:r>
              <a:rPr lang="en-US" sz="2240" dirty="0" err="1">
                <a:solidFill>
                  <a:srgbClr val="C4BD97"/>
                </a:solidFill>
                <a:latin typeface="Arial"/>
                <a:ea typeface="Arial"/>
                <a:cs typeface="Arial"/>
                <a:sym typeface="Arial"/>
              </a:rPr>
              <a:t>ليست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مجرد</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أجهزة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تحليل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ألبان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بل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هي</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حلول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متكاملة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تضمن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دقة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النتائج</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حماية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الأجهزة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من</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التلف</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وخدمة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صيانة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موثوقة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عند</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اختيارك</a:t>
            </a:r>
            <a:r>
              <a:rPr lang="en-US" sz="2240" dirty="0">
                <a:solidFill>
                  <a:srgbClr val="C4BD97"/>
                </a:solidFill>
                <a:latin typeface="Arial"/>
                <a:ea typeface="Arial"/>
                <a:cs typeface="Arial"/>
                <a:sym typeface="Arial"/>
              </a:rPr>
              <a:t> HPS </a:t>
            </a:r>
            <a:r>
              <a:rPr lang="en-US" sz="2240" dirty="0" err="1">
                <a:solidFill>
                  <a:srgbClr val="C4BD97"/>
                </a:solidFill>
                <a:latin typeface="Arial"/>
                <a:ea typeface="Arial"/>
                <a:cs typeface="Arial"/>
                <a:sym typeface="Arial"/>
              </a:rPr>
              <a:t>فأنت</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لا</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تشتري</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جهاز</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فقط</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بل</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تستثمر</a:t>
            </a:r>
            <a:r>
              <a:rPr lang="en-US" sz="2240" dirty="0">
                <a:solidFill>
                  <a:srgbClr val="C4BD97"/>
                </a:solidFill>
                <a:latin typeface="Arial"/>
                <a:ea typeface="Arial"/>
                <a:cs typeface="Arial"/>
                <a:sym typeface="Arial"/>
              </a:rPr>
              <a:t> في </a:t>
            </a:r>
            <a:r>
              <a:rPr lang="en-US" sz="2240" dirty="0" err="1">
                <a:solidFill>
                  <a:srgbClr val="C4BD97"/>
                </a:solidFill>
                <a:latin typeface="Arial"/>
                <a:ea typeface="Arial"/>
                <a:cs typeface="Arial"/>
                <a:sym typeface="Arial"/>
              </a:rPr>
              <a:t>الثقة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الجودة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واستمرارية</a:t>
            </a:r>
            <a:r>
              <a:rPr lang="en-US" sz="2240" dirty="0">
                <a:solidFill>
                  <a:srgbClr val="C4BD97"/>
                </a:solidFill>
                <a:latin typeface="Arial"/>
                <a:ea typeface="Arial"/>
                <a:cs typeface="Arial"/>
                <a:sym typeface="Arial"/>
              </a:rPr>
              <a:t> </a:t>
            </a:r>
            <a:r>
              <a:rPr lang="en-US" sz="2240" dirty="0" err="1">
                <a:solidFill>
                  <a:srgbClr val="C4BD97"/>
                </a:solidFill>
                <a:latin typeface="Arial"/>
                <a:ea typeface="Arial"/>
                <a:cs typeface="Arial"/>
                <a:sym typeface="Arial"/>
              </a:rPr>
              <a:t>عملك</a:t>
            </a:r>
            <a:r>
              <a:rPr lang="en-US" sz="2240" dirty="0">
                <a:solidFill>
                  <a:srgbClr val="C4BD97"/>
                </a:solidFill>
                <a:latin typeface="Arial"/>
                <a:ea typeface="Arial"/>
                <a:cs typeface="Arial"/>
                <a:sym typeface="Arial"/>
              </a:rPr>
              <a:t>.</a:t>
            </a:r>
            <a:endParaRPr sz="1440" dirty="0"/>
          </a:p>
          <a:p>
            <a:pPr marL="365760" indent="-223520" algn="r" rtl="1">
              <a:buClr>
                <a:schemeClr val="dk1"/>
              </a:buClr>
              <a:buSzPts val="2800"/>
            </a:pPr>
            <a:endParaRPr sz="2240" dirty="0">
              <a:solidFill>
                <a:srgbClr val="C4BD97"/>
              </a:solidFill>
              <a:latin typeface="Arial"/>
              <a:ea typeface="Arial"/>
              <a:cs typeface="Arial"/>
              <a:sym typeface="Arial"/>
            </a:endParaRPr>
          </a:p>
          <a:p>
            <a:pPr marL="365760" indent="-223520" algn="r" rtl="1">
              <a:buClr>
                <a:schemeClr val="dk1"/>
              </a:buClr>
              <a:buSzPts val="2800"/>
            </a:pPr>
            <a:endParaRPr sz="2240" dirty="0">
              <a:solidFill>
                <a:srgbClr val="C4BD97"/>
              </a:solidFill>
              <a:latin typeface="Arial"/>
              <a:ea typeface="Arial"/>
              <a:cs typeface="Arial"/>
              <a:sym typeface="Arial"/>
            </a:endParaRPr>
          </a:p>
          <a:p>
            <a:pPr marL="365760" indent="-223520" algn="r" rtl="1">
              <a:buClr>
                <a:schemeClr val="dk1"/>
              </a:buClr>
              <a:buSzPts val="2800"/>
            </a:pPr>
            <a:endParaRPr sz="2240" dirty="0">
              <a:solidFill>
                <a:srgbClr val="C4BD97"/>
              </a:solidFill>
              <a:latin typeface="Arial"/>
              <a:ea typeface="Arial"/>
              <a:cs typeface="Arial"/>
              <a:sym typeface="Arial"/>
            </a:endParaRPr>
          </a:p>
          <a:p>
            <a:pPr algn="ctr" rtl="1">
              <a:lnSpc>
                <a:spcPct val="150000"/>
              </a:lnSpc>
            </a:pPr>
            <a:endParaRPr sz="2240" b="1" dirty="0">
              <a:solidFill>
                <a:srgbClr val="C4BD97"/>
              </a:solidFill>
              <a:latin typeface="Arial"/>
              <a:ea typeface="Arial"/>
              <a:cs typeface="Arial"/>
              <a:sym typeface="Arial"/>
            </a:endParaRPr>
          </a:p>
        </p:txBody>
      </p:sp>
      <p:cxnSp>
        <p:nvCxnSpPr>
          <p:cNvPr id="485" name="Google Shape;485;p17"/>
          <p:cNvCxnSpPr/>
          <p:nvPr/>
        </p:nvCxnSpPr>
        <p:spPr>
          <a:xfrm rot="10800000">
            <a:off x="9631680" y="335280"/>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cxnSp>
        <p:nvCxnSpPr>
          <p:cNvPr id="486" name="Google Shape;486;p17"/>
          <p:cNvCxnSpPr/>
          <p:nvPr/>
        </p:nvCxnSpPr>
        <p:spPr>
          <a:xfrm>
            <a:off x="-60960" y="8138160"/>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grpSp>
        <p:nvGrpSpPr>
          <p:cNvPr id="487" name="Google Shape;487;p17"/>
          <p:cNvGrpSpPr/>
          <p:nvPr/>
        </p:nvGrpSpPr>
        <p:grpSpPr>
          <a:xfrm>
            <a:off x="-4389119" y="-1695399"/>
            <a:ext cx="23835359" cy="10521797"/>
            <a:chOff x="-5486399" y="-2119248"/>
            <a:chExt cx="29794199" cy="13152246"/>
          </a:xfrm>
        </p:grpSpPr>
        <p:sp>
          <p:nvSpPr>
            <p:cNvPr id="488" name="Google Shape;488;p17"/>
            <p:cNvSpPr/>
            <p:nvPr/>
          </p:nvSpPr>
          <p:spPr>
            <a:xfrm flipH="1">
              <a:off x="17709777" y="-2119248"/>
              <a:ext cx="4769223" cy="4552440"/>
            </a:xfrm>
            <a:custGeom>
              <a:avLst/>
              <a:gdLst/>
              <a:ahLst/>
              <a:cxnLst/>
              <a:rect l="l" t="t" r="r" b="b"/>
              <a:pathLst>
                <a:path w="4769223" h="4552440" extrusionOk="0">
                  <a:moveTo>
                    <a:pt x="4769223" y="0"/>
                  </a:moveTo>
                  <a:lnTo>
                    <a:pt x="0" y="0"/>
                  </a:lnTo>
                  <a:lnTo>
                    <a:pt x="0" y="4552440"/>
                  </a:lnTo>
                  <a:lnTo>
                    <a:pt x="4769223" y="4552440"/>
                  </a:lnTo>
                  <a:lnTo>
                    <a:pt x="4769223"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89" name="Google Shape;489;p17"/>
            <p:cNvSpPr/>
            <p:nvPr/>
          </p:nvSpPr>
          <p:spPr>
            <a:xfrm>
              <a:off x="-4572000" y="-2040762"/>
              <a:ext cx="4769223" cy="4552440"/>
            </a:xfrm>
            <a:custGeom>
              <a:avLst/>
              <a:gdLst/>
              <a:ahLst/>
              <a:cxnLst/>
              <a:rect l="l" t="t" r="r" b="b"/>
              <a:pathLst>
                <a:path w="4769223" h="4552440" extrusionOk="0">
                  <a:moveTo>
                    <a:pt x="0" y="0"/>
                  </a:moveTo>
                  <a:lnTo>
                    <a:pt x="4769223" y="0"/>
                  </a:lnTo>
                  <a:lnTo>
                    <a:pt x="4769223" y="4552440"/>
                  </a:lnTo>
                  <a:lnTo>
                    <a:pt x="0" y="4552440"/>
                  </a:lnTo>
                  <a:lnTo>
                    <a:pt x="0"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90" name="Google Shape;490;p17"/>
            <p:cNvSpPr/>
            <p:nvPr/>
          </p:nvSpPr>
          <p:spPr>
            <a:xfrm rot="5400000" flipH="1">
              <a:off x="19646968" y="6372166"/>
              <a:ext cx="4769223" cy="4552440"/>
            </a:xfrm>
            <a:custGeom>
              <a:avLst/>
              <a:gdLst/>
              <a:ahLst/>
              <a:cxnLst/>
              <a:rect l="l" t="t" r="r" b="b"/>
              <a:pathLst>
                <a:path w="4769223" h="4552440" extrusionOk="0">
                  <a:moveTo>
                    <a:pt x="4769223" y="0"/>
                  </a:moveTo>
                  <a:lnTo>
                    <a:pt x="0" y="0"/>
                  </a:lnTo>
                  <a:lnTo>
                    <a:pt x="0" y="4552440"/>
                  </a:lnTo>
                  <a:lnTo>
                    <a:pt x="4769223" y="4552440"/>
                  </a:lnTo>
                  <a:lnTo>
                    <a:pt x="4769223"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491" name="Google Shape;491;p17"/>
            <p:cNvSpPr/>
            <p:nvPr/>
          </p:nvSpPr>
          <p:spPr>
            <a:xfrm rot="-5400000">
              <a:off x="-5594791" y="6372165"/>
              <a:ext cx="4769223" cy="4552440"/>
            </a:xfrm>
            <a:custGeom>
              <a:avLst/>
              <a:gdLst/>
              <a:ahLst/>
              <a:cxnLst/>
              <a:rect l="l" t="t" r="r" b="b"/>
              <a:pathLst>
                <a:path w="4769223" h="4552440" extrusionOk="0">
                  <a:moveTo>
                    <a:pt x="0" y="0"/>
                  </a:moveTo>
                  <a:lnTo>
                    <a:pt x="4769223" y="0"/>
                  </a:lnTo>
                  <a:lnTo>
                    <a:pt x="4769223" y="4552440"/>
                  </a:lnTo>
                  <a:lnTo>
                    <a:pt x="0" y="4552440"/>
                  </a:lnTo>
                  <a:lnTo>
                    <a:pt x="0"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grpSp>
      <p:pic>
        <p:nvPicPr>
          <p:cNvPr id="4" name="Picture 3">
            <a:extLst>
              <a:ext uri="{FF2B5EF4-FFF2-40B4-BE49-F238E27FC236}">
                <a16:creationId xmlns:a16="http://schemas.microsoft.com/office/drawing/2014/main" id="{CC297E1D-E642-4110-4F63-FDCD94F73C44}"/>
              </a:ext>
            </a:extLst>
          </p:cNvPr>
          <p:cNvPicPr>
            <a:picLocks noChangeAspect="1"/>
          </p:cNvPicPr>
          <p:nvPr/>
        </p:nvPicPr>
        <p:blipFill>
          <a:blip r:embed="rId6"/>
          <a:stretch>
            <a:fillRect/>
          </a:stretch>
        </p:blipFill>
        <p:spPr>
          <a:xfrm>
            <a:off x="-30865" y="-379171"/>
            <a:ext cx="7376930" cy="1998227"/>
          </a:xfrm>
          <a:prstGeom prst="rect">
            <a:avLst/>
          </a:prstGeom>
        </p:spPr>
      </p:pic>
      <p:sp>
        <p:nvSpPr>
          <p:cNvPr id="482" name="Google Shape;482;p17"/>
          <p:cNvSpPr txBox="1"/>
          <p:nvPr/>
        </p:nvSpPr>
        <p:spPr>
          <a:xfrm>
            <a:off x="243840" y="-57078"/>
            <a:ext cx="6827520" cy="1255696"/>
          </a:xfrm>
          <a:prstGeom prst="rect">
            <a:avLst/>
          </a:prstGeom>
          <a:noFill/>
          <a:ln>
            <a:noFill/>
          </a:ln>
        </p:spPr>
        <p:txBody>
          <a:bodyPr spcFirstLastPara="1" wrap="square" lIns="73140" tIns="36560" rIns="73140" bIns="36560" anchor="t" anchorCtr="0">
            <a:spAutoFit/>
          </a:bodyPr>
          <a:lstStyle/>
          <a:p>
            <a:r>
              <a:rPr lang="en-US" sz="7680" b="1" u="sng" dirty="0">
                <a:solidFill>
                  <a:srgbClr val="938953"/>
                </a:solidFill>
                <a:latin typeface="Arial Rounded"/>
                <a:ea typeface="Arial Rounded"/>
                <a:cs typeface="Arial Rounded"/>
                <a:sym typeface="Arial Rounded"/>
              </a:rPr>
              <a:t>Positioning</a:t>
            </a:r>
            <a:endParaRPr sz="1440" dirty="0"/>
          </a:p>
        </p:txBody>
      </p:sp>
      <p:sp>
        <p:nvSpPr>
          <p:cNvPr id="5" name="Text 0">
            <a:extLst>
              <a:ext uri="{FF2B5EF4-FFF2-40B4-BE49-F238E27FC236}">
                <a16:creationId xmlns:a16="http://schemas.microsoft.com/office/drawing/2014/main" id="{46A2D7A1-027F-2AA0-4DD7-EFE5CE11C52B}"/>
              </a:ext>
            </a:extLst>
          </p:cNvPr>
          <p:cNvSpPr/>
          <p:nvPr/>
        </p:nvSpPr>
        <p:spPr>
          <a:xfrm>
            <a:off x="378750" y="450586"/>
            <a:ext cx="5411986" cy="676513"/>
          </a:xfrm>
          <a:prstGeom prst="rect">
            <a:avLst/>
          </a:prstGeom>
          <a:noFill/>
          <a:ln/>
        </p:spPr>
        <p:txBody>
          <a:bodyPr wrap="none" lIns="0" tIns="0" rIns="0" bIns="0" rtlCol="0" anchor="t"/>
          <a:lstStyle/>
          <a:p>
            <a:pPr marL="0" indent="0" algn="ctr">
              <a:lnSpc>
                <a:spcPts val="5300"/>
              </a:lnSpc>
              <a:buNone/>
            </a:pPr>
            <a:r>
              <a:rPr lang="en-US" sz="96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Positioning</a:t>
            </a:r>
            <a:endParaRPr lang="en-US" sz="9600" b="1" dirty="0">
              <a:solidFill>
                <a:schemeClr val="accent4">
                  <a:lumMod val="20000"/>
                  <a:lumOff val="80000"/>
                </a:schemeClr>
              </a:solidFill>
              <a:effectLst>
                <a:outerShdw blurRad="38100" dist="38100" dir="2700000" algn="tl">
                  <a:srgbClr val="000000">
                    <a:alpha val="43137"/>
                  </a:srgbClr>
                </a:outerShdw>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3DC28754-140C-B057-257E-964C429E9F1F}"/>
              </a:ext>
            </a:extLst>
          </p:cNvPr>
          <p:cNvPicPr>
            <a:picLocks noChangeAspect="1"/>
          </p:cNvPicPr>
          <p:nvPr/>
        </p:nvPicPr>
        <p:blipFill>
          <a:blip r:embed="rId2"/>
          <a:stretch>
            <a:fillRect/>
          </a:stretch>
        </p:blipFill>
        <p:spPr>
          <a:xfrm>
            <a:off x="0" y="-263685"/>
            <a:ext cx="7376930" cy="1446357"/>
          </a:xfrm>
          <a:prstGeom prst="rect">
            <a:avLst/>
          </a:prstGeom>
        </p:spPr>
      </p:pic>
      <p:sp>
        <p:nvSpPr>
          <p:cNvPr id="2" name="Text 0">
            <a:extLst>
              <a:ext uri="{FF2B5EF4-FFF2-40B4-BE49-F238E27FC236}">
                <a16:creationId xmlns:a16="http://schemas.microsoft.com/office/drawing/2014/main" id="{0EAE7020-8EF3-93A5-4134-639CCD37ECDC}"/>
              </a:ext>
            </a:extLst>
          </p:cNvPr>
          <p:cNvSpPr/>
          <p:nvPr/>
        </p:nvSpPr>
        <p:spPr>
          <a:xfrm>
            <a:off x="207882" y="326899"/>
            <a:ext cx="6133386" cy="513874"/>
          </a:xfrm>
          <a:prstGeom prst="rect">
            <a:avLst/>
          </a:prstGeom>
          <a:noFill/>
          <a:ln/>
        </p:spPr>
        <p:txBody>
          <a:bodyPr wrap="none" lIns="0" tIns="0" rIns="0" bIns="0" rtlCol="0" anchor="t"/>
          <a:lstStyle/>
          <a:p>
            <a:pPr marL="0" indent="0" algn="l">
              <a:lnSpc>
                <a:spcPts val="4000"/>
              </a:lnSpc>
              <a:buNone/>
            </a:pPr>
            <a:r>
              <a:rPr lang="en-US" sz="54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Buyer Persona</a:t>
            </a:r>
            <a:endParaRPr lang="en-US" sz="5400" b="1" dirty="0">
              <a:solidFill>
                <a:schemeClr val="accent4">
                  <a:lumMod val="20000"/>
                  <a:lumOff val="80000"/>
                </a:schemeClr>
              </a:solidFill>
              <a:effectLst>
                <a:outerShdw blurRad="38100" dist="38100" dir="2700000" algn="tl">
                  <a:srgbClr val="000000">
                    <a:alpha val="43137"/>
                  </a:srgbClr>
                </a:outerShdw>
              </a:effectLst>
            </a:endParaRPr>
          </a:p>
        </p:txBody>
      </p:sp>
      <p:sp>
        <p:nvSpPr>
          <p:cNvPr id="27" name="Rectangle 26">
            <a:extLst>
              <a:ext uri="{FF2B5EF4-FFF2-40B4-BE49-F238E27FC236}">
                <a16:creationId xmlns:a16="http://schemas.microsoft.com/office/drawing/2014/main" id="{E377341C-F73C-F85C-C8F1-F8CEEB3746F9}"/>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45CC3E06-C820-9E07-4285-A35F7EC6B2FD}"/>
              </a:ext>
            </a:extLst>
          </p:cNvPr>
          <p:cNvGraphicFramePr>
            <a:graphicFrameLocks noGrp="1"/>
          </p:cNvGraphicFramePr>
          <p:nvPr>
            <p:extLst>
              <p:ext uri="{D42A27DB-BD31-4B8C-83A1-F6EECF244321}">
                <p14:modId xmlns:p14="http://schemas.microsoft.com/office/powerpoint/2010/main" val="181592055"/>
              </p:ext>
            </p:extLst>
          </p:nvPr>
        </p:nvGraphicFramePr>
        <p:xfrm>
          <a:off x="322729" y="1229521"/>
          <a:ext cx="14186647" cy="6860039"/>
        </p:xfrm>
        <a:graphic>
          <a:graphicData uri="http://schemas.openxmlformats.org/drawingml/2006/table">
            <a:tbl>
              <a:tblPr firstRow="1" bandRow="1">
                <a:tableStyleId>{5C22544A-7EE6-4342-B048-85BDC9FD1C3A}</a:tableStyleId>
              </a:tblPr>
              <a:tblGrid>
                <a:gridCol w="3025589">
                  <a:extLst>
                    <a:ext uri="{9D8B030D-6E8A-4147-A177-3AD203B41FA5}">
                      <a16:colId xmlns:a16="http://schemas.microsoft.com/office/drawing/2014/main" val="3040574642"/>
                    </a:ext>
                  </a:extLst>
                </a:gridCol>
                <a:gridCol w="11161058">
                  <a:extLst>
                    <a:ext uri="{9D8B030D-6E8A-4147-A177-3AD203B41FA5}">
                      <a16:colId xmlns:a16="http://schemas.microsoft.com/office/drawing/2014/main" val="815670618"/>
                    </a:ext>
                  </a:extLst>
                </a:gridCol>
              </a:tblGrid>
              <a:tr h="505130">
                <a:tc gridSpan="2">
                  <a:txBody>
                    <a:bodyPr/>
                    <a:lstStyle/>
                    <a:p>
                      <a:pPr algn="ctr"/>
                      <a:r>
                        <a:rPr lang="ar-EG" sz="2800" dirty="0">
                          <a:solidFill>
                            <a:schemeClr val="accent4">
                              <a:lumMod val="20000"/>
                              <a:lumOff val="80000"/>
                            </a:schemeClr>
                          </a:solidFill>
                          <a:effectLst>
                            <a:outerShdw blurRad="38100" dist="38100" dir="2700000" algn="tl">
                              <a:srgbClr val="000000">
                                <a:alpha val="43137"/>
                              </a:srgbClr>
                            </a:outerShdw>
                          </a:effectLst>
                        </a:rPr>
                        <a:t> </a:t>
                      </a:r>
                      <a:r>
                        <a:rPr lang="en-US" sz="2800" dirty="0">
                          <a:solidFill>
                            <a:schemeClr val="accent4">
                              <a:lumMod val="20000"/>
                              <a:lumOff val="80000"/>
                            </a:schemeClr>
                          </a:solidFill>
                          <a:effectLst>
                            <a:outerShdw blurRad="38100" dist="38100" dir="2700000" algn="tl">
                              <a:srgbClr val="000000">
                                <a:alpha val="43137"/>
                              </a:srgbClr>
                            </a:outerShdw>
                          </a:effectLst>
                        </a:rPr>
                        <a:t>Buyer Persona 1</a:t>
                      </a: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hMerge="1">
                  <a:txBody>
                    <a:bodyPr/>
                    <a:lstStyle/>
                    <a:p>
                      <a:endParaRPr dirty="0"/>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788970675"/>
                  </a:ext>
                </a:extLst>
              </a:tr>
              <a:tr h="504976">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Background</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محمد – صاحب مراكز تجميع الألبان – بيدور علي حهاز لتحليل العينات الخاصة بالبن ويكون سريع ودقه اكثر وضوحا</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3515108865"/>
                  </a:ext>
                </a:extLst>
              </a:tr>
              <a:tr h="504976">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demographic</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ذكر - متزوج - طبقة متوسطة - </a:t>
                      </a:r>
                      <a:r>
                        <a:rPr lang="en-US" sz="1800" b="1" i="0" u="none" strike="noStrike" dirty="0">
                          <a:solidFill>
                            <a:srgbClr val="F9EEE7"/>
                          </a:solidFill>
                          <a:effectLst/>
                          <a:latin typeface="Aptos Narrow" panose="020B0004020202020204" pitchFamily="34" charset="0"/>
                        </a:rPr>
                        <a:t>40</a:t>
                      </a:r>
                      <a:r>
                        <a:rPr lang="ar-EG" sz="1800" b="1" i="0" u="none" strike="noStrike" dirty="0">
                          <a:solidFill>
                            <a:srgbClr val="F9EEE7"/>
                          </a:solidFill>
                          <a:effectLst/>
                          <a:latin typeface="Aptos Narrow" panose="020B0004020202020204" pitchFamily="34" charset="0"/>
                        </a:rPr>
                        <a:t> سنة - فوق متوسط الدخل </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928813765"/>
                  </a:ext>
                </a:extLst>
              </a:tr>
              <a:tr h="738000">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Identifiers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يبحث عن أجهزة تحليل ألبان موثوقة، يهتم بجودة خدمة ما بعد البيع، يسأل عن الضمان والصيانة وقطع الغيار المتوفرة، يقارن بالأسعار والمواصفات مع المنافسين</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1371764875"/>
                  </a:ext>
                </a:extLst>
              </a:tr>
              <a:tr h="665412">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Goals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الحصول على أجهزة دقيقة وسريعة لتحليل عينات الألبان تكشف التلاعب وتوفر الوقت والجهد، وضمان صيانة مستمرة وقطع غيار متاحة بسهولة للحفاظ على استمرار العمل.</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919324975"/>
                  </a:ext>
                </a:extLst>
              </a:tr>
              <a:tr h="802265">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Challenges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اعتماد بعض معامل ومراكز التجميع على الطرق التقليدية (الطارة – الأنابيب) اللي بتاخد وقت طويل ومجهود، وكمان مش دقيقة في النتائج.</a:t>
                      </a:r>
                    </a:p>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خوف العملاء من الأعطال وصعوبة الصيانة أو نقص قطع الغيار بعد الشراء</a:t>
                      </a:r>
                    </a:p>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ارتفاع أسعار الأجهزة المستوردة وصعوبة على بعض المراكز الصغيرة إنها تستثمر فيها</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236645462"/>
                  </a:ext>
                </a:extLst>
              </a:tr>
              <a:tr h="1604531">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Solution</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توفير أجهزة تحليل حديثة زي </a:t>
                      </a:r>
                      <a:r>
                        <a:rPr lang="en-US" sz="1800" b="1" i="0" u="none" strike="noStrike" dirty="0">
                          <a:solidFill>
                            <a:srgbClr val="F9EEE7"/>
                          </a:solidFill>
                          <a:effectLst/>
                          <a:latin typeface="Aptos Narrow" panose="020B0004020202020204" pitchFamily="34" charset="0"/>
                        </a:rPr>
                        <a:t> </a:t>
                      </a:r>
                      <a:r>
                        <a:rPr lang="en-US" sz="1800" b="1" i="0" u="none" strike="noStrike" dirty="0" err="1">
                          <a:solidFill>
                            <a:srgbClr val="F9EEE7"/>
                          </a:solidFill>
                          <a:effectLst/>
                          <a:latin typeface="Aptos Narrow" panose="020B0004020202020204" pitchFamily="34" charset="0"/>
                        </a:rPr>
                        <a:t>Ecomilk</a:t>
                      </a:r>
                      <a:r>
                        <a:rPr lang="en-US" sz="1800" b="1" i="0" u="none" strike="noStrike" dirty="0">
                          <a:solidFill>
                            <a:srgbClr val="F9EEE7"/>
                          </a:solidFill>
                          <a:effectLst/>
                          <a:latin typeface="Aptos Narrow" panose="020B0004020202020204" pitchFamily="34" charset="0"/>
                        </a:rPr>
                        <a:t> &amp; Eco+</a:t>
                      </a:r>
                      <a:r>
                        <a:rPr lang="ar-EG" sz="1800" b="1" i="0" u="none" strike="noStrike" dirty="0">
                          <a:solidFill>
                            <a:srgbClr val="F9EEE7"/>
                          </a:solidFill>
                          <a:effectLst/>
                          <a:latin typeface="Aptos Narrow" panose="020B0004020202020204" pitchFamily="34" charset="0"/>
                        </a:rPr>
                        <a:t>اللي بتقدم نتائج دقيقة وسريعة (دسم، بروتين، كثافة، ماء مضاف، نقطة التجمد)، وبتكشف أي تلاعب في اللبن بسهولة.</a:t>
                      </a:r>
                      <a:endParaRPr lang="en-US" sz="1800" b="1" i="0" u="none" strike="noStrike" dirty="0">
                        <a:solidFill>
                          <a:srgbClr val="F9EEE7"/>
                        </a:solidFill>
                        <a:effectLst/>
                        <a:latin typeface="Aptos Narrow" panose="020B0004020202020204" pitchFamily="34" charset="0"/>
                      </a:endParaRPr>
                    </a:p>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تقديم خدمة صيانة قوية مع ضمان شامل لمدة سنتين + توافر قطع غيار أصلية بشكل مستمر، وخدمة ما بعد البيع سريعة وقريبة من أغلب المحافظات.</a:t>
                      </a:r>
                    </a:p>
                    <a:p>
                      <a:pPr marL="285750" indent="-285750" algn="r" rtl="1" fontAlgn="ctr">
                        <a:buFont typeface="Arial" panose="020B0604020202020204" pitchFamily="34" charset="0"/>
                        <a:buChar char="•"/>
                      </a:pPr>
                      <a:r>
                        <a:rPr lang="ar-EG" sz="1800" b="1" i="0" u="none" strike="noStrike" dirty="0">
                          <a:solidFill>
                            <a:srgbClr val="F9EEE7"/>
                          </a:solidFill>
                          <a:effectLst/>
                          <a:latin typeface="Aptos Narrow" panose="020B0004020202020204" pitchFamily="34" charset="0"/>
                        </a:rPr>
                        <a:t>طرح جهاز تحليل ألبان جديد (</a:t>
                      </a:r>
                      <a:r>
                        <a:rPr lang="en-US" sz="1800" b="1" i="0" u="none" strike="noStrike" dirty="0" err="1">
                          <a:solidFill>
                            <a:srgbClr val="F9EEE7"/>
                          </a:solidFill>
                          <a:effectLst/>
                          <a:latin typeface="Aptos Narrow" panose="020B0004020202020204" pitchFamily="34" charset="0"/>
                        </a:rPr>
                        <a:t>eko</a:t>
                      </a:r>
                      <a:r>
                        <a:rPr lang="en-US" sz="1800" b="1" i="0" u="none" strike="noStrike" dirty="0">
                          <a:solidFill>
                            <a:srgbClr val="F9EEE7"/>
                          </a:solidFill>
                          <a:effectLst/>
                          <a:latin typeface="Aptos Narrow" panose="020B0004020202020204" pitchFamily="34" charset="0"/>
                        </a:rPr>
                        <a:t>+</a:t>
                      </a:r>
                      <a:r>
                        <a:rPr lang="ar-EG" sz="1800" b="1" i="0" u="none" strike="noStrike" dirty="0">
                          <a:solidFill>
                            <a:srgbClr val="F9EEE7"/>
                          </a:solidFill>
                          <a:effectLst/>
                          <a:latin typeface="Aptos Narrow" panose="020B0004020202020204" pitchFamily="34" charset="0"/>
                        </a:rPr>
                        <a:t> مُجمع محلياً بمواصفات عالية وبسعر مناسب، عشان يناسب احتياجات السوق المصري ويكون بديل اقتصادي مع الحفاظ على الجودة.</a:t>
                      </a:r>
                      <a:r>
                        <a:rPr lang="en-US" sz="1800" b="1" i="0" u="none" strike="noStrike" dirty="0">
                          <a:solidFill>
                            <a:srgbClr val="F9EEE7"/>
                          </a:solidFill>
                          <a:effectLst/>
                          <a:latin typeface="Aptos Narrow" panose="020B0004020202020204" pitchFamily="34" charset="0"/>
                        </a:rPr>
                        <a:t>(</a:t>
                      </a:r>
                      <a:endParaRPr lang="ar-EG" sz="1800" b="1" i="0" u="none" strike="noStrike" dirty="0">
                        <a:solidFill>
                          <a:srgbClr val="F9EEE7"/>
                        </a:solidFill>
                        <a:effectLst/>
                        <a:latin typeface="Aptos Narrow" panose="020B0004020202020204" pitchFamily="34" charset="0"/>
                      </a:endParaRP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438988329"/>
                  </a:ext>
                </a:extLst>
              </a:tr>
              <a:tr h="657370">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Common Objections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القلق من جودة المنتج المحلي مقارنة بالمستورد – الشك في سرعة استجابة خدمة الصيانة – تفضيل التعامل مع الوكلاء القدامى مثل محمد عطية.</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839919742"/>
                  </a:ext>
                </a:extLst>
              </a:tr>
              <a:tr h="802265">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Marketing Messaging</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منتجات </a:t>
                      </a:r>
                      <a:r>
                        <a:rPr lang="en-US" sz="1800" b="1" i="0" u="none" strike="noStrike" dirty="0">
                          <a:solidFill>
                            <a:srgbClr val="F9EEE7"/>
                          </a:solidFill>
                          <a:effectLst/>
                          <a:latin typeface="Aptos Narrow" panose="020B0004020202020204" pitchFamily="34" charset="0"/>
                        </a:rPr>
                        <a:t> HPS </a:t>
                      </a:r>
                      <a:r>
                        <a:rPr lang="ar-EG" sz="1800" b="1" i="0" u="none" strike="noStrike" dirty="0">
                          <a:solidFill>
                            <a:srgbClr val="F9EEE7"/>
                          </a:solidFill>
                          <a:effectLst/>
                          <a:latin typeface="Aptos Narrow" panose="020B0004020202020204" pitchFamily="34" charset="0"/>
                        </a:rPr>
                        <a:t>تمنحك أفضل صيانة وأسرع خدمة في مصر مع أقرب مركز خدمة من محافظتك. أجهزتنا تضمن لك تحليل دقيق وسريع للألبان وكشف أي تلاعب. جهازنا المصري الجديد (</a:t>
                      </a:r>
                      <a:r>
                        <a:rPr lang="en-US" sz="1800" b="1" i="0" u="none" strike="noStrike" dirty="0" err="1">
                          <a:solidFill>
                            <a:srgbClr val="F9EEE7"/>
                          </a:solidFill>
                          <a:effectLst/>
                          <a:latin typeface="Aptos Narrow" panose="020B0004020202020204" pitchFamily="34" charset="0"/>
                        </a:rPr>
                        <a:t>eko</a:t>
                      </a:r>
                      <a:r>
                        <a:rPr lang="en-US" sz="1800" b="1" i="0" u="none" strike="noStrike" dirty="0">
                          <a:solidFill>
                            <a:srgbClr val="F9EEE7"/>
                          </a:solidFill>
                          <a:effectLst/>
                          <a:latin typeface="Aptos Narrow" panose="020B0004020202020204" pitchFamily="34" charset="0"/>
                        </a:rPr>
                        <a:t>+) </a:t>
                      </a:r>
                      <a:r>
                        <a:rPr lang="ar-EG" sz="1800" b="1" i="0" u="none" strike="noStrike" dirty="0">
                          <a:solidFill>
                            <a:srgbClr val="F9EEE7"/>
                          </a:solidFill>
                          <a:effectLst/>
                          <a:latin typeface="Aptos Narrow" panose="020B0004020202020204" pitchFamily="34" charset="0"/>
                        </a:rPr>
                        <a:t>يجمع بين السعر المناسب والجودة العالية، مع حماية شاملة من مشاكل الكهرباء وضمان لمدة سنتين.</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63942791"/>
                  </a:ext>
                </a:extLst>
              </a:tr>
            </a:tbl>
          </a:graphicData>
        </a:graphic>
      </p:graphicFrame>
    </p:spTree>
    <p:extLst>
      <p:ext uri="{BB962C8B-B14F-4D97-AF65-F5344CB8AC3E}">
        <p14:creationId xmlns:p14="http://schemas.microsoft.com/office/powerpoint/2010/main" val="406536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3DC28754-140C-B057-257E-964C429E9F1F}"/>
              </a:ext>
            </a:extLst>
          </p:cNvPr>
          <p:cNvPicPr>
            <a:picLocks noChangeAspect="1"/>
          </p:cNvPicPr>
          <p:nvPr/>
        </p:nvPicPr>
        <p:blipFill>
          <a:blip r:embed="rId2"/>
          <a:stretch>
            <a:fillRect/>
          </a:stretch>
        </p:blipFill>
        <p:spPr>
          <a:xfrm>
            <a:off x="0" y="-263685"/>
            <a:ext cx="7376930" cy="1446357"/>
          </a:xfrm>
          <a:prstGeom prst="rect">
            <a:avLst/>
          </a:prstGeom>
        </p:spPr>
      </p:pic>
      <p:sp>
        <p:nvSpPr>
          <p:cNvPr id="2" name="Text 0">
            <a:extLst>
              <a:ext uri="{FF2B5EF4-FFF2-40B4-BE49-F238E27FC236}">
                <a16:creationId xmlns:a16="http://schemas.microsoft.com/office/drawing/2014/main" id="{0EAE7020-8EF3-93A5-4134-639CCD37ECDC}"/>
              </a:ext>
            </a:extLst>
          </p:cNvPr>
          <p:cNvSpPr/>
          <p:nvPr/>
        </p:nvSpPr>
        <p:spPr>
          <a:xfrm>
            <a:off x="207882" y="326899"/>
            <a:ext cx="6133386" cy="513874"/>
          </a:xfrm>
          <a:prstGeom prst="rect">
            <a:avLst/>
          </a:prstGeom>
          <a:noFill/>
          <a:ln/>
        </p:spPr>
        <p:txBody>
          <a:bodyPr wrap="none" lIns="0" tIns="0" rIns="0" bIns="0" rtlCol="0" anchor="t"/>
          <a:lstStyle/>
          <a:p>
            <a:pPr marL="0" indent="0" algn="l">
              <a:lnSpc>
                <a:spcPts val="4000"/>
              </a:lnSpc>
              <a:buNone/>
            </a:pPr>
            <a:r>
              <a:rPr lang="en-US" sz="54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Buyer Persona</a:t>
            </a:r>
            <a:endParaRPr lang="en-US" sz="5400" b="1" dirty="0">
              <a:solidFill>
                <a:schemeClr val="accent4">
                  <a:lumMod val="20000"/>
                  <a:lumOff val="80000"/>
                </a:schemeClr>
              </a:solidFill>
              <a:effectLst>
                <a:outerShdw blurRad="38100" dist="38100" dir="2700000" algn="tl">
                  <a:srgbClr val="000000">
                    <a:alpha val="43137"/>
                  </a:srgbClr>
                </a:outerShdw>
              </a:effectLst>
            </a:endParaRPr>
          </a:p>
        </p:txBody>
      </p:sp>
      <p:sp>
        <p:nvSpPr>
          <p:cNvPr id="27" name="Rectangle 26">
            <a:extLst>
              <a:ext uri="{FF2B5EF4-FFF2-40B4-BE49-F238E27FC236}">
                <a16:creationId xmlns:a16="http://schemas.microsoft.com/office/drawing/2014/main" id="{E377341C-F73C-F85C-C8F1-F8CEEB3746F9}"/>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 name="Table 27">
            <a:extLst>
              <a:ext uri="{FF2B5EF4-FFF2-40B4-BE49-F238E27FC236}">
                <a16:creationId xmlns:a16="http://schemas.microsoft.com/office/drawing/2014/main" id="{45CC3E06-C820-9E07-4285-A35F7EC6B2FD}"/>
              </a:ext>
            </a:extLst>
          </p:cNvPr>
          <p:cNvGraphicFramePr>
            <a:graphicFrameLocks noGrp="1"/>
          </p:cNvGraphicFramePr>
          <p:nvPr>
            <p:extLst>
              <p:ext uri="{D42A27DB-BD31-4B8C-83A1-F6EECF244321}">
                <p14:modId xmlns:p14="http://schemas.microsoft.com/office/powerpoint/2010/main" val="3002255127"/>
              </p:ext>
            </p:extLst>
          </p:nvPr>
        </p:nvGraphicFramePr>
        <p:xfrm>
          <a:off x="309282" y="1740112"/>
          <a:ext cx="13829771" cy="5676018"/>
        </p:xfrm>
        <a:graphic>
          <a:graphicData uri="http://schemas.openxmlformats.org/drawingml/2006/table">
            <a:tbl>
              <a:tblPr firstRow="1" bandRow="1">
                <a:tableStyleId>{5C22544A-7EE6-4342-B048-85BDC9FD1C3A}</a:tableStyleId>
              </a:tblPr>
              <a:tblGrid>
                <a:gridCol w="3294530">
                  <a:extLst>
                    <a:ext uri="{9D8B030D-6E8A-4147-A177-3AD203B41FA5}">
                      <a16:colId xmlns:a16="http://schemas.microsoft.com/office/drawing/2014/main" val="3040574642"/>
                    </a:ext>
                  </a:extLst>
                </a:gridCol>
                <a:gridCol w="10535241">
                  <a:extLst>
                    <a:ext uri="{9D8B030D-6E8A-4147-A177-3AD203B41FA5}">
                      <a16:colId xmlns:a16="http://schemas.microsoft.com/office/drawing/2014/main" val="815670618"/>
                    </a:ext>
                  </a:extLst>
                </a:gridCol>
              </a:tblGrid>
              <a:tr h="572581">
                <a:tc gridSpan="2">
                  <a:txBody>
                    <a:bodyPr/>
                    <a:lstStyle/>
                    <a:p>
                      <a:pPr algn="ctr"/>
                      <a:r>
                        <a:rPr lang="ar-EG" sz="2800" dirty="0">
                          <a:solidFill>
                            <a:schemeClr val="accent4">
                              <a:lumMod val="20000"/>
                              <a:lumOff val="80000"/>
                            </a:schemeClr>
                          </a:solidFill>
                          <a:effectLst>
                            <a:outerShdw blurRad="38100" dist="38100" dir="2700000" algn="tl">
                              <a:srgbClr val="000000">
                                <a:alpha val="43137"/>
                              </a:srgbClr>
                            </a:outerShdw>
                          </a:effectLst>
                        </a:rPr>
                        <a:t> </a:t>
                      </a:r>
                      <a:r>
                        <a:rPr lang="en-US" sz="2800" dirty="0">
                          <a:solidFill>
                            <a:schemeClr val="accent4">
                              <a:lumMod val="20000"/>
                              <a:lumOff val="80000"/>
                            </a:schemeClr>
                          </a:solidFill>
                          <a:effectLst>
                            <a:outerShdw blurRad="38100" dist="38100" dir="2700000" algn="tl">
                              <a:srgbClr val="000000">
                                <a:alpha val="43137"/>
                              </a:srgbClr>
                            </a:outerShdw>
                          </a:effectLst>
                        </a:rPr>
                        <a:t>Buyer Persona </a:t>
                      </a:r>
                      <a:r>
                        <a:rPr lang="ar-EG" sz="2800" dirty="0">
                          <a:solidFill>
                            <a:schemeClr val="accent4">
                              <a:lumMod val="20000"/>
                              <a:lumOff val="80000"/>
                            </a:schemeClr>
                          </a:solidFill>
                          <a:effectLst>
                            <a:outerShdw blurRad="38100" dist="38100" dir="2700000" algn="tl">
                              <a:srgbClr val="000000">
                                <a:alpha val="43137"/>
                              </a:srgbClr>
                            </a:outerShdw>
                          </a:effectLst>
                        </a:rPr>
                        <a:t>  2</a:t>
                      </a:r>
                      <a:endParaRPr lang="en-US" sz="2800" dirty="0">
                        <a:solidFill>
                          <a:schemeClr val="accent4">
                            <a:lumMod val="20000"/>
                            <a:lumOff val="80000"/>
                          </a:schemeClr>
                        </a:solidFill>
                        <a:effectLst>
                          <a:outerShdw blurRad="38100" dist="38100" dir="2700000" algn="tl">
                            <a:srgbClr val="000000">
                              <a:alpha val="43137"/>
                            </a:srgbClr>
                          </a:outerShdw>
                        </a:effectLst>
                      </a:endParaRPr>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hMerge="1">
                  <a:txBody>
                    <a:bodyPr/>
                    <a:lstStyle/>
                    <a:p>
                      <a:endParaRPr dirty="0"/>
                    </a:p>
                  </a:txBody>
                  <a:tcPr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788970675"/>
                  </a:ext>
                </a:extLst>
              </a:tr>
              <a:tr h="602087">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Background</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a:solidFill>
                            <a:srgbClr val="F9EEE7"/>
                          </a:solidFill>
                          <a:effectLst/>
                          <a:latin typeface="Aptos Narrow" panose="020B0004020202020204" pitchFamily="34" charset="0"/>
                        </a:rPr>
                        <a:t>احمد - متعلم - صاحب معامل البان وجبن طبيعية - بيدور علي جهاز يظبط الكهربا لأجهزة كشف اللبن المغوش</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3515108865"/>
                  </a:ext>
                </a:extLst>
              </a:tr>
              <a:tr h="602087">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demographic</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ذكر - متزوج - طبقة متوسطة - 45 سنة - فوق متوسط الدخل </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928813765"/>
                  </a:ext>
                </a:extLst>
              </a:tr>
              <a:tr h="602087">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Identifiers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a:solidFill>
                            <a:srgbClr val="F9EEE7"/>
                          </a:solidFill>
                          <a:effectLst/>
                          <a:latin typeface="Aptos Narrow" panose="020B0004020202020204" pitchFamily="34" charset="0"/>
                        </a:rPr>
                        <a:t>عايز جهاز لتظبيط الكهرباء لاللأجهزة الخاصخ بتحليل الالبان بحيث تكون 220</a:t>
                      </a:r>
                      <a:r>
                        <a:rPr lang="en-US" sz="1800" b="1" i="0" u="none" strike="noStrike">
                          <a:solidFill>
                            <a:srgbClr val="F9EEE7"/>
                          </a:solidFill>
                          <a:effectLst/>
                          <a:latin typeface="Aptos Narrow" panose="020B0004020202020204" pitchFamily="34" charset="0"/>
                        </a:rPr>
                        <a:t>V </a:t>
                      </a:r>
                      <a:r>
                        <a:rPr lang="ar-EG" sz="1800" b="1" i="0" u="none" strike="noStrike">
                          <a:solidFill>
                            <a:srgbClr val="F9EEE7"/>
                          </a:solidFill>
                          <a:effectLst/>
                          <a:latin typeface="Aptos Narrow" panose="020B0004020202020204" pitchFamily="34" charset="0"/>
                        </a:rPr>
                        <a:t>عشان متزيدش ولا تقل عن كده لعدم التسبب في خرق الجهاز</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1371764875"/>
                  </a:ext>
                </a:extLst>
              </a:tr>
              <a:tr h="602087">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Goals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a:solidFill>
                            <a:srgbClr val="F9EEE7"/>
                          </a:solidFill>
                          <a:effectLst/>
                          <a:latin typeface="Aptos Narrow" panose="020B0004020202020204" pitchFamily="34" charset="0"/>
                        </a:rPr>
                        <a:t>يلاقي جهاز بسعر مناسب وعمر افتراضي كبير يساعده في ضبط الكهرباء للأجهزة</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919324975"/>
                  </a:ext>
                </a:extLst>
              </a:tr>
              <a:tr h="602087">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Challenges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a:solidFill>
                            <a:srgbClr val="F9EEE7"/>
                          </a:solidFill>
                          <a:effectLst/>
                          <a:latin typeface="Aptos Narrow" panose="020B0004020202020204" pitchFamily="34" charset="0"/>
                        </a:rPr>
                        <a:t>مش لاقي جهاز كويس - السعر غالي جدا بسبب الاستيراد بالعلملة الاجنبية </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236645462"/>
                  </a:ext>
                </a:extLst>
              </a:tr>
              <a:tr h="591275">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Solution</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تصميم جهاز </a:t>
                      </a:r>
                      <a:r>
                        <a:rPr lang="en-US" sz="1800" b="1" i="0" u="none" strike="noStrike" dirty="0">
                          <a:solidFill>
                            <a:srgbClr val="F9EEE7"/>
                          </a:solidFill>
                          <a:effectLst/>
                          <a:latin typeface="Aptos Narrow" panose="020B0004020202020204" pitchFamily="34" charset="0"/>
                        </a:rPr>
                        <a:t> XYZ </a:t>
                      </a:r>
                      <a:r>
                        <a:rPr lang="ar-EG" sz="1800" b="1" i="0" u="none" strike="noStrike" dirty="0">
                          <a:solidFill>
                            <a:srgbClr val="F9EEE7"/>
                          </a:solidFill>
                          <a:effectLst/>
                          <a:latin typeface="Aptos Narrow" panose="020B0004020202020204" pitchFamily="34" charset="0"/>
                        </a:rPr>
                        <a:t>لتظبيط الكهرباء للأجهزة المستخدمه لتحليل الالبان وكشف الغش - توفير الجهاز بسعر مناسب وضمان ضد عيوب الصناعة</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438988329"/>
                  </a:ext>
                </a:extLst>
              </a:tr>
              <a:tr h="572581">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Common Objections</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مش لاقي شركة كويسة - السعر غالي جدا - مفيش ضمان - خدمة ما بعد البيع - عمر افتراضي طويل</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839919742"/>
                  </a:ext>
                </a:extLst>
              </a:tr>
              <a:tr h="929146">
                <a:tc>
                  <a:txBody>
                    <a:bodyPr/>
                    <a:lstStyle/>
                    <a:p>
                      <a:pPr algn="l" fontAlgn="ctr"/>
                      <a:r>
                        <a:rPr lang="en-US" sz="2400" b="1" i="0" u="none" strike="noStrike" dirty="0">
                          <a:solidFill>
                            <a:srgbClr val="F9EEE7"/>
                          </a:solidFill>
                          <a:effectLst>
                            <a:outerShdw blurRad="38100" dist="38100" dir="2700000" algn="tl">
                              <a:srgbClr val="000000">
                                <a:alpha val="43137"/>
                              </a:srgbClr>
                            </a:outerShdw>
                          </a:effectLst>
                          <a:latin typeface="Aptos" panose="020B0004020202020204" pitchFamily="34" charset="0"/>
                        </a:rPr>
                        <a:t>Marketing Messaging</a:t>
                      </a:r>
                    </a:p>
                  </a:txBody>
                  <a:tcPr marL="0" marR="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tc>
                  <a:txBody>
                    <a:bodyPr/>
                    <a:lstStyle/>
                    <a:p>
                      <a:pPr algn="r" rtl="1" fontAlgn="ctr"/>
                      <a:r>
                        <a:rPr lang="ar-EG" sz="1800" b="1" i="0" u="none" strike="noStrike" dirty="0">
                          <a:solidFill>
                            <a:srgbClr val="F9EEE7"/>
                          </a:solidFill>
                          <a:effectLst/>
                          <a:latin typeface="Aptos Narrow" panose="020B0004020202020204" pitchFamily="34" charset="0"/>
                        </a:rPr>
                        <a:t>جهازنا بيوفرلك كهربا ثابتة 220</a:t>
                      </a:r>
                      <a:r>
                        <a:rPr lang="en-US" sz="1800" b="1" i="0" u="none" strike="noStrike" dirty="0">
                          <a:solidFill>
                            <a:srgbClr val="F9EEE7"/>
                          </a:solidFill>
                          <a:effectLst/>
                          <a:latin typeface="Aptos Narrow" panose="020B0004020202020204" pitchFamily="34" charset="0"/>
                        </a:rPr>
                        <a:t>V </a:t>
                      </a:r>
                      <a:r>
                        <a:rPr lang="ar-EG" sz="1800" b="1" i="0" u="none" strike="noStrike" dirty="0">
                          <a:solidFill>
                            <a:srgbClr val="F9EEE7"/>
                          </a:solidFill>
                          <a:effectLst/>
                          <a:latin typeface="Aptos Narrow" panose="020B0004020202020204" pitchFamily="34" charset="0"/>
                        </a:rPr>
                        <a:t>تحمي أجهزة كشف الألبان من أي عطل.</a:t>
                      </a:r>
                      <a:br>
                        <a:rPr lang="ar-EG" sz="1800" b="1" i="0" u="none" strike="noStrike" dirty="0">
                          <a:solidFill>
                            <a:srgbClr val="F9EEE7"/>
                          </a:solidFill>
                          <a:effectLst/>
                          <a:latin typeface="Aptos Narrow" panose="020B0004020202020204" pitchFamily="34" charset="0"/>
                        </a:rPr>
                      </a:br>
                      <a:r>
                        <a:rPr lang="ar-EG" sz="1800" b="1" i="0" u="none" strike="noStrike" dirty="0">
                          <a:solidFill>
                            <a:srgbClr val="F9EEE7"/>
                          </a:solidFill>
                          <a:effectLst/>
                          <a:latin typeface="Aptos Narrow" panose="020B0004020202020204" pitchFamily="34" charset="0"/>
                        </a:rPr>
                        <a:t>بيخليك مطمّن إن أجهزتك الغالية شغّالة بكفاءة ومن غير خسائر.</a:t>
                      </a:r>
                      <a:br>
                        <a:rPr lang="ar-EG" sz="1800" b="1" i="0" u="none" strike="noStrike" dirty="0">
                          <a:solidFill>
                            <a:srgbClr val="F9EEE7"/>
                          </a:solidFill>
                          <a:effectLst/>
                          <a:latin typeface="Aptos Narrow" panose="020B0004020202020204" pitchFamily="34" charset="0"/>
                        </a:rPr>
                      </a:br>
                      <a:r>
                        <a:rPr lang="ar-EG" sz="1800" b="1" i="0" u="none" strike="noStrike" dirty="0">
                          <a:solidFill>
                            <a:srgbClr val="F9EEE7"/>
                          </a:solidFill>
                          <a:effectLst/>
                          <a:latin typeface="Aptos Narrow" panose="020B0004020202020204" pitchFamily="34" charset="0"/>
                        </a:rPr>
                        <a:t>سهل الاستخدام، عمره طويل، ومعاه ضمان كامل يضمنلك راحة البال.</a:t>
                      </a:r>
                    </a:p>
                  </a:txBody>
                  <a:tcPr marL="0" marR="68580" marT="0" marB="0" anchor="ctr">
                    <a:lnL w="12700" cap="flat" cmpd="sng" algn="ctr">
                      <a:solidFill>
                        <a:schemeClr val="bg1"/>
                      </a:solidFill>
                      <a:prstDash val="sysDash"/>
                      <a:round/>
                      <a:headEnd type="none" w="med" len="med"/>
                      <a:tailEnd type="none" w="med" len="med"/>
                    </a:lnL>
                    <a:lnR w="12700" cap="flat" cmpd="sng" algn="ctr">
                      <a:solidFill>
                        <a:schemeClr val="bg1"/>
                      </a:solidFill>
                      <a:prstDash val="sysDash"/>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bg1"/>
                      </a:solidFill>
                      <a:prstDash val="sysDash"/>
                      <a:round/>
                      <a:headEnd type="none" w="med" len="med"/>
                      <a:tailEnd type="none" w="med" len="med"/>
                    </a:lnB>
                    <a:solidFill>
                      <a:schemeClr val="accent6">
                        <a:lumMod val="50000"/>
                      </a:schemeClr>
                    </a:solidFill>
                  </a:tcPr>
                </a:tc>
                <a:extLst>
                  <a:ext uri="{0D108BD9-81ED-4DB2-BD59-A6C34878D82A}">
                    <a16:rowId xmlns:a16="http://schemas.microsoft.com/office/drawing/2014/main" val="263942791"/>
                  </a:ext>
                </a:extLst>
              </a:tr>
            </a:tbl>
          </a:graphicData>
        </a:graphic>
      </p:graphicFrame>
    </p:spTree>
    <p:extLst>
      <p:ext uri="{BB962C8B-B14F-4D97-AF65-F5344CB8AC3E}">
        <p14:creationId xmlns:p14="http://schemas.microsoft.com/office/powerpoint/2010/main" val="1340285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33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4276D53-0723-2D72-431E-A3C367DDADE4}"/>
              </a:ext>
            </a:extLst>
          </p:cNvPr>
          <p:cNvCxnSpPr>
            <a:cxnSpLocks/>
          </p:cNvCxnSpPr>
          <p:nvPr/>
        </p:nvCxnSpPr>
        <p:spPr>
          <a:xfrm>
            <a:off x="387276" y="3617268"/>
            <a:ext cx="5913120" cy="0"/>
          </a:xfrm>
          <a:prstGeom prst="line">
            <a:avLst/>
          </a:prstGeom>
          <a:ln w="50800">
            <a:solidFill>
              <a:srgbClr val="C4BD97"/>
            </a:solidFill>
          </a:ln>
          <a:effectLst>
            <a:outerShdw blurRad="63500" sx="102000" sy="102000" algn="ctr" rotWithShape="0">
              <a:prstClr val="black">
                <a:alpha val="40000"/>
              </a:prstClr>
            </a:outerShdw>
            <a:reflection blurRad="6350" stA="50000" endA="300" endPos="90000" dir="5400000" sy="-100000" algn="bl" rotWithShape="0"/>
          </a:effectLst>
        </p:spPr>
        <p:style>
          <a:lnRef idx="3">
            <a:schemeClr val="dk1"/>
          </a:lnRef>
          <a:fillRef idx="0">
            <a:schemeClr val="dk1"/>
          </a:fillRef>
          <a:effectRef idx="2">
            <a:schemeClr val="dk1"/>
          </a:effectRef>
          <a:fontRef idx="minor">
            <a:schemeClr val="tx1"/>
          </a:fontRef>
        </p:style>
      </p:cxnSp>
      <p:cxnSp>
        <p:nvCxnSpPr>
          <p:cNvPr id="8" name="Straight Connector 7">
            <a:extLst>
              <a:ext uri="{FF2B5EF4-FFF2-40B4-BE49-F238E27FC236}">
                <a16:creationId xmlns:a16="http://schemas.microsoft.com/office/drawing/2014/main" id="{D0884432-988A-EA98-7487-18751FDB36C8}"/>
              </a:ext>
            </a:extLst>
          </p:cNvPr>
          <p:cNvCxnSpPr>
            <a:cxnSpLocks/>
          </p:cNvCxnSpPr>
          <p:nvPr/>
        </p:nvCxnSpPr>
        <p:spPr>
          <a:xfrm>
            <a:off x="7519596" y="3611172"/>
            <a:ext cx="5913120" cy="0"/>
          </a:xfrm>
          <a:prstGeom prst="line">
            <a:avLst/>
          </a:prstGeom>
          <a:ln w="50800">
            <a:solidFill>
              <a:srgbClr val="C4BD97"/>
            </a:solidFill>
          </a:ln>
          <a:effectLst>
            <a:outerShdw blurRad="63500" sx="102000" sy="102000" algn="ctr" rotWithShape="0">
              <a:prstClr val="black">
                <a:alpha val="40000"/>
              </a:prstClr>
            </a:outerShdw>
            <a:reflection blurRad="6350" stA="50000" endA="300" endPos="90000" dir="5400000" sy="-100000" algn="bl" rotWithShape="0"/>
          </a:effectLst>
        </p:spPr>
        <p:style>
          <a:lnRef idx="3">
            <a:schemeClr val="dk1"/>
          </a:lnRef>
          <a:fillRef idx="0">
            <a:schemeClr val="dk1"/>
          </a:fillRef>
          <a:effectRef idx="2">
            <a:schemeClr val="dk1"/>
          </a:effectRef>
          <a:fontRef idx="minor">
            <a:schemeClr val="tx1"/>
          </a:fontRef>
        </p:style>
      </p:cxnSp>
      <p:grpSp>
        <p:nvGrpSpPr>
          <p:cNvPr id="15" name="Google Shape;7572;p20">
            <a:extLst>
              <a:ext uri="{FF2B5EF4-FFF2-40B4-BE49-F238E27FC236}">
                <a16:creationId xmlns:a16="http://schemas.microsoft.com/office/drawing/2014/main" id="{DACE0CB2-3AF3-BC88-8733-77E59A9B0BA3}"/>
              </a:ext>
            </a:extLst>
          </p:cNvPr>
          <p:cNvGrpSpPr/>
          <p:nvPr/>
        </p:nvGrpSpPr>
        <p:grpSpPr>
          <a:xfrm>
            <a:off x="9275177" y="1136922"/>
            <a:ext cx="3876042" cy="2143273"/>
            <a:chOff x="-1951475" y="3597450"/>
            <a:chExt cx="295375" cy="291450"/>
          </a:xfrm>
          <a:solidFill>
            <a:srgbClr val="5E752F"/>
          </a:solidFill>
          <a:effectLst>
            <a:outerShdw blurRad="63500" sx="102000" sy="102000" algn="ctr" rotWithShape="0">
              <a:prstClr val="black">
                <a:alpha val="40000"/>
              </a:prstClr>
            </a:outerShdw>
          </a:effectLst>
        </p:grpSpPr>
        <p:sp>
          <p:nvSpPr>
            <p:cNvPr id="16" name="Google Shape;7573;p20">
              <a:extLst>
                <a:ext uri="{FF2B5EF4-FFF2-40B4-BE49-F238E27FC236}">
                  <a16:creationId xmlns:a16="http://schemas.microsoft.com/office/drawing/2014/main" id="{0566C3CB-5A07-548E-A9A3-0A424B670E8F}"/>
                </a:ext>
              </a:extLst>
            </p:cNvPr>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sp>
          <p:nvSpPr>
            <p:cNvPr id="17" name="Google Shape;7574;p20">
              <a:extLst>
                <a:ext uri="{FF2B5EF4-FFF2-40B4-BE49-F238E27FC236}">
                  <a16:creationId xmlns:a16="http://schemas.microsoft.com/office/drawing/2014/main" id="{C6982A01-FDE3-F909-7774-02261261E675}"/>
                </a:ext>
              </a:extLst>
            </p:cNvPr>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sp>
          <p:nvSpPr>
            <p:cNvPr id="18" name="Google Shape;7575;p20">
              <a:extLst>
                <a:ext uri="{FF2B5EF4-FFF2-40B4-BE49-F238E27FC236}">
                  <a16:creationId xmlns:a16="http://schemas.microsoft.com/office/drawing/2014/main" id="{12697359-AE9A-206F-4DE0-39EF4E28F7BA}"/>
                </a:ext>
              </a:extLst>
            </p:cNvPr>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sp>
          <p:nvSpPr>
            <p:cNvPr id="19" name="Google Shape;7576;p20">
              <a:extLst>
                <a:ext uri="{FF2B5EF4-FFF2-40B4-BE49-F238E27FC236}">
                  <a16:creationId xmlns:a16="http://schemas.microsoft.com/office/drawing/2014/main" id="{C644C153-57BC-B4E2-FB01-17112661DD0E}"/>
                </a:ext>
              </a:extLst>
            </p:cNvPr>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grpSp>
      <p:sp>
        <p:nvSpPr>
          <p:cNvPr id="36" name="TextBox 35">
            <a:extLst>
              <a:ext uri="{FF2B5EF4-FFF2-40B4-BE49-F238E27FC236}">
                <a16:creationId xmlns:a16="http://schemas.microsoft.com/office/drawing/2014/main" id="{24017717-834F-78F7-DACA-CB40BA6F17CC}"/>
              </a:ext>
            </a:extLst>
          </p:cNvPr>
          <p:cNvSpPr txBox="1"/>
          <p:nvPr/>
        </p:nvSpPr>
        <p:spPr>
          <a:xfrm>
            <a:off x="448236" y="3892684"/>
            <a:ext cx="5570660" cy="535531"/>
          </a:xfrm>
          <a:prstGeom prst="rect">
            <a:avLst/>
          </a:prstGeom>
          <a:noFill/>
        </p:spPr>
        <p:txBody>
          <a:bodyPr wrap="square" rtlCol="0">
            <a:spAutoFit/>
          </a:bodyPr>
          <a:lstStyle/>
          <a:p>
            <a:pPr algn="ctr"/>
            <a:r>
              <a:rPr lang="en-US" sz="2880" b="1" dirty="0">
                <a:solidFill>
                  <a:srgbClr val="DDD9C3"/>
                </a:solidFill>
                <a:effectLst>
                  <a:outerShdw blurRad="38100" dist="38100" dir="2700000" algn="tl">
                    <a:srgbClr val="000000">
                      <a:alpha val="43137"/>
                    </a:srgbClr>
                  </a:outerShdw>
                </a:effectLst>
                <a:latin typeface="Arial Rounded MT Bold" panose="020F0704030504030204" pitchFamily="34" charset="0"/>
              </a:rPr>
              <a:t>Direct Sales</a:t>
            </a:r>
          </a:p>
        </p:txBody>
      </p:sp>
      <p:sp>
        <p:nvSpPr>
          <p:cNvPr id="42" name="TextBox 41">
            <a:extLst>
              <a:ext uri="{FF2B5EF4-FFF2-40B4-BE49-F238E27FC236}">
                <a16:creationId xmlns:a16="http://schemas.microsoft.com/office/drawing/2014/main" id="{9583E929-E204-7DB2-CA61-F0AD7AE430DC}"/>
              </a:ext>
            </a:extLst>
          </p:cNvPr>
          <p:cNvSpPr txBox="1"/>
          <p:nvPr/>
        </p:nvSpPr>
        <p:spPr>
          <a:xfrm>
            <a:off x="7484250" y="3880968"/>
            <a:ext cx="6135540" cy="486287"/>
          </a:xfrm>
          <a:prstGeom prst="rect">
            <a:avLst/>
          </a:prstGeom>
          <a:noFill/>
        </p:spPr>
        <p:txBody>
          <a:bodyPr wrap="square" rtlCol="0">
            <a:spAutoFit/>
          </a:bodyPr>
          <a:lstStyle/>
          <a:p>
            <a:pPr algn="ctr"/>
            <a:r>
              <a:rPr lang="en-US" sz="2560" b="1" dirty="0">
                <a:solidFill>
                  <a:srgbClr val="DDD9C3"/>
                </a:solidFill>
                <a:effectLst>
                  <a:outerShdw blurRad="38100" dist="38100" dir="2700000" algn="tl">
                    <a:srgbClr val="000000">
                      <a:alpha val="43137"/>
                    </a:srgbClr>
                  </a:outerShdw>
                </a:effectLst>
                <a:latin typeface="Arial Rounded MT Bold" panose="020F0704030504030204" pitchFamily="34" charset="0"/>
              </a:rPr>
              <a:t>Social media “ Facebook only”</a:t>
            </a:r>
          </a:p>
        </p:txBody>
      </p:sp>
      <p:grpSp>
        <p:nvGrpSpPr>
          <p:cNvPr id="58" name="Google Shape;7622;p20">
            <a:extLst>
              <a:ext uri="{FF2B5EF4-FFF2-40B4-BE49-F238E27FC236}">
                <a16:creationId xmlns:a16="http://schemas.microsoft.com/office/drawing/2014/main" id="{273F5DC3-1378-70E0-2296-BFB394F29802}"/>
              </a:ext>
            </a:extLst>
          </p:cNvPr>
          <p:cNvGrpSpPr/>
          <p:nvPr/>
        </p:nvGrpSpPr>
        <p:grpSpPr>
          <a:xfrm>
            <a:off x="1511446" y="1279420"/>
            <a:ext cx="4110954" cy="1984513"/>
            <a:chOff x="-1591550" y="3597475"/>
            <a:chExt cx="293825" cy="294575"/>
          </a:xfrm>
          <a:solidFill>
            <a:srgbClr val="5E752F"/>
          </a:solidFill>
          <a:effectLst>
            <a:outerShdw blurRad="63500" sx="102000" sy="102000" algn="ctr" rotWithShape="0">
              <a:prstClr val="black">
                <a:alpha val="40000"/>
              </a:prstClr>
            </a:outerShdw>
          </a:effectLst>
        </p:grpSpPr>
        <p:sp>
          <p:nvSpPr>
            <p:cNvPr id="59" name="Google Shape;7623;p20">
              <a:extLst>
                <a:ext uri="{FF2B5EF4-FFF2-40B4-BE49-F238E27FC236}">
                  <a16:creationId xmlns:a16="http://schemas.microsoft.com/office/drawing/2014/main" id="{E15CF323-CA47-49E2-115A-E85D5CBFD100}"/>
                </a:ext>
              </a:extLst>
            </p:cNvPr>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sp>
          <p:nvSpPr>
            <p:cNvPr id="60" name="Google Shape;7624;p20">
              <a:extLst>
                <a:ext uri="{FF2B5EF4-FFF2-40B4-BE49-F238E27FC236}">
                  <a16:creationId xmlns:a16="http://schemas.microsoft.com/office/drawing/2014/main" id="{BD5D07C5-EA8F-1756-E3D8-E43407EE7A54}"/>
                </a:ext>
              </a:extLst>
            </p:cNvPr>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sp>
          <p:nvSpPr>
            <p:cNvPr id="61" name="Google Shape;7625;p20">
              <a:extLst>
                <a:ext uri="{FF2B5EF4-FFF2-40B4-BE49-F238E27FC236}">
                  <a16:creationId xmlns:a16="http://schemas.microsoft.com/office/drawing/2014/main" id="{B5090F6B-4393-6E00-0C33-559CE47A6DDA}"/>
                </a:ext>
              </a:extLst>
            </p:cNvPr>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grpFill/>
            <a:ln>
              <a:noFill/>
            </a:ln>
          </p:spPr>
          <p:txBody>
            <a:bodyPr spcFirstLastPara="1" wrap="square" lIns="73140" tIns="73140" rIns="73140" bIns="73140" anchor="ctr" anchorCtr="0">
              <a:noAutofit/>
            </a:bodyPr>
            <a:lstStyle/>
            <a:p>
              <a:pPr defTabSz="731520">
                <a:buClr>
                  <a:srgbClr val="000000"/>
                </a:buClr>
                <a:defRPr/>
              </a:pPr>
              <a:endParaRPr sz="1120" kern="0">
                <a:solidFill>
                  <a:srgbClr val="000000"/>
                </a:solidFill>
                <a:latin typeface="Arial"/>
                <a:cs typeface="Arial"/>
                <a:sym typeface="Arial"/>
              </a:endParaRPr>
            </a:p>
          </p:txBody>
        </p:sp>
      </p:grpSp>
      <p:sp>
        <p:nvSpPr>
          <p:cNvPr id="2" name="Freeform 8">
            <a:extLst>
              <a:ext uri="{FF2B5EF4-FFF2-40B4-BE49-F238E27FC236}">
                <a16:creationId xmlns:a16="http://schemas.microsoft.com/office/drawing/2014/main" id="{B5010473-2756-64EC-5941-3406750E5575}"/>
              </a:ext>
            </a:extLst>
          </p:cNvPr>
          <p:cNvSpPr/>
          <p:nvPr/>
        </p:nvSpPr>
        <p:spPr>
          <a:xfrm>
            <a:off x="-958396" y="7229643"/>
            <a:ext cx="17771511" cy="1761958"/>
          </a:xfrm>
          <a:custGeom>
            <a:avLst/>
            <a:gdLst/>
            <a:ahLst/>
            <a:cxnLst/>
            <a:rect l="l" t="t" r="r" b="b"/>
            <a:pathLst>
              <a:path w="5850703" h="323935">
                <a:moveTo>
                  <a:pt x="0" y="0"/>
                </a:moveTo>
                <a:lnTo>
                  <a:pt x="5850703" y="0"/>
                </a:lnTo>
                <a:lnTo>
                  <a:pt x="5850703" y="323935"/>
                </a:lnTo>
                <a:lnTo>
                  <a:pt x="0" y="323935"/>
                </a:lnTo>
                <a:close/>
              </a:path>
            </a:pathLst>
          </a:custGeom>
          <a:solidFill>
            <a:srgbClr val="88824D"/>
          </a:solidFill>
        </p:spPr>
        <p:txBody>
          <a:bodyPr/>
          <a:lstStyle/>
          <a:p>
            <a:endParaRPr lang="en-US" sz="1440" dirty="0"/>
          </a:p>
        </p:txBody>
      </p:sp>
      <p:pic>
        <p:nvPicPr>
          <p:cNvPr id="6" name="Picture 5">
            <a:extLst>
              <a:ext uri="{FF2B5EF4-FFF2-40B4-BE49-F238E27FC236}">
                <a16:creationId xmlns:a16="http://schemas.microsoft.com/office/drawing/2014/main" id="{2AA3D32F-FAB4-8546-EC2F-57ABC29578C7}"/>
              </a:ext>
            </a:extLst>
          </p:cNvPr>
          <p:cNvPicPr>
            <a:picLocks noChangeAspect="1"/>
          </p:cNvPicPr>
          <p:nvPr/>
        </p:nvPicPr>
        <p:blipFill>
          <a:blip r:embed="rId3"/>
          <a:stretch>
            <a:fillRect/>
          </a:stretch>
        </p:blipFill>
        <p:spPr>
          <a:xfrm>
            <a:off x="-53788" y="-263685"/>
            <a:ext cx="7376930" cy="1446357"/>
          </a:xfrm>
          <a:prstGeom prst="rect">
            <a:avLst/>
          </a:prstGeom>
        </p:spPr>
      </p:pic>
      <p:sp>
        <p:nvSpPr>
          <p:cNvPr id="7" name="Text 0">
            <a:extLst>
              <a:ext uri="{FF2B5EF4-FFF2-40B4-BE49-F238E27FC236}">
                <a16:creationId xmlns:a16="http://schemas.microsoft.com/office/drawing/2014/main" id="{13CD1702-109D-0A85-80BB-1199CF0733F6}"/>
              </a:ext>
            </a:extLst>
          </p:cNvPr>
          <p:cNvSpPr/>
          <p:nvPr/>
        </p:nvSpPr>
        <p:spPr>
          <a:xfrm>
            <a:off x="207882" y="326899"/>
            <a:ext cx="6133386" cy="513874"/>
          </a:xfrm>
          <a:prstGeom prst="rect">
            <a:avLst/>
          </a:prstGeom>
          <a:noFill/>
          <a:ln/>
        </p:spPr>
        <p:txBody>
          <a:bodyPr wrap="none" lIns="0" tIns="0" rIns="0" bIns="0" rtlCol="0" anchor="t"/>
          <a:lstStyle/>
          <a:p>
            <a:pPr marL="0" indent="0" algn="l">
              <a:lnSpc>
                <a:spcPts val="4000"/>
              </a:lnSpc>
              <a:buNone/>
            </a:pPr>
            <a:r>
              <a:rPr lang="en-US" sz="54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Marketing Channel</a:t>
            </a:r>
            <a:endParaRPr lang="en-US" sz="5400" b="1" dirty="0">
              <a:solidFill>
                <a:schemeClr val="accent4">
                  <a:lumMod val="20000"/>
                  <a:lumOff val="80000"/>
                </a:schemeClr>
              </a:solidFill>
              <a:effectLst>
                <a:outerShdw blurRad="38100" dist="38100" dir="2700000" algn="tl">
                  <a:srgbClr val="000000">
                    <a:alpha val="43137"/>
                  </a:srgbClr>
                </a:outerShdw>
              </a:effectLst>
            </a:endParaRPr>
          </a:p>
        </p:txBody>
      </p:sp>
      <p:sp>
        <p:nvSpPr>
          <p:cNvPr id="9" name="Rectangle: Rounded Corners 8">
            <a:extLst>
              <a:ext uri="{FF2B5EF4-FFF2-40B4-BE49-F238E27FC236}">
                <a16:creationId xmlns:a16="http://schemas.microsoft.com/office/drawing/2014/main" id="{564E83D6-8EE8-FE2A-B30C-02D051074FF0}"/>
              </a:ext>
            </a:extLst>
          </p:cNvPr>
          <p:cNvSpPr/>
          <p:nvPr/>
        </p:nvSpPr>
        <p:spPr>
          <a:xfrm>
            <a:off x="2791327" y="4788568"/>
            <a:ext cx="9011652" cy="2129588"/>
          </a:xfrm>
          <a:prstGeom prst="roundRect">
            <a:avLst/>
          </a:prstGeom>
          <a:solidFill>
            <a:schemeClr val="accent4">
              <a:lumMod val="20000"/>
              <a:lumOff val="8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just"/>
            <a:r>
              <a:rPr lang="en-US" sz="2200" b="1" dirty="0">
                <a:ln w="0">
                  <a:noFill/>
                </a:ln>
                <a:solidFill>
                  <a:srgbClr val="123332"/>
                </a:solidFill>
                <a:latin typeface="Times New Roman" panose="02020603050405020304" pitchFamily="18" charset="0"/>
                <a:cs typeface="Times New Roman" panose="02020603050405020304" pitchFamily="18" charset="0"/>
              </a:rPr>
              <a:t>Marketing through Facebook helps promote your milk analysis devices project by reaching dairy farmers, factories, and quality control labs directly. Through targeted ads, educational posts, and customer testimonials, you can build trust, increase awareness of your technology, and generate qualified leads interested in improving milk quality and testing accuracy.</a:t>
            </a:r>
          </a:p>
        </p:txBody>
      </p:sp>
    </p:spTree>
    <p:extLst>
      <p:ext uri="{BB962C8B-B14F-4D97-AF65-F5344CB8AC3E}">
        <p14:creationId xmlns:p14="http://schemas.microsoft.com/office/powerpoint/2010/main" val="103270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2B3954-5142-E434-F79A-3E364D2E4666}"/>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FCFD29C-F0B4-90CD-1575-B08705DED6BF}"/>
              </a:ext>
            </a:extLst>
          </p:cNvPr>
          <p:cNvPicPr>
            <a:picLocks noChangeAspect="1"/>
          </p:cNvPicPr>
          <p:nvPr/>
        </p:nvPicPr>
        <p:blipFill>
          <a:blip r:embed="rId2"/>
          <a:stretch>
            <a:fillRect/>
          </a:stretch>
        </p:blipFill>
        <p:spPr>
          <a:xfrm>
            <a:off x="0" y="-263685"/>
            <a:ext cx="7376930" cy="1446357"/>
          </a:xfrm>
          <a:prstGeom prst="rect">
            <a:avLst/>
          </a:prstGeom>
        </p:spPr>
      </p:pic>
      <p:sp>
        <p:nvSpPr>
          <p:cNvPr id="5" name="Text 0">
            <a:extLst>
              <a:ext uri="{FF2B5EF4-FFF2-40B4-BE49-F238E27FC236}">
                <a16:creationId xmlns:a16="http://schemas.microsoft.com/office/drawing/2014/main" id="{A9970B78-12B8-C23E-D942-FE106D65C9BD}"/>
              </a:ext>
            </a:extLst>
          </p:cNvPr>
          <p:cNvSpPr/>
          <p:nvPr/>
        </p:nvSpPr>
        <p:spPr>
          <a:xfrm>
            <a:off x="207882" y="326899"/>
            <a:ext cx="6133386" cy="513874"/>
          </a:xfrm>
          <a:prstGeom prst="rect">
            <a:avLst/>
          </a:prstGeom>
          <a:noFill/>
          <a:ln/>
        </p:spPr>
        <p:txBody>
          <a:bodyPr wrap="none" lIns="0" tIns="0" rIns="0" bIns="0" rtlCol="0" anchor="t"/>
          <a:lstStyle/>
          <a:p>
            <a:pPr marL="0" indent="0" algn="l">
              <a:lnSpc>
                <a:spcPts val="4000"/>
              </a:lnSpc>
              <a:buNone/>
            </a:pPr>
            <a:r>
              <a:rPr lang="en-US" sz="54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Content Plan</a:t>
            </a:r>
            <a:endParaRPr lang="en-US" sz="5400" b="1" dirty="0">
              <a:solidFill>
                <a:schemeClr val="accent4">
                  <a:lumMod val="20000"/>
                  <a:lumOff val="80000"/>
                </a:schemeClr>
              </a:solidFill>
              <a:effectLst>
                <a:outerShdw blurRad="38100" dist="38100" dir="2700000" algn="tl">
                  <a:srgbClr val="000000">
                    <a:alpha val="43137"/>
                  </a:srgbClr>
                </a:outerShdw>
              </a:effectLst>
            </a:endParaRPr>
          </a:p>
        </p:txBody>
      </p:sp>
      <p:pic>
        <p:nvPicPr>
          <p:cNvPr id="6" name="Picture 5" descr="A screenshot of a computer">
            <a:extLst>
              <a:ext uri="{FF2B5EF4-FFF2-40B4-BE49-F238E27FC236}">
                <a16:creationId xmlns:a16="http://schemas.microsoft.com/office/drawing/2014/main" id="{70570F84-37B2-ECA3-EFDB-367C8C4C7CCD}"/>
              </a:ext>
            </a:extLst>
          </p:cNvPr>
          <p:cNvPicPr>
            <a:picLocks noChangeAspect="1"/>
          </p:cNvPicPr>
          <p:nvPr/>
        </p:nvPicPr>
        <p:blipFill>
          <a:blip r:embed="rId3"/>
          <a:stretch>
            <a:fillRect/>
          </a:stretch>
        </p:blipFill>
        <p:spPr>
          <a:xfrm>
            <a:off x="1053976" y="1330589"/>
            <a:ext cx="13374717" cy="6572111"/>
          </a:xfrm>
          <a:prstGeom prst="rect">
            <a:avLst/>
          </a:prstGeom>
        </p:spPr>
      </p:pic>
      <p:cxnSp>
        <p:nvCxnSpPr>
          <p:cNvPr id="8" name="Google Shape;473;p16">
            <a:extLst>
              <a:ext uri="{FF2B5EF4-FFF2-40B4-BE49-F238E27FC236}">
                <a16:creationId xmlns:a16="http://schemas.microsoft.com/office/drawing/2014/main" id="{C19758B2-7B69-6D3B-5385-792518AB8515}"/>
              </a:ext>
            </a:extLst>
          </p:cNvPr>
          <p:cNvCxnSpPr/>
          <p:nvPr/>
        </p:nvCxnSpPr>
        <p:spPr>
          <a:xfrm rot="10800000">
            <a:off x="9140000" y="294041"/>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cxnSp>
        <p:nvCxnSpPr>
          <p:cNvPr id="9" name="Google Shape;474;p16">
            <a:extLst>
              <a:ext uri="{FF2B5EF4-FFF2-40B4-BE49-F238E27FC236}">
                <a16:creationId xmlns:a16="http://schemas.microsoft.com/office/drawing/2014/main" id="{203FD7DD-DE73-9D31-5FD4-9D8B41936DCF}"/>
              </a:ext>
            </a:extLst>
          </p:cNvPr>
          <p:cNvCxnSpPr/>
          <p:nvPr/>
        </p:nvCxnSpPr>
        <p:spPr>
          <a:xfrm>
            <a:off x="188259" y="8053306"/>
            <a:ext cx="4998720" cy="0"/>
          </a:xfrm>
          <a:prstGeom prst="straightConnector1">
            <a:avLst/>
          </a:prstGeom>
          <a:noFill/>
          <a:ln w="47625" cap="flat" cmpd="sng">
            <a:solidFill>
              <a:srgbClr val="A5A5A5"/>
            </a:solidFill>
            <a:prstDash val="solid"/>
            <a:round/>
            <a:headEnd type="none" w="sm" len="sm"/>
            <a:tailEnd type="diamond" w="lg" len="lg"/>
          </a:ln>
          <a:effectLst>
            <a:outerShdw blurRad="63500" sx="102000" sy="102000" algn="ctr" rotWithShape="0">
              <a:srgbClr val="000000">
                <a:alpha val="40000"/>
              </a:srgbClr>
            </a:outerShdw>
          </a:effectLst>
        </p:spPr>
      </p:cxnSp>
    </p:spTree>
    <p:extLst>
      <p:ext uri="{BB962C8B-B14F-4D97-AF65-F5344CB8AC3E}">
        <p14:creationId xmlns:p14="http://schemas.microsoft.com/office/powerpoint/2010/main" val="1492318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E5E1F3-B83B-C497-5434-28E0586DEFD5}"/>
              </a:ext>
            </a:extLst>
          </p:cNvPr>
          <p:cNvSpPr/>
          <p:nvPr/>
        </p:nvSpPr>
        <p:spPr>
          <a:xfrm>
            <a:off x="12685486" y="7663543"/>
            <a:ext cx="2670628" cy="566057"/>
          </a:xfrm>
          <a:prstGeom prst="rect">
            <a:avLst/>
          </a:prstGeom>
          <a:solidFill>
            <a:srgbClr val="1233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481;p17">
            <a:extLst>
              <a:ext uri="{FF2B5EF4-FFF2-40B4-BE49-F238E27FC236}">
                <a16:creationId xmlns:a16="http://schemas.microsoft.com/office/drawing/2014/main" id="{097C26A0-C510-14B1-E5A1-35EA39EB134E}"/>
              </a:ext>
            </a:extLst>
          </p:cNvPr>
          <p:cNvSpPr/>
          <p:nvPr/>
        </p:nvSpPr>
        <p:spPr>
          <a:xfrm>
            <a:off x="-426720" y="-379171"/>
            <a:ext cx="15483840" cy="8717280"/>
          </a:xfrm>
          <a:prstGeom prst="rect">
            <a:avLst/>
          </a:prstGeom>
          <a:solidFill>
            <a:srgbClr val="1D1B10">
              <a:alpha val="86666"/>
            </a:srgbClr>
          </a:solidFill>
          <a:ln>
            <a:noFill/>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47AA69D-1230-B502-4725-72E51861DB38}"/>
              </a:ext>
            </a:extLst>
          </p:cNvPr>
          <p:cNvSpPr txBox="1"/>
          <p:nvPr/>
        </p:nvSpPr>
        <p:spPr>
          <a:xfrm>
            <a:off x="479503" y="79927"/>
            <a:ext cx="6233532" cy="707886"/>
          </a:xfrm>
          <a:prstGeom prst="rect">
            <a:avLst/>
          </a:prstGeom>
          <a:noFill/>
        </p:spPr>
        <p:txBody>
          <a:bodyPr wrap="square" rtlCol="0">
            <a:spAutoFit/>
          </a:bodyPr>
          <a:lstStyle/>
          <a:p>
            <a:r>
              <a:rPr lang="en-US" sz="4000" dirty="0">
                <a:solidFill>
                  <a:srgbClr val="EF9C82"/>
                </a:solidFill>
              </a:rPr>
              <a:t>Content plan:</a:t>
            </a:r>
          </a:p>
        </p:txBody>
      </p:sp>
      <p:pic>
        <p:nvPicPr>
          <p:cNvPr id="1028" name="Picture 4" descr="May be an image of ‎text that says '‎י#ן POWER POWERSalutions Salutions الجودة تفصيلة كلل افي كاملة وشفافية أمانة امانة للمشكلة دقيق تشخیص وموثوقة أصلية غيار قطع 01551655076 01029662962 9 New Cairo 5th Settlement South Investors Area Area-Plus Plus Mall- B2/208‎'‎">
            <a:extLst>
              <a:ext uri="{FF2B5EF4-FFF2-40B4-BE49-F238E27FC236}">
                <a16:creationId xmlns:a16="http://schemas.microsoft.com/office/drawing/2014/main" id="{80C8D938-4DAA-DA0C-F45B-9C605F25A3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761" y="1260223"/>
            <a:ext cx="3237854" cy="300247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ay be an image of ‎text that says '‎Kp PONEsolutiona POWER selutiona تقف . إنها من أغلى معداتك الصناعية معداتك وحماية لطاق استقرار لضمان الأمثل الحل New Cairo 8 01551655076 01029662962 5th Settlement- South Investors Area Plus Mall- B2/208‎'‎">
            <a:extLst>
              <a:ext uri="{FF2B5EF4-FFF2-40B4-BE49-F238E27FC236}">
                <a16:creationId xmlns:a16="http://schemas.microsoft.com/office/drawing/2014/main" id="{418307A6-31F4-ED42-469E-9EED2C342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5787" y="1162418"/>
            <a:ext cx="3237854" cy="309115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ay be an image of ‎text that says '‎مجرد البيع بداية بداي POWER + alutiena New Cairo 5th Settlement- South Investors InvestorsArea- SouthInvestorsArea-PlusMall-B2 Area Plus Mall B2/208 01551655076 01029662962‎'‎">
            <a:extLst>
              <a:ext uri="{FF2B5EF4-FFF2-40B4-BE49-F238E27FC236}">
                <a16:creationId xmlns:a16="http://schemas.microsoft.com/office/drawing/2014/main" id="{1372FD6E-BB14-B54A-A9C9-A01A29D697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8294" y="1150882"/>
            <a:ext cx="3101619" cy="31016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y be an image of ‎text that says '‎樂 جعة TA TRAP HEEIT NI!TININ ااس اا POWER 6ου solutions ions 豊10101010 NewCairo-5fhSettlerment- New Cairo -5th Settlement South Investors SouthInvestorsArea Area PlusMall- B2/208 : 01551655076 01029662962‎'‎">
            <a:extLst>
              <a:ext uri="{FF2B5EF4-FFF2-40B4-BE49-F238E27FC236}">
                <a16:creationId xmlns:a16="http://schemas.microsoft.com/office/drawing/2014/main" id="{99900590-6BC1-A161-0F1E-D6B2DDD247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120" y="4736573"/>
            <a:ext cx="3132351" cy="313235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ay be an image of ‎text that says '‎(PF=1) القدرة معامل معا القدرة مهدرة؟ تكلفة أم حقيقية كفاءة Available PF PF1.0 1.0 Actual PF 0.65 MISMATCH ሌቃ POWER olu luti lone New Cairo 5th NewCairo-SthSettlement- Settlement ScuthInwestarsArea-PusMol-82208 South Investors rea outhInvestorsArea -PlusMall Plus PlusMall Mall B2/208 01551655076 01029662962‎'‎">
            <a:extLst>
              <a:ext uri="{FF2B5EF4-FFF2-40B4-BE49-F238E27FC236}">
                <a16:creationId xmlns:a16="http://schemas.microsoft.com/office/drawing/2014/main" id="{13F4040B-3D88-4EE7-06C3-7895D63D01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5787" y="4770467"/>
            <a:ext cx="3237854" cy="323785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ay be an image of ‎text that says '‎تایوان العالم في لوجيا التكنو عاصمة G GIGABYTE A ASUS POWER Sulul ulutions 9 msi New NewCairo-5tSettlement- Cairo 5th Settlement- South Investors Area Plus PlusMal Mall B2/208 01551655076 01029662962‎'‎">
            <a:extLst>
              <a:ext uri="{FF2B5EF4-FFF2-40B4-BE49-F238E27FC236}">
                <a16:creationId xmlns:a16="http://schemas.microsoft.com/office/drawing/2014/main" id="{4C7D2E06-7170-A625-770E-FF98FA4C95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78294" y="4845593"/>
            <a:ext cx="3101619" cy="31016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9A807F3-5C59-3329-E10C-A972B8A7D872}"/>
              </a:ext>
            </a:extLst>
          </p:cNvPr>
          <p:cNvPicPr>
            <a:picLocks noChangeAspect="1"/>
          </p:cNvPicPr>
          <p:nvPr/>
        </p:nvPicPr>
        <p:blipFill>
          <a:blip r:embed="rId8"/>
          <a:stretch>
            <a:fillRect/>
          </a:stretch>
        </p:blipFill>
        <p:spPr>
          <a:xfrm>
            <a:off x="0" y="-263685"/>
            <a:ext cx="7376930" cy="1446357"/>
          </a:xfrm>
          <a:prstGeom prst="rect">
            <a:avLst/>
          </a:prstGeom>
        </p:spPr>
      </p:pic>
      <p:sp>
        <p:nvSpPr>
          <p:cNvPr id="4" name="Text 0">
            <a:extLst>
              <a:ext uri="{FF2B5EF4-FFF2-40B4-BE49-F238E27FC236}">
                <a16:creationId xmlns:a16="http://schemas.microsoft.com/office/drawing/2014/main" id="{FA679FA3-BF41-CAD2-A3FD-AFCDEE97F60B}"/>
              </a:ext>
            </a:extLst>
          </p:cNvPr>
          <p:cNvSpPr/>
          <p:nvPr/>
        </p:nvSpPr>
        <p:spPr>
          <a:xfrm>
            <a:off x="207882" y="326899"/>
            <a:ext cx="6133386" cy="513874"/>
          </a:xfrm>
          <a:prstGeom prst="rect">
            <a:avLst/>
          </a:prstGeom>
          <a:noFill/>
          <a:ln/>
        </p:spPr>
        <p:txBody>
          <a:bodyPr wrap="none" lIns="0" tIns="0" rIns="0" bIns="0" rtlCol="0" anchor="t"/>
          <a:lstStyle/>
          <a:p>
            <a:pPr marL="0" indent="0" algn="l">
              <a:lnSpc>
                <a:spcPts val="4000"/>
              </a:lnSpc>
              <a:buNone/>
            </a:pPr>
            <a:r>
              <a:rPr lang="en-US" sz="5400" b="1" dirty="0">
                <a:solidFill>
                  <a:schemeClr val="accent4">
                    <a:lumMod val="20000"/>
                    <a:lumOff val="80000"/>
                  </a:schemeClr>
                </a:solidFill>
                <a:effectLst>
                  <a:outerShdw blurRad="38100" dist="38100" dir="2700000" algn="tl">
                    <a:srgbClr val="000000">
                      <a:alpha val="43137"/>
                    </a:srgbClr>
                  </a:outerShdw>
                </a:effectLst>
                <a:latin typeface="Quattrocento" pitchFamily="34" charset="0"/>
                <a:ea typeface="Quattrocento" pitchFamily="34" charset="-122"/>
                <a:cs typeface="Quattrocento" pitchFamily="34" charset="-120"/>
              </a:rPr>
              <a:t>Content Plan</a:t>
            </a:r>
            <a:endParaRPr lang="en-US" sz="5400" b="1" dirty="0">
              <a:solidFill>
                <a:schemeClr val="accent4">
                  <a:lumMod val="20000"/>
                  <a:lumOff val="80000"/>
                </a:schemeClr>
              </a:solidFill>
              <a:effectLst>
                <a:outerShdw blurRad="38100" dist="38100" dir="2700000" algn="tl">
                  <a:srgbClr val="000000">
                    <a:alpha val="43137"/>
                  </a:srgbClr>
                </a:outerShdw>
              </a:effectLst>
            </a:endParaRPr>
          </a:p>
        </p:txBody>
      </p:sp>
      <p:sp>
        <p:nvSpPr>
          <p:cNvPr id="7" name="Google Shape;647;p24">
            <a:extLst>
              <a:ext uri="{FF2B5EF4-FFF2-40B4-BE49-F238E27FC236}">
                <a16:creationId xmlns:a16="http://schemas.microsoft.com/office/drawing/2014/main" id="{E939107B-44AF-D3F6-83DA-A159251B3E78}"/>
              </a:ext>
            </a:extLst>
          </p:cNvPr>
          <p:cNvSpPr/>
          <p:nvPr/>
        </p:nvSpPr>
        <p:spPr>
          <a:xfrm>
            <a:off x="13672489" y="-108367"/>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9">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8" name="Google Shape;647;p24">
            <a:extLst>
              <a:ext uri="{FF2B5EF4-FFF2-40B4-BE49-F238E27FC236}">
                <a16:creationId xmlns:a16="http://schemas.microsoft.com/office/drawing/2014/main" id="{E3464442-B450-0C5F-9972-585991987243}"/>
              </a:ext>
            </a:extLst>
          </p:cNvPr>
          <p:cNvSpPr/>
          <p:nvPr/>
        </p:nvSpPr>
        <p:spPr>
          <a:xfrm>
            <a:off x="13497295" y="7326687"/>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9">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9" name="Google Shape;647;p24">
            <a:extLst>
              <a:ext uri="{FF2B5EF4-FFF2-40B4-BE49-F238E27FC236}">
                <a16:creationId xmlns:a16="http://schemas.microsoft.com/office/drawing/2014/main" id="{EC62A10A-8D04-7B7B-434A-3C77C9163861}"/>
              </a:ext>
            </a:extLst>
          </p:cNvPr>
          <p:cNvSpPr/>
          <p:nvPr/>
        </p:nvSpPr>
        <p:spPr>
          <a:xfrm>
            <a:off x="-344805" y="7424585"/>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9">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163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9962" y="511254"/>
            <a:ext cx="7482721" cy="546140"/>
          </a:xfrm>
          <a:prstGeom prst="rect">
            <a:avLst/>
          </a:prstGeom>
          <a:noFill/>
          <a:ln/>
        </p:spPr>
        <p:txBody>
          <a:bodyPr wrap="none" lIns="0" tIns="0" rIns="0" bIns="0" rtlCol="0" anchor="t"/>
          <a:lstStyle/>
          <a:p>
            <a:pPr marL="0" indent="0" algn="l">
              <a:lnSpc>
                <a:spcPts val="4300"/>
              </a:lnSpc>
              <a:buNone/>
            </a:pPr>
            <a:r>
              <a:rPr lang="en-US" sz="3400" dirty="0">
                <a:solidFill>
                  <a:srgbClr val="FFD9BE"/>
                </a:solidFill>
                <a:latin typeface="Quattrocento" pitchFamily="34" charset="0"/>
                <a:ea typeface="Quattrocento" pitchFamily="34" charset="-122"/>
                <a:cs typeface="Quattrocento" pitchFamily="34" charset="-120"/>
              </a:rPr>
              <a:t>Customer Challenges &amp; HPS Solutions</a:t>
            </a:r>
            <a:endParaRPr lang="en-US" sz="3400" dirty="0"/>
          </a:p>
        </p:txBody>
      </p:sp>
      <p:sp>
        <p:nvSpPr>
          <p:cNvPr id="3" name="Text 1"/>
          <p:cNvSpPr/>
          <p:nvPr/>
        </p:nvSpPr>
        <p:spPr>
          <a:xfrm>
            <a:off x="649962" y="1131570"/>
            <a:ext cx="2621875" cy="327660"/>
          </a:xfrm>
          <a:prstGeom prst="rect">
            <a:avLst/>
          </a:prstGeom>
          <a:noFill/>
          <a:ln/>
        </p:spPr>
        <p:txBody>
          <a:bodyPr wrap="none" lIns="0" tIns="0" rIns="0" bIns="0" rtlCol="0" anchor="t"/>
          <a:lstStyle/>
          <a:p>
            <a:pPr marL="0" indent="0" algn="l">
              <a:lnSpc>
                <a:spcPts val="2550"/>
              </a:lnSpc>
              <a:buNone/>
            </a:pPr>
            <a:r>
              <a:rPr lang="en-US" sz="2050" dirty="0">
                <a:solidFill>
                  <a:srgbClr val="FFD9BE"/>
                </a:solidFill>
                <a:latin typeface="Quattrocento" pitchFamily="34" charset="0"/>
                <a:ea typeface="Quattrocento" pitchFamily="34" charset="-122"/>
                <a:cs typeface="Quattrocento" pitchFamily="34" charset="-120"/>
              </a:rPr>
              <a:t>Key Challenges:</a:t>
            </a:r>
            <a:endParaRPr lang="en-US" sz="2050" dirty="0"/>
          </a:p>
        </p:txBody>
      </p:sp>
      <p:sp>
        <p:nvSpPr>
          <p:cNvPr id="4" name="Shape 2"/>
          <p:cNvSpPr/>
          <p:nvPr/>
        </p:nvSpPr>
        <p:spPr>
          <a:xfrm>
            <a:off x="649962" y="1737717"/>
            <a:ext cx="417790" cy="417790"/>
          </a:xfrm>
          <a:prstGeom prst="roundRect">
            <a:avLst>
              <a:gd name="adj" fmla="val 6668"/>
            </a:avLst>
          </a:prstGeom>
          <a:solidFill>
            <a:srgbClr val="315251"/>
          </a:solidFill>
          <a:ln/>
        </p:spPr>
        <p:txBody>
          <a:bodyPr/>
          <a:lstStyle/>
          <a:p>
            <a:endParaRPr lang="en-US"/>
          </a:p>
        </p:txBody>
      </p:sp>
      <p:sp>
        <p:nvSpPr>
          <p:cNvPr id="5" name="Text 3"/>
          <p:cNvSpPr/>
          <p:nvPr/>
        </p:nvSpPr>
        <p:spPr>
          <a:xfrm>
            <a:off x="727710" y="1782723"/>
            <a:ext cx="262176" cy="327660"/>
          </a:xfrm>
          <a:prstGeom prst="rect">
            <a:avLst/>
          </a:prstGeom>
          <a:noFill/>
          <a:ln/>
        </p:spPr>
        <p:txBody>
          <a:bodyPr wrap="none" lIns="0" tIns="0" rIns="0" bIns="0" rtlCol="0" anchor="t"/>
          <a:lstStyle/>
          <a:p>
            <a:pPr marL="0" indent="0" algn="ctr">
              <a:lnSpc>
                <a:spcPts val="2050"/>
              </a:lnSpc>
              <a:buNone/>
            </a:pPr>
            <a:r>
              <a:rPr lang="en-US" sz="2050" dirty="0">
                <a:solidFill>
                  <a:srgbClr val="F9EEE7"/>
                </a:solidFill>
                <a:latin typeface="Quattrocento" pitchFamily="34" charset="0"/>
                <a:ea typeface="Quattrocento" pitchFamily="34" charset="-122"/>
                <a:cs typeface="Quattrocento" pitchFamily="34" charset="-120"/>
              </a:rPr>
              <a:t>1</a:t>
            </a:r>
            <a:endParaRPr lang="en-US" sz="2050" dirty="0"/>
          </a:p>
        </p:txBody>
      </p:sp>
      <p:sp>
        <p:nvSpPr>
          <p:cNvPr id="6" name="Text 4"/>
          <p:cNvSpPr/>
          <p:nvPr/>
        </p:nvSpPr>
        <p:spPr>
          <a:xfrm>
            <a:off x="1253371" y="1801535"/>
            <a:ext cx="2498288" cy="273010"/>
          </a:xfrm>
          <a:prstGeom prst="rect">
            <a:avLst/>
          </a:prstGeom>
          <a:noFill/>
          <a:ln/>
        </p:spPr>
        <p:txBody>
          <a:bodyPr wrap="none" lIns="0" tIns="0" rIns="0" bIns="0" rtlCol="0" anchor="t"/>
          <a:lstStyle/>
          <a:p>
            <a:pPr marL="0" indent="0" algn="l">
              <a:lnSpc>
                <a:spcPts val="2150"/>
              </a:lnSpc>
              <a:buNone/>
            </a:pPr>
            <a:r>
              <a:rPr lang="en-US" sz="1700" dirty="0">
                <a:solidFill>
                  <a:srgbClr val="F9EEE7"/>
                </a:solidFill>
                <a:latin typeface="Quattrocento" pitchFamily="34" charset="0"/>
                <a:ea typeface="Quattrocento" pitchFamily="34" charset="-122"/>
                <a:cs typeface="Quattrocento" pitchFamily="34" charset="-120"/>
              </a:rPr>
              <a:t>Slow Traditional Methods</a:t>
            </a:r>
            <a:endParaRPr lang="en-US" sz="1700" dirty="0"/>
          </a:p>
        </p:txBody>
      </p:sp>
      <p:sp>
        <p:nvSpPr>
          <p:cNvPr id="7" name="Text 5"/>
          <p:cNvSpPr/>
          <p:nvPr/>
        </p:nvSpPr>
        <p:spPr>
          <a:xfrm>
            <a:off x="1253371" y="2185868"/>
            <a:ext cx="3685342" cy="594360"/>
          </a:xfrm>
          <a:prstGeom prst="rect">
            <a:avLst/>
          </a:prstGeom>
          <a:noFill/>
          <a:ln/>
        </p:spPr>
        <p:txBody>
          <a:bodyPr wrap="square" lIns="0" tIns="0" rIns="0" bIns="0" rtlCol="0" anchor="t"/>
          <a:lstStyle/>
          <a:p>
            <a:pPr marL="0" indent="0" algn="l">
              <a:lnSpc>
                <a:spcPts val="2300"/>
              </a:lnSpc>
              <a:buNone/>
            </a:pPr>
            <a:r>
              <a:rPr lang="en-US" dirty="0">
                <a:solidFill>
                  <a:srgbClr val="F9EEE7"/>
                </a:solidFill>
                <a:latin typeface="Quattrocento" pitchFamily="34" charset="0"/>
                <a:ea typeface="Quattrocento" pitchFamily="34" charset="-122"/>
                <a:cs typeface="Quattrocento" pitchFamily="34" charset="-120"/>
              </a:rPr>
              <a:t>Many labs still depend on slow and inaccurate traditional methods.</a:t>
            </a:r>
            <a:endParaRPr lang="en-US" dirty="0"/>
          </a:p>
        </p:txBody>
      </p:sp>
      <p:sp>
        <p:nvSpPr>
          <p:cNvPr id="8" name="Shape 6"/>
          <p:cNvSpPr/>
          <p:nvPr/>
        </p:nvSpPr>
        <p:spPr>
          <a:xfrm>
            <a:off x="5170765" y="1737717"/>
            <a:ext cx="417790" cy="417790"/>
          </a:xfrm>
          <a:prstGeom prst="roundRect">
            <a:avLst>
              <a:gd name="adj" fmla="val 6668"/>
            </a:avLst>
          </a:prstGeom>
          <a:solidFill>
            <a:srgbClr val="315251"/>
          </a:solidFill>
          <a:ln/>
        </p:spPr>
        <p:txBody>
          <a:bodyPr/>
          <a:lstStyle/>
          <a:p>
            <a:endParaRPr lang="en-US"/>
          </a:p>
        </p:txBody>
      </p:sp>
      <p:sp>
        <p:nvSpPr>
          <p:cNvPr id="9" name="Text 7"/>
          <p:cNvSpPr/>
          <p:nvPr/>
        </p:nvSpPr>
        <p:spPr>
          <a:xfrm>
            <a:off x="5248513" y="1782723"/>
            <a:ext cx="262176" cy="327660"/>
          </a:xfrm>
          <a:prstGeom prst="rect">
            <a:avLst/>
          </a:prstGeom>
          <a:noFill/>
          <a:ln/>
        </p:spPr>
        <p:txBody>
          <a:bodyPr wrap="none" lIns="0" tIns="0" rIns="0" bIns="0" rtlCol="0" anchor="t"/>
          <a:lstStyle/>
          <a:p>
            <a:pPr marL="0" indent="0" algn="ctr">
              <a:lnSpc>
                <a:spcPts val="2050"/>
              </a:lnSpc>
              <a:buNone/>
            </a:pPr>
            <a:r>
              <a:rPr lang="en-US" sz="2050" dirty="0">
                <a:solidFill>
                  <a:srgbClr val="F9EEE7"/>
                </a:solidFill>
                <a:latin typeface="Quattrocento" pitchFamily="34" charset="0"/>
                <a:ea typeface="Quattrocento" pitchFamily="34" charset="-122"/>
                <a:cs typeface="Quattrocento" pitchFamily="34" charset="-120"/>
              </a:rPr>
              <a:t>2</a:t>
            </a:r>
            <a:endParaRPr lang="en-US" sz="2050" dirty="0"/>
          </a:p>
        </p:txBody>
      </p:sp>
      <p:sp>
        <p:nvSpPr>
          <p:cNvPr id="10" name="Text 8"/>
          <p:cNvSpPr/>
          <p:nvPr/>
        </p:nvSpPr>
        <p:spPr>
          <a:xfrm>
            <a:off x="5774174" y="1801535"/>
            <a:ext cx="2278261" cy="273010"/>
          </a:xfrm>
          <a:prstGeom prst="rect">
            <a:avLst/>
          </a:prstGeom>
          <a:noFill/>
          <a:ln/>
        </p:spPr>
        <p:txBody>
          <a:bodyPr wrap="none" lIns="0" tIns="0" rIns="0" bIns="0" rtlCol="0" anchor="t"/>
          <a:lstStyle/>
          <a:p>
            <a:pPr marL="0" indent="0" algn="l">
              <a:lnSpc>
                <a:spcPts val="2150"/>
              </a:lnSpc>
              <a:buNone/>
            </a:pPr>
            <a:r>
              <a:rPr lang="en-US" sz="1700" dirty="0">
                <a:solidFill>
                  <a:srgbClr val="F9EEE7"/>
                </a:solidFill>
                <a:latin typeface="Quattrocento" pitchFamily="34" charset="0"/>
                <a:ea typeface="Quattrocento" pitchFamily="34" charset="-122"/>
                <a:cs typeface="Quattrocento" pitchFamily="34" charset="-120"/>
              </a:rPr>
              <a:t>Maintenance Concerns</a:t>
            </a:r>
            <a:endParaRPr lang="en-US" sz="1700" dirty="0"/>
          </a:p>
        </p:txBody>
      </p:sp>
      <p:sp>
        <p:nvSpPr>
          <p:cNvPr id="11" name="Text 9"/>
          <p:cNvSpPr/>
          <p:nvPr/>
        </p:nvSpPr>
        <p:spPr>
          <a:xfrm>
            <a:off x="5774174" y="2185868"/>
            <a:ext cx="3685342" cy="594360"/>
          </a:xfrm>
          <a:prstGeom prst="rect">
            <a:avLst/>
          </a:prstGeom>
          <a:noFill/>
          <a:ln/>
        </p:spPr>
        <p:txBody>
          <a:bodyPr wrap="square" lIns="0" tIns="0" rIns="0" bIns="0" rtlCol="0" anchor="t"/>
          <a:lstStyle/>
          <a:p>
            <a:pPr marL="0" indent="0" algn="l">
              <a:lnSpc>
                <a:spcPts val="2300"/>
              </a:lnSpc>
              <a:buNone/>
            </a:pPr>
            <a:r>
              <a:rPr lang="en-US" dirty="0">
                <a:solidFill>
                  <a:srgbClr val="F9EEE7"/>
                </a:solidFill>
                <a:latin typeface="Quattrocento" pitchFamily="34" charset="0"/>
                <a:ea typeface="Quattrocento" pitchFamily="34" charset="-122"/>
                <a:cs typeface="Quattrocento" pitchFamily="34" charset="-120"/>
              </a:rPr>
              <a:t>Fear of technical issues and lack of maintenance or spare parts.</a:t>
            </a:r>
            <a:endParaRPr lang="en-US" dirty="0"/>
          </a:p>
        </p:txBody>
      </p:sp>
      <p:sp>
        <p:nvSpPr>
          <p:cNvPr id="12" name="Shape 10"/>
          <p:cNvSpPr/>
          <p:nvPr/>
        </p:nvSpPr>
        <p:spPr>
          <a:xfrm>
            <a:off x="9691568" y="1737717"/>
            <a:ext cx="417790" cy="417790"/>
          </a:xfrm>
          <a:prstGeom prst="roundRect">
            <a:avLst>
              <a:gd name="adj" fmla="val 6668"/>
            </a:avLst>
          </a:prstGeom>
          <a:solidFill>
            <a:srgbClr val="315251"/>
          </a:solidFill>
          <a:ln/>
        </p:spPr>
        <p:txBody>
          <a:bodyPr/>
          <a:lstStyle/>
          <a:p>
            <a:endParaRPr lang="en-US"/>
          </a:p>
        </p:txBody>
      </p:sp>
      <p:sp>
        <p:nvSpPr>
          <p:cNvPr id="13" name="Text 11"/>
          <p:cNvSpPr/>
          <p:nvPr/>
        </p:nvSpPr>
        <p:spPr>
          <a:xfrm>
            <a:off x="9769316" y="1782723"/>
            <a:ext cx="262176" cy="327660"/>
          </a:xfrm>
          <a:prstGeom prst="rect">
            <a:avLst/>
          </a:prstGeom>
          <a:noFill/>
          <a:ln/>
        </p:spPr>
        <p:txBody>
          <a:bodyPr wrap="none" lIns="0" tIns="0" rIns="0" bIns="0" rtlCol="0" anchor="t"/>
          <a:lstStyle/>
          <a:p>
            <a:pPr marL="0" indent="0" algn="ctr">
              <a:lnSpc>
                <a:spcPts val="2050"/>
              </a:lnSpc>
              <a:buNone/>
            </a:pPr>
            <a:r>
              <a:rPr lang="en-US" sz="2050" dirty="0">
                <a:solidFill>
                  <a:srgbClr val="F9EEE7"/>
                </a:solidFill>
                <a:latin typeface="Quattrocento" pitchFamily="34" charset="0"/>
                <a:ea typeface="Quattrocento" pitchFamily="34" charset="-122"/>
                <a:cs typeface="Quattrocento" pitchFamily="34" charset="-120"/>
              </a:rPr>
              <a:t>3</a:t>
            </a:r>
            <a:endParaRPr lang="en-US" sz="2050" dirty="0"/>
          </a:p>
        </p:txBody>
      </p:sp>
      <p:sp>
        <p:nvSpPr>
          <p:cNvPr id="14" name="Text 12"/>
          <p:cNvSpPr/>
          <p:nvPr/>
        </p:nvSpPr>
        <p:spPr>
          <a:xfrm>
            <a:off x="10294977" y="1801535"/>
            <a:ext cx="2184916" cy="273010"/>
          </a:xfrm>
          <a:prstGeom prst="rect">
            <a:avLst/>
          </a:prstGeom>
          <a:noFill/>
          <a:ln/>
        </p:spPr>
        <p:txBody>
          <a:bodyPr wrap="none" lIns="0" tIns="0" rIns="0" bIns="0" rtlCol="0" anchor="t"/>
          <a:lstStyle/>
          <a:p>
            <a:pPr marL="0" indent="0" algn="l">
              <a:lnSpc>
                <a:spcPts val="2150"/>
              </a:lnSpc>
              <a:buNone/>
            </a:pPr>
            <a:r>
              <a:rPr lang="en-US" sz="1700" dirty="0">
                <a:solidFill>
                  <a:srgbClr val="F9EEE7"/>
                </a:solidFill>
                <a:latin typeface="Quattrocento" pitchFamily="34" charset="0"/>
                <a:ea typeface="Quattrocento" pitchFamily="34" charset="-122"/>
                <a:cs typeface="Quattrocento" pitchFamily="34" charset="-120"/>
              </a:rPr>
              <a:t>High Import Costs</a:t>
            </a:r>
            <a:endParaRPr lang="en-US" sz="1700" dirty="0"/>
          </a:p>
        </p:txBody>
      </p:sp>
      <p:sp>
        <p:nvSpPr>
          <p:cNvPr id="15" name="Text 13"/>
          <p:cNvSpPr/>
          <p:nvPr/>
        </p:nvSpPr>
        <p:spPr>
          <a:xfrm>
            <a:off x="10294977" y="2185868"/>
            <a:ext cx="3685342" cy="594360"/>
          </a:xfrm>
          <a:prstGeom prst="rect">
            <a:avLst/>
          </a:prstGeom>
          <a:noFill/>
          <a:ln/>
        </p:spPr>
        <p:txBody>
          <a:bodyPr wrap="square" lIns="0" tIns="0" rIns="0" bIns="0" rtlCol="0" anchor="t"/>
          <a:lstStyle/>
          <a:p>
            <a:pPr marL="0" indent="0" algn="l">
              <a:lnSpc>
                <a:spcPts val="2300"/>
              </a:lnSpc>
              <a:buNone/>
            </a:pPr>
            <a:r>
              <a:rPr lang="en-US" dirty="0">
                <a:solidFill>
                  <a:srgbClr val="F9EEE7"/>
                </a:solidFill>
                <a:latin typeface="Quattrocento" pitchFamily="34" charset="0"/>
                <a:ea typeface="Quattrocento" pitchFamily="34" charset="-122"/>
                <a:cs typeface="Quattrocento" pitchFamily="34" charset="-120"/>
              </a:rPr>
              <a:t>Imported devices are expensive and hard to afford for smaller centers.</a:t>
            </a:r>
            <a:endParaRPr lang="en-US" dirty="0"/>
          </a:p>
        </p:txBody>
      </p:sp>
      <p:sp>
        <p:nvSpPr>
          <p:cNvPr id="16" name="Text 14"/>
          <p:cNvSpPr/>
          <p:nvPr/>
        </p:nvSpPr>
        <p:spPr>
          <a:xfrm>
            <a:off x="649962" y="3058716"/>
            <a:ext cx="2621875" cy="327660"/>
          </a:xfrm>
          <a:prstGeom prst="rect">
            <a:avLst/>
          </a:prstGeom>
          <a:noFill/>
          <a:ln/>
        </p:spPr>
        <p:txBody>
          <a:bodyPr wrap="none" lIns="0" tIns="0" rIns="0" bIns="0" rtlCol="0" anchor="t"/>
          <a:lstStyle/>
          <a:p>
            <a:pPr marL="0" indent="0" algn="l">
              <a:lnSpc>
                <a:spcPts val="2550"/>
              </a:lnSpc>
              <a:buNone/>
            </a:pPr>
            <a:r>
              <a:rPr lang="en-US" sz="2050" dirty="0">
                <a:solidFill>
                  <a:srgbClr val="FFD9BE"/>
                </a:solidFill>
                <a:latin typeface="Quattrocento" pitchFamily="34" charset="0"/>
                <a:ea typeface="Quattrocento" pitchFamily="34" charset="-122"/>
                <a:cs typeface="Quattrocento" pitchFamily="34" charset="-120"/>
              </a:rPr>
              <a:t>HPS Solutions:</a:t>
            </a:r>
            <a:endParaRPr lang="en-US" sz="2050" dirty="0"/>
          </a:p>
        </p:txBody>
      </p:sp>
      <p:sp>
        <p:nvSpPr>
          <p:cNvPr id="17" name="Text 15"/>
          <p:cNvSpPr/>
          <p:nvPr/>
        </p:nvSpPr>
        <p:spPr>
          <a:xfrm>
            <a:off x="649962" y="3664863"/>
            <a:ext cx="13330476" cy="2971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F9EEE7"/>
                </a:solidFill>
                <a:latin typeface="Quattrocento" pitchFamily="34" charset="0"/>
                <a:ea typeface="Quattrocento" pitchFamily="34" charset="-122"/>
                <a:cs typeface="Quattrocento" pitchFamily="34" charset="-120"/>
              </a:rPr>
              <a:t>Provide modern analyzers (</a:t>
            </a:r>
            <a:r>
              <a:rPr lang="en-US" sz="1600" i="1" dirty="0">
                <a:solidFill>
                  <a:srgbClr val="F9EEE7"/>
                </a:solidFill>
                <a:latin typeface="Quattrocento" pitchFamily="34" charset="0"/>
                <a:ea typeface="Quattrocento" pitchFamily="34" charset="-122"/>
                <a:cs typeface="Quattrocento" pitchFamily="34" charset="-120"/>
              </a:rPr>
              <a:t>eko+</a:t>
            </a:r>
            <a:r>
              <a:rPr lang="en-US" sz="1600" dirty="0">
                <a:solidFill>
                  <a:srgbClr val="F9EEE7"/>
                </a:solidFill>
                <a:latin typeface="Quattrocento" pitchFamily="34" charset="0"/>
                <a:ea typeface="Quattrocento" pitchFamily="34" charset="-122"/>
                <a:cs typeface="Quattrocento" pitchFamily="34" charset="-120"/>
              </a:rPr>
              <a:t>, </a:t>
            </a:r>
            <a:r>
              <a:rPr lang="en-US" sz="1600" i="1" dirty="0">
                <a:solidFill>
                  <a:srgbClr val="F9EEE7"/>
                </a:solidFill>
                <a:latin typeface="Quattrocento" pitchFamily="34" charset="0"/>
                <a:ea typeface="Quattrocento" pitchFamily="34" charset="-122"/>
                <a:cs typeface="Quattrocento" pitchFamily="34" charset="-120"/>
              </a:rPr>
              <a:t>Ekomilk</a:t>
            </a:r>
            <a:r>
              <a:rPr lang="en-US" sz="1600" dirty="0">
                <a:solidFill>
                  <a:srgbClr val="F9EEE7"/>
                </a:solidFill>
                <a:latin typeface="Quattrocento" pitchFamily="34" charset="0"/>
                <a:ea typeface="Quattrocento" pitchFamily="34" charset="-122"/>
                <a:cs typeface="Quattrocento" pitchFamily="34" charset="-120"/>
              </a:rPr>
              <a:t>) with fast and precise results (fat, protein, density, added water, freezing point).</a:t>
            </a:r>
            <a:endParaRPr lang="en-US" sz="1600" dirty="0"/>
          </a:p>
        </p:txBody>
      </p:sp>
      <p:sp>
        <p:nvSpPr>
          <p:cNvPr id="18" name="Text 16"/>
          <p:cNvSpPr/>
          <p:nvPr/>
        </p:nvSpPr>
        <p:spPr>
          <a:xfrm>
            <a:off x="649962" y="4026932"/>
            <a:ext cx="13330476" cy="2971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F9EEE7"/>
                </a:solidFill>
                <a:latin typeface="Quattrocento" pitchFamily="34" charset="0"/>
                <a:ea typeface="Quattrocento" pitchFamily="34" charset="-122"/>
                <a:cs typeface="Quattrocento" pitchFamily="34" charset="-120"/>
              </a:rPr>
              <a:t>Offer strong maintenance service with a full 2-year warranty and original spare parts available nationwide.</a:t>
            </a:r>
            <a:endParaRPr lang="en-US" sz="1600" dirty="0"/>
          </a:p>
        </p:txBody>
      </p:sp>
      <p:sp>
        <p:nvSpPr>
          <p:cNvPr id="19" name="Text 17"/>
          <p:cNvSpPr/>
          <p:nvPr/>
        </p:nvSpPr>
        <p:spPr>
          <a:xfrm>
            <a:off x="649962" y="4389001"/>
            <a:ext cx="13330476" cy="2971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F9EEE7"/>
                </a:solidFill>
                <a:latin typeface="Quattrocento" pitchFamily="34" charset="0"/>
                <a:ea typeface="Quattrocento" pitchFamily="34" charset="-122"/>
                <a:cs typeface="Quattrocento" pitchFamily="34" charset="-120"/>
              </a:rPr>
              <a:t>Launch the locally assembled </a:t>
            </a:r>
            <a:r>
              <a:rPr lang="en-US" sz="1600" i="1" dirty="0">
                <a:solidFill>
                  <a:srgbClr val="F9EEE7"/>
                </a:solidFill>
                <a:latin typeface="Quattrocento" pitchFamily="34" charset="0"/>
                <a:ea typeface="Quattrocento" pitchFamily="34" charset="-122"/>
                <a:cs typeface="Quattrocento" pitchFamily="34" charset="-120"/>
              </a:rPr>
              <a:t>eko+</a:t>
            </a:r>
            <a:r>
              <a:rPr lang="en-US" sz="1600" dirty="0">
                <a:solidFill>
                  <a:srgbClr val="F9EEE7"/>
                </a:solidFill>
                <a:latin typeface="Quattrocento" pitchFamily="34" charset="0"/>
                <a:ea typeface="Quattrocento" pitchFamily="34" charset="-122"/>
                <a:cs typeface="Quattrocento" pitchFamily="34" charset="-120"/>
              </a:rPr>
              <a:t> device at a lower price while maintaining high quality.</a:t>
            </a:r>
            <a:endParaRPr lang="en-US" sz="1600" dirty="0"/>
          </a:p>
        </p:txBody>
      </p:sp>
      <p:sp>
        <p:nvSpPr>
          <p:cNvPr id="20" name="Text 18"/>
          <p:cNvSpPr/>
          <p:nvPr/>
        </p:nvSpPr>
        <p:spPr>
          <a:xfrm>
            <a:off x="649962" y="4964668"/>
            <a:ext cx="5093137" cy="327660"/>
          </a:xfrm>
          <a:prstGeom prst="rect">
            <a:avLst/>
          </a:prstGeom>
          <a:noFill/>
          <a:ln/>
        </p:spPr>
        <p:txBody>
          <a:bodyPr wrap="none" lIns="0" tIns="0" rIns="0" bIns="0" rtlCol="0" anchor="t"/>
          <a:lstStyle/>
          <a:p>
            <a:pPr marL="0" indent="0" algn="l">
              <a:lnSpc>
                <a:spcPts val="2550"/>
              </a:lnSpc>
              <a:buNone/>
            </a:pPr>
            <a:r>
              <a:rPr lang="en-US" sz="2050" dirty="0">
                <a:solidFill>
                  <a:srgbClr val="FFD9BE"/>
                </a:solidFill>
                <a:latin typeface="Quattrocento" pitchFamily="34" charset="0"/>
                <a:ea typeface="Quattrocento" pitchFamily="34" charset="-122"/>
                <a:cs typeface="Quattrocento" pitchFamily="34" charset="-120"/>
              </a:rPr>
              <a:t>Common Objections &amp; Marketing Message:</a:t>
            </a:r>
            <a:endParaRPr lang="en-US" sz="2050" dirty="0"/>
          </a:p>
        </p:txBody>
      </p:sp>
      <p:sp>
        <p:nvSpPr>
          <p:cNvPr id="21" name="Text 19"/>
          <p:cNvSpPr/>
          <p:nvPr/>
        </p:nvSpPr>
        <p:spPr>
          <a:xfrm>
            <a:off x="928449" y="5779651"/>
            <a:ext cx="13051988" cy="594360"/>
          </a:xfrm>
          <a:prstGeom prst="rect">
            <a:avLst/>
          </a:prstGeom>
          <a:noFill/>
          <a:ln/>
        </p:spPr>
        <p:txBody>
          <a:bodyPr wrap="square" lIns="0" tIns="0" rIns="0" bIns="0" rtlCol="0" anchor="t"/>
          <a:lstStyle/>
          <a:p>
            <a:pPr marL="0" indent="0" algn="l">
              <a:lnSpc>
                <a:spcPts val="2300"/>
              </a:lnSpc>
              <a:buNone/>
            </a:pPr>
            <a:r>
              <a:rPr lang="en-US" sz="1600" b="1" dirty="0">
                <a:solidFill>
                  <a:srgbClr val="F9EEE7"/>
                </a:solidFill>
                <a:latin typeface="Quattrocento" pitchFamily="34" charset="0"/>
                <a:ea typeface="Quattrocento" pitchFamily="34" charset="-122"/>
                <a:cs typeface="Quattrocento" pitchFamily="34" charset="-120"/>
              </a:rPr>
              <a:t>Objections: Doubt about the quality of Egyptian-made products. Uncertainty about maintenance response time. Preference for long-standing competitors like Mohamed Attia.</a:t>
            </a:r>
            <a:endParaRPr lang="en-US" sz="1600" b="1" dirty="0"/>
          </a:p>
        </p:txBody>
      </p:sp>
      <p:sp>
        <p:nvSpPr>
          <p:cNvPr id="22" name="Shape 20"/>
          <p:cNvSpPr/>
          <p:nvPr/>
        </p:nvSpPr>
        <p:spPr>
          <a:xfrm>
            <a:off x="928449" y="6675592"/>
            <a:ext cx="13051988" cy="30718"/>
          </a:xfrm>
          <a:prstGeom prst="rect">
            <a:avLst/>
          </a:prstGeom>
          <a:solidFill>
            <a:srgbClr val="F9EEE7">
              <a:alpha val="50000"/>
            </a:srgbClr>
          </a:solidFill>
          <a:ln/>
        </p:spPr>
        <p:txBody>
          <a:bodyPr/>
          <a:lstStyle/>
          <a:p>
            <a:endParaRPr lang="en-US"/>
          </a:p>
        </p:txBody>
      </p:sp>
      <p:sp>
        <p:nvSpPr>
          <p:cNvPr id="23" name="Text 21"/>
          <p:cNvSpPr/>
          <p:nvPr/>
        </p:nvSpPr>
        <p:spPr>
          <a:xfrm>
            <a:off x="928449" y="6915031"/>
            <a:ext cx="13051988" cy="594360"/>
          </a:xfrm>
          <a:prstGeom prst="rect">
            <a:avLst/>
          </a:prstGeom>
          <a:noFill/>
          <a:ln/>
        </p:spPr>
        <p:txBody>
          <a:bodyPr wrap="square" lIns="0" tIns="0" rIns="0" bIns="0" rtlCol="0" anchor="t"/>
          <a:lstStyle/>
          <a:p>
            <a:pPr marL="0" indent="0" algn="l">
              <a:lnSpc>
                <a:spcPts val="2300"/>
              </a:lnSpc>
              <a:buNone/>
            </a:pPr>
            <a:r>
              <a:rPr lang="en-US" sz="1600" b="1" dirty="0">
                <a:solidFill>
                  <a:srgbClr val="EF9C82"/>
                </a:solidFill>
                <a:latin typeface="Quattrocento" pitchFamily="34" charset="0"/>
                <a:ea typeface="Quattrocento" pitchFamily="34" charset="-122"/>
                <a:cs typeface="Quattrocento" pitchFamily="34" charset="-120"/>
              </a:rPr>
              <a:t>Marketing Message:</a:t>
            </a:r>
            <a:r>
              <a:rPr lang="en-US" sz="1600" b="1" dirty="0">
                <a:solidFill>
                  <a:srgbClr val="F9EEE7"/>
                </a:solidFill>
                <a:latin typeface="Quattrocento" pitchFamily="34" charset="0"/>
                <a:ea typeface="Quattrocento" pitchFamily="34" charset="-122"/>
                <a:cs typeface="Quattrocento" pitchFamily="34" charset="-120"/>
              </a:rPr>
              <a:t> HPS provides Egypt's fastest and most reliable milk analyzers, with professional maintenance, nationwide support, and a 2-year warranty. The new Egyptian-made eko+ combines affordability, quality, and full protection from electrical issues.</a:t>
            </a:r>
            <a:endParaRPr lang="en-US" sz="1600" b="1" dirty="0"/>
          </a:p>
        </p:txBody>
      </p:sp>
      <p:sp>
        <p:nvSpPr>
          <p:cNvPr id="24" name="Shape 22"/>
          <p:cNvSpPr/>
          <p:nvPr/>
        </p:nvSpPr>
        <p:spPr>
          <a:xfrm>
            <a:off x="649962" y="5570815"/>
            <a:ext cx="22860" cy="2147411"/>
          </a:xfrm>
          <a:prstGeom prst="rect">
            <a:avLst/>
          </a:prstGeom>
          <a:solidFill>
            <a:srgbClr val="EF9C82"/>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0">
            <a:extLst>
              <a:ext uri="{FF2B5EF4-FFF2-40B4-BE49-F238E27FC236}">
                <a16:creationId xmlns:a16="http://schemas.microsoft.com/office/drawing/2014/main" id="{9379BE50-98ED-D5BC-45C7-C9CF006EE749}"/>
              </a:ext>
            </a:extLst>
          </p:cNvPr>
          <p:cNvSpPr/>
          <p:nvPr/>
        </p:nvSpPr>
        <p:spPr>
          <a:xfrm>
            <a:off x="420648" y="333375"/>
            <a:ext cx="3575447" cy="353378"/>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Marketing Plan &amp; Objectives</a:t>
            </a:r>
            <a:endParaRPr lang="en-US" sz="2200" dirty="0"/>
          </a:p>
        </p:txBody>
      </p:sp>
      <p:sp>
        <p:nvSpPr>
          <p:cNvPr id="45" name="Text 1">
            <a:extLst>
              <a:ext uri="{FF2B5EF4-FFF2-40B4-BE49-F238E27FC236}">
                <a16:creationId xmlns:a16="http://schemas.microsoft.com/office/drawing/2014/main" id="{D66DEC81-07ED-6CC8-CC6C-09B6448CA1BC}"/>
              </a:ext>
            </a:extLst>
          </p:cNvPr>
          <p:cNvSpPr/>
          <p:nvPr/>
        </p:nvSpPr>
        <p:spPr>
          <a:xfrm>
            <a:off x="420648" y="734735"/>
            <a:ext cx="2262307" cy="282773"/>
          </a:xfrm>
          <a:prstGeom prst="rect">
            <a:avLst/>
          </a:prstGeom>
          <a:noFill/>
          <a:ln/>
        </p:spPr>
        <p:txBody>
          <a:bodyPr wrap="none" lIns="0" tIns="0" rIns="0" bIns="0" rtlCol="0" anchor="t"/>
          <a:lstStyle/>
          <a:p>
            <a:pPr marL="0" indent="0" algn="l">
              <a:lnSpc>
                <a:spcPts val="2200"/>
              </a:lnSpc>
              <a:buNone/>
            </a:pPr>
            <a:r>
              <a:rPr lang="en-US" sz="1600" dirty="0">
                <a:solidFill>
                  <a:srgbClr val="FFD9BE"/>
                </a:solidFill>
                <a:latin typeface="Quattrocento" pitchFamily="34" charset="0"/>
                <a:ea typeface="Quattrocento" pitchFamily="34" charset="-122"/>
                <a:cs typeface="Quattrocento" pitchFamily="34" charset="-120"/>
              </a:rPr>
              <a:t>Primary Goal:</a:t>
            </a:r>
            <a:endParaRPr lang="en-US" sz="1600" dirty="0"/>
          </a:p>
        </p:txBody>
      </p:sp>
      <p:sp>
        <p:nvSpPr>
          <p:cNvPr id="46" name="Text 2">
            <a:extLst>
              <a:ext uri="{FF2B5EF4-FFF2-40B4-BE49-F238E27FC236}">
                <a16:creationId xmlns:a16="http://schemas.microsoft.com/office/drawing/2014/main" id="{E51E4CB8-81F1-F75C-47E6-FCF863D41491}"/>
              </a:ext>
            </a:extLst>
          </p:cNvPr>
          <p:cNvSpPr/>
          <p:nvPr/>
        </p:nvSpPr>
        <p:spPr>
          <a:xfrm>
            <a:off x="420648" y="1197769"/>
            <a:ext cx="13789104" cy="192167"/>
          </a:xfrm>
          <a:prstGeom prst="rect">
            <a:avLst/>
          </a:prstGeom>
          <a:noFill/>
          <a:ln/>
        </p:spPr>
        <p:txBody>
          <a:bodyPr wrap="none" lIns="0" tIns="0" rIns="0" bIns="0" rtlCol="0" anchor="t"/>
          <a:lstStyle/>
          <a:p>
            <a:pPr marL="0" indent="0" algn="l">
              <a:lnSpc>
                <a:spcPts val="1500"/>
              </a:lnSpc>
              <a:buNone/>
            </a:pPr>
            <a:r>
              <a:rPr lang="en-US" sz="1600" dirty="0">
                <a:solidFill>
                  <a:srgbClr val="F9EEE7"/>
                </a:solidFill>
                <a:latin typeface="Quattrocento" pitchFamily="34" charset="0"/>
                <a:ea typeface="Quattrocento" pitchFamily="34" charset="-122"/>
                <a:cs typeface="Quattrocento" pitchFamily="34" charset="-120"/>
              </a:rPr>
              <a:t>To position </a:t>
            </a:r>
            <a:r>
              <a:rPr lang="en-US" sz="1600" b="1" dirty="0">
                <a:solidFill>
                  <a:srgbClr val="EF9C82"/>
                </a:solidFill>
                <a:latin typeface="Quattrocento" pitchFamily="34" charset="0"/>
                <a:ea typeface="Quattrocento" pitchFamily="34" charset="-122"/>
                <a:cs typeface="Quattrocento" pitchFamily="34" charset="-120"/>
              </a:rPr>
              <a:t>HPS Cairo</a:t>
            </a:r>
            <a:r>
              <a:rPr lang="en-US" sz="1600" dirty="0">
                <a:solidFill>
                  <a:srgbClr val="F9EEE7"/>
                </a:solidFill>
                <a:latin typeface="Quattrocento" pitchFamily="34" charset="0"/>
                <a:ea typeface="Quattrocento" pitchFamily="34" charset="-122"/>
                <a:cs typeface="Quattrocento" pitchFamily="34" charset="-120"/>
              </a:rPr>
              <a:t> as the leading and most trusted supplier of milk analysis and maintenance solutions in Egypt.</a:t>
            </a:r>
            <a:endParaRPr lang="en-US" sz="1600" dirty="0"/>
          </a:p>
        </p:txBody>
      </p:sp>
      <p:sp>
        <p:nvSpPr>
          <p:cNvPr id="47" name="Text 3">
            <a:extLst>
              <a:ext uri="{FF2B5EF4-FFF2-40B4-BE49-F238E27FC236}">
                <a16:creationId xmlns:a16="http://schemas.microsoft.com/office/drawing/2014/main" id="{636356AD-2DF5-69B9-A4D9-08423E03AF4C}"/>
              </a:ext>
            </a:extLst>
          </p:cNvPr>
          <p:cNvSpPr/>
          <p:nvPr/>
        </p:nvSpPr>
        <p:spPr>
          <a:xfrm>
            <a:off x="420648" y="1570196"/>
            <a:ext cx="1696760" cy="212050"/>
          </a:xfrm>
          <a:prstGeom prst="rect">
            <a:avLst/>
          </a:prstGeom>
          <a:noFill/>
          <a:ln/>
        </p:spPr>
        <p:txBody>
          <a:bodyPr wrap="none" lIns="0" tIns="0" rIns="0" bIns="0" rtlCol="0" anchor="t"/>
          <a:lstStyle/>
          <a:p>
            <a:pPr marL="0" indent="0" algn="l">
              <a:lnSpc>
                <a:spcPts val="1650"/>
              </a:lnSpc>
              <a:buNone/>
            </a:pPr>
            <a:r>
              <a:rPr lang="en-US" sz="1600" dirty="0">
                <a:solidFill>
                  <a:srgbClr val="FFD9BE"/>
                </a:solidFill>
                <a:latin typeface="Quattrocento" pitchFamily="34" charset="0"/>
                <a:ea typeface="Quattrocento" pitchFamily="34" charset="-122"/>
                <a:cs typeface="Quattrocento" pitchFamily="34" charset="-120"/>
              </a:rPr>
              <a:t>Strategic Objectives:</a:t>
            </a:r>
            <a:endParaRPr lang="en-US" sz="1600" dirty="0"/>
          </a:p>
        </p:txBody>
      </p:sp>
      <p:sp>
        <p:nvSpPr>
          <p:cNvPr id="48" name="Shape 4">
            <a:extLst>
              <a:ext uri="{FF2B5EF4-FFF2-40B4-BE49-F238E27FC236}">
                <a16:creationId xmlns:a16="http://schemas.microsoft.com/office/drawing/2014/main" id="{E7238AB7-7608-3707-A971-F1D1535B415F}"/>
              </a:ext>
            </a:extLst>
          </p:cNvPr>
          <p:cNvSpPr/>
          <p:nvPr/>
        </p:nvSpPr>
        <p:spPr>
          <a:xfrm>
            <a:off x="420648" y="2838450"/>
            <a:ext cx="6834426" cy="876776"/>
          </a:xfrm>
          <a:prstGeom prst="roundRect">
            <a:avLst>
              <a:gd name="adj" fmla="val 8343"/>
            </a:avLst>
          </a:prstGeom>
          <a:solidFill>
            <a:srgbClr val="123332"/>
          </a:solidFill>
          <a:ln/>
        </p:spPr>
        <p:txBody>
          <a:bodyPr/>
          <a:lstStyle/>
          <a:p>
            <a:endParaRPr lang="en-US"/>
          </a:p>
        </p:txBody>
      </p:sp>
      <p:sp>
        <p:nvSpPr>
          <p:cNvPr id="49" name="Shape 5">
            <a:extLst>
              <a:ext uri="{FF2B5EF4-FFF2-40B4-BE49-F238E27FC236}">
                <a16:creationId xmlns:a16="http://schemas.microsoft.com/office/drawing/2014/main" id="{E4EAA237-D1F8-1FE6-EF16-B0BA87AA49A9}"/>
              </a:ext>
            </a:extLst>
          </p:cNvPr>
          <p:cNvSpPr/>
          <p:nvPr/>
        </p:nvSpPr>
        <p:spPr>
          <a:xfrm>
            <a:off x="420648" y="2823210"/>
            <a:ext cx="6834426" cy="60960"/>
          </a:xfrm>
          <a:prstGeom prst="roundRect">
            <a:avLst>
              <a:gd name="adj" fmla="val 29575"/>
            </a:avLst>
          </a:prstGeom>
          <a:solidFill>
            <a:srgbClr val="EF9C82"/>
          </a:solidFill>
          <a:ln/>
        </p:spPr>
        <p:txBody>
          <a:bodyPr/>
          <a:lstStyle/>
          <a:p>
            <a:endParaRPr lang="en-US"/>
          </a:p>
        </p:txBody>
      </p:sp>
      <p:sp>
        <p:nvSpPr>
          <p:cNvPr id="50" name="Shape 6">
            <a:extLst>
              <a:ext uri="{FF2B5EF4-FFF2-40B4-BE49-F238E27FC236}">
                <a16:creationId xmlns:a16="http://schemas.microsoft.com/office/drawing/2014/main" id="{C126315C-092E-1985-E9B1-41A88C1C6310}"/>
              </a:ext>
            </a:extLst>
          </p:cNvPr>
          <p:cNvSpPr/>
          <p:nvPr/>
        </p:nvSpPr>
        <p:spPr>
          <a:xfrm>
            <a:off x="3657600" y="2658189"/>
            <a:ext cx="360521" cy="360521"/>
          </a:xfrm>
          <a:prstGeom prst="roundRect">
            <a:avLst>
              <a:gd name="adj" fmla="val 253633"/>
            </a:avLst>
          </a:prstGeom>
          <a:solidFill>
            <a:srgbClr val="EF9C82"/>
          </a:solidFill>
          <a:ln/>
        </p:spPr>
        <p:txBody>
          <a:bodyPr/>
          <a:lstStyle/>
          <a:p>
            <a:endParaRPr lang="en-US"/>
          </a:p>
        </p:txBody>
      </p:sp>
      <p:sp>
        <p:nvSpPr>
          <p:cNvPr id="51" name="Text 7">
            <a:extLst>
              <a:ext uri="{FF2B5EF4-FFF2-40B4-BE49-F238E27FC236}">
                <a16:creationId xmlns:a16="http://schemas.microsoft.com/office/drawing/2014/main" id="{7BE93755-3D2D-4843-FF7B-C3B6E39C3919}"/>
              </a:ext>
            </a:extLst>
          </p:cNvPr>
          <p:cNvSpPr/>
          <p:nvPr/>
        </p:nvSpPr>
        <p:spPr>
          <a:xfrm>
            <a:off x="3765709" y="2748320"/>
            <a:ext cx="144185" cy="180261"/>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Quattrocento" pitchFamily="34" charset="0"/>
                <a:ea typeface="Quattrocento" pitchFamily="34" charset="-122"/>
                <a:cs typeface="Quattrocento" pitchFamily="34" charset="-120"/>
              </a:rPr>
              <a:t>1</a:t>
            </a:r>
            <a:endParaRPr lang="en-US" sz="1100" dirty="0"/>
          </a:p>
        </p:txBody>
      </p:sp>
      <p:sp>
        <p:nvSpPr>
          <p:cNvPr id="52" name="Text 8">
            <a:extLst>
              <a:ext uri="{FF2B5EF4-FFF2-40B4-BE49-F238E27FC236}">
                <a16:creationId xmlns:a16="http://schemas.microsoft.com/office/drawing/2014/main" id="{F00C122A-D183-07A4-E12E-178EE5B42E94}"/>
              </a:ext>
            </a:extLst>
          </p:cNvPr>
          <p:cNvSpPr/>
          <p:nvPr/>
        </p:nvSpPr>
        <p:spPr>
          <a:xfrm>
            <a:off x="556022" y="3138845"/>
            <a:ext cx="1413986" cy="176808"/>
          </a:xfrm>
          <a:prstGeom prst="rect">
            <a:avLst/>
          </a:prstGeom>
          <a:noFill/>
          <a:ln/>
        </p:spPr>
        <p:txBody>
          <a:bodyPr wrap="none" lIns="0" tIns="0" rIns="0" bIns="0" rtlCol="0" anchor="t"/>
          <a:lstStyle/>
          <a:p>
            <a:pPr marL="0" indent="0" algn="l">
              <a:lnSpc>
                <a:spcPts val="1350"/>
              </a:lnSpc>
              <a:buNone/>
            </a:pPr>
            <a:r>
              <a:rPr lang="en-US" sz="1600" dirty="0">
                <a:solidFill>
                  <a:srgbClr val="F9EEE7"/>
                </a:solidFill>
                <a:latin typeface="Quattrocento" pitchFamily="34" charset="0"/>
                <a:ea typeface="Quattrocento" pitchFamily="34" charset="-122"/>
                <a:cs typeface="Quattrocento" pitchFamily="34" charset="-120"/>
              </a:rPr>
              <a:t>Increase Awareness</a:t>
            </a:r>
            <a:endParaRPr lang="en-US" sz="1600" dirty="0"/>
          </a:p>
        </p:txBody>
      </p:sp>
      <p:sp>
        <p:nvSpPr>
          <p:cNvPr id="53" name="Text 9">
            <a:extLst>
              <a:ext uri="{FF2B5EF4-FFF2-40B4-BE49-F238E27FC236}">
                <a16:creationId xmlns:a16="http://schemas.microsoft.com/office/drawing/2014/main" id="{3AC3838A-F681-5575-60B0-E7B4A21EA556}"/>
              </a:ext>
            </a:extLst>
          </p:cNvPr>
          <p:cNvSpPr/>
          <p:nvPr/>
        </p:nvSpPr>
        <p:spPr>
          <a:xfrm>
            <a:off x="556022" y="3387685"/>
            <a:ext cx="6563678" cy="192167"/>
          </a:xfrm>
          <a:prstGeom prst="rect">
            <a:avLst/>
          </a:prstGeom>
          <a:noFill/>
          <a:ln/>
        </p:spPr>
        <p:txBody>
          <a:bodyPr wrap="none" lIns="0" tIns="0" rIns="0" bIns="0" rtlCol="0" anchor="t"/>
          <a:lstStyle/>
          <a:p>
            <a:pPr marL="0" indent="0" algn="l">
              <a:lnSpc>
                <a:spcPts val="1500"/>
              </a:lnSpc>
              <a:buNone/>
            </a:pPr>
            <a:r>
              <a:rPr lang="en-US" sz="1600" dirty="0">
                <a:solidFill>
                  <a:srgbClr val="F9EEE7"/>
                </a:solidFill>
                <a:latin typeface="Quattrocento" pitchFamily="34" charset="0"/>
                <a:ea typeface="Quattrocento" pitchFamily="34" charset="-122"/>
                <a:cs typeface="Quattrocento" pitchFamily="34" charset="-120"/>
              </a:rPr>
              <a:t>Increase awareness among dairy industry professionals.</a:t>
            </a:r>
            <a:endParaRPr lang="en-US" sz="1600" dirty="0"/>
          </a:p>
        </p:txBody>
      </p:sp>
      <p:sp>
        <p:nvSpPr>
          <p:cNvPr id="54" name="Shape 10">
            <a:extLst>
              <a:ext uri="{FF2B5EF4-FFF2-40B4-BE49-F238E27FC236}">
                <a16:creationId xmlns:a16="http://schemas.microsoft.com/office/drawing/2014/main" id="{A73460F3-B695-6107-B229-212D839ADCBB}"/>
              </a:ext>
            </a:extLst>
          </p:cNvPr>
          <p:cNvSpPr/>
          <p:nvPr/>
        </p:nvSpPr>
        <p:spPr>
          <a:xfrm>
            <a:off x="7255073" y="3071998"/>
            <a:ext cx="6834545" cy="876776"/>
          </a:xfrm>
          <a:prstGeom prst="roundRect">
            <a:avLst>
              <a:gd name="adj" fmla="val 8343"/>
            </a:avLst>
          </a:prstGeom>
          <a:solidFill>
            <a:srgbClr val="123332"/>
          </a:solidFill>
          <a:ln/>
        </p:spPr>
        <p:txBody>
          <a:bodyPr/>
          <a:lstStyle/>
          <a:p>
            <a:endParaRPr lang="en-US"/>
          </a:p>
        </p:txBody>
      </p:sp>
      <p:sp>
        <p:nvSpPr>
          <p:cNvPr id="55" name="Shape 11">
            <a:extLst>
              <a:ext uri="{FF2B5EF4-FFF2-40B4-BE49-F238E27FC236}">
                <a16:creationId xmlns:a16="http://schemas.microsoft.com/office/drawing/2014/main" id="{509D3353-83BD-A859-6215-B4F63CC10C23}"/>
              </a:ext>
            </a:extLst>
          </p:cNvPr>
          <p:cNvSpPr/>
          <p:nvPr/>
        </p:nvSpPr>
        <p:spPr>
          <a:xfrm>
            <a:off x="7375208" y="2823210"/>
            <a:ext cx="6834545" cy="60960"/>
          </a:xfrm>
          <a:prstGeom prst="roundRect">
            <a:avLst>
              <a:gd name="adj" fmla="val 29575"/>
            </a:avLst>
          </a:prstGeom>
          <a:solidFill>
            <a:srgbClr val="EF9C82"/>
          </a:solidFill>
          <a:ln/>
        </p:spPr>
        <p:txBody>
          <a:bodyPr/>
          <a:lstStyle/>
          <a:p>
            <a:endParaRPr lang="en-US"/>
          </a:p>
        </p:txBody>
      </p:sp>
      <p:sp>
        <p:nvSpPr>
          <p:cNvPr id="56" name="Shape 12">
            <a:extLst>
              <a:ext uri="{FF2B5EF4-FFF2-40B4-BE49-F238E27FC236}">
                <a16:creationId xmlns:a16="http://schemas.microsoft.com/office/drawing/2014/main" id="{2079D65B-5AB2-45A9-DD99-B5DD50569776}"/>
              </a:ext>
            </a:extLst>
          </p:cNvPr>
          <p:cNvSpPr/>
          <p:nvPr/>
        </p:nvSpPr>
        <p:spPr>
          <a:xfrm>
            <a:off x="10612160" y="2658189"/>
            <a:ext cx="360521" cy="360521"/>
          </a:xfrm>
          <a:prstGeom prst="roundRect">
            <a:avLst>
              <a:gd name="adj" fmla="val 253633"/>
            </a:avLst>
          </a:prstGeom>
          <a:solidFill>
            <a:srgbClr val="EF9C82"/>
          </a:solidFill>
          <a:ln/>
        </p:spPr>
        <p:txBody>
          <a:bodyPr/>
          <a:lstStyle/>
          <a:p>
            <a:endParaRPr lang="en-US"/>
          </a:p>
        </p:txBody>
      </p:sp>
      <p:sp>
        <p:nvSpPr>
          <p:cNvPr id="57" name="Text 13">
            <a:extLst>
              <a:ext uri="{FF2B5EF4-FFF2-40B4-BE49-F238E27FC236}">
                <a16:creationId xmlns:a16="http://schemas.microsoft.com/office/drawing/2014/main" id="{3CB8DF71-B8C0-9338-B4C6-73D4259E8CC1}"/>
              </a:ext>
            </a:extLst>
          </p:cNvPr>
          <p:cNvSpPr/>
          <p:nvPr/>
        </p:nvSpPr>
        <p:spPr>
          <a:xfrm>
            <a:off x="10720268" y="2748320"/>
            <a:ext cx="144185" cy="180261"/>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Quattrocento" pitchFamily="34" charset="0"/>
                <a:ea typeface="Quattrocento" pitchFamily="34" charset="-122"/>
                <a:cs typeface="Quattrocento" pitchFamily="34" charset="-120"/>
              </a:rPr>
              <a:t>2</a:t>
            </a:r>
            <a:endParaRPr lang="en-US" sz="1100" dirty="0"/>
          </a:p>
        </p:txBody>
      </p:sp>
      <p:sp>
        <p:nvSpPr>
          <p:cNvPr id="58" name="Text 14">
            <a:extLst>
              <a:ext uri="{FF2B5EF4-FFF2-40B4-BE49-F238E27FC236}">
                <a16:creationId xmlns:a16="http://schemas.microsoft.com/office/drawing/2014/main" id="{462E8817-C595-0E7F-3FBC-DD2F8DF6B687}"/>
              </a:ext>
            </a:extLst>
          </p:cNvPr>
          <p:cNvSpPr/>
          <p:nvPr/>
        </p:nvSpPr>
        <p:spPr>
          <a:xfrm>
            <a:off x="7510582" y="3138845"/>
            <a:ext cx="1413986" cy="176808"/>
          </a:xfrm>
          <a:prstGeom prst="rect">
            <a:avLst/>
          </a:prstGeom>
          <a:noFill/>
          <a:ln/>
        </p:spPr>
        <p:txBody>
          <a:bodyPr wrap="none" lIns="0" tIns="0" rIns="0" bIns="0" rtlCol="0" anchor="t"/>
          <a:lstStyle/>
          <a:p>
            <a:pPr marL="0" indent="0" algn="l">
              <a:lnSpc>
                <a:spcPts val="1350"/>
              </a:lnSpc>
              <a:buNone/>
            </a:pPr>
            <a:r>
              <a:rPr lang="en-US" dirty="0">
                <a:solidFill>
                  <a:srgbClr val="F9EEE7"/>
                </a:solidFill>
                <a:latin typeface="Quattrocento" pitchFamily="34" charset="0"/>
                <a:ea typeface="Quattrocento" pitchFamily="34" charset="-122"/>
                <a:cs typeface="Quattrocento" pitchFamily="34" charset="-120"/>
              </a:rPr>
              <a:t>Highlight eko+</a:t>
            </a:r>
            <a:endParaRPr lang="en-US" dirty="0"/>
          </a:p>
        </p:txBody>
      </p:sp>
      <p:sp>
        <p:nvSpPr>
          <p:cNvPr id="59" name="Text 15">
            <a:extLst>
              <a:ext uri="{FF2B5EF4-FFF2-40B4-BE49-F238E27FC236}">
                <a16:creationId xmlns:a16="http://schemas.microsoft.com/office/drawing/2014/main" id="{07AE8CBF-88EC-8836-B389-5268333DEFFE}"/>
              </a:ext>
            </a:extLst>
          </p:cNvPr>
          <p:cNvSpPr/>
          <p:nvPr/>
        </p:nvSpPr>
        <p:spPr>
          <a:xfrm>
            <a:off x="7510461" y="3499776"/>
            <a:ext cx="6563797" cy="192167"/>
          </a:xfrm>
          <a:prstGeom prst="rect">
            <a:avLst/>
          </a:prstGeom>
          <a:noFill/>
          <a:ln/>
        </p:spPr>
        <p:txBody>
          <a:bodyPr wrap="none" lIns="0" tIns="0" rIns="0" bIns="0" rtlCol="0" anchor="t"/>
          <a:lstStyle/>
          <a:p>
            <a:pPr marL="0" indent="0" algn="l">
              <a:lnSpc>
                <a:spcPts val="1500"/>
              </a:lnSpc>
              <a:buNone/>
            </a:pPr>
            <a:r>
              <a:rPr lang="en-US" dirty="0">
                <a:solidFill>
                  <a:srgbClr val="F9EEE7"/>
                </a:solidFill>
                <a:latin typeface="Quattrocento" pitchFamily="34" charset="0"/>
                <a:ea typeface="Quattrocento" pitchFamily="34" charset="-122"/>
                <a:cs typeface="Quattrocento" pitchFamily="34" charset="-120"/>
              </a:rPr>
              <a:t>Highlight the benefits of the </a:t>
            </a:r>
            <a:r>
              <a:rPr lang="en-US" i="1" dirty="0">
                <a:solidFill>
                  <a:srgbClr val="F9EEE7"/>
                </a:solidFill>
                <a:latin typeface="Quattrocento" pitchFamily="34" charset="0"/>
                <a:ea typeface="Quattrocento" pitchFamily="34" charset="-122"/>
                <a:cs typeface="Quattrocento" pitchFamily="34" charset="-120"/>
              </a:rPr>
              <a:t>eko+</a:t>
            </a:r>
            <a:r>
              <a:rPr lang="en-US" dirty="0">
                <a:solidFill>
                  <a:srgbClr val="F9EEE7"/>
                </a:solidFill>
                <a:latin typeface="Quattrocento" pitchFamily="34" charset="0"/>
                <a:ea typeface="Quattrocento" pitchFamily="34" charset="-122"/>
                <a:cs typeface="Quattrocento" pitchFamily="34" charset="-120"/>
              </a:rPr>
              <a:t> local device.</a:t>
            </a:r>
            <a:endParaRPr lang="en-US" dirty="0"/>
          </a:p>
        </p:txBody>
      </p:sp>
      <p:sp>
        <p:nvSpPr>
          <p:cNvPr id="60" name="Shape 16">
            <a:extLst>
              <a:ext uri="{FF2B5EF4-FFF2-40B4-BE49-F238E27FC236}">
                <a16:creationId xmlns:a16="http://schemas.microsoft.com/office/drawing/2014/main" id="{60982F53-753A-DE7D-B957-D64AAE80D23D}"/>
              </a:ext>
            </a:extLst>
          </p:cNvPr>
          <p:cNvSpPr/>
          <p:nvPr/>
        </p:nvSpPr>
        <p:spPr>
          <a:xfrm>
            <a:off x="420648" y="4015621"/>
            <a:ext cx="6834426" cy="876776"/>
          </a:xfrm>
          <a:prstGeom prst="roundRect">
            <a:avLst>
              <a:gd name="adj" fmla="val 8343"/>
            </a:avLst>
          </a:prstGeom>
          <a:solidFill>
            <a:srgbClr val="123332"/>
          </a:solidFill>
          <a:ln/>
        </p:spPr>
        <p:txBody>
          <a:bodyPr/>
          <a:lstStyle/>
          <a:p>
            <a:endParaRPr lang="en-US" dirty="0"/>
          </a:p>
        </p:txBody>
      </p:sp>
      <p:sp>
        <p:nvSpPr>
          <p:cNvPr id="61" name="Shape 17">
            <a:extLst>
              <a:ext uri="{FF2B5EF4-FFF2-40B4-BE49-F238E27FC236}">
                <a16:creationId xmlns:a16="http://schemas.microsoft.com/office/drawing/2014/main" id="{9E3006B7-F5AB-DA52-9FDF-FE501418E4F2}"/>
              </a:ext>
            </a:extLst>
          </p:cNvPr>
          <p:cNvSpPr/>
          <p:nvPr/>
        </p:nvSpPr>
        <p:spPr>
          <a:xfrm>
            <a:off x="420648" y="4000381"/>
            <a:ext cx="6834426" cy="60960"/>
          </a:xfrm>
          <a:prstGeom prst="roundRect">
            <a:avLst>
              <a:gd name="adj" fmla="val 29575"/>
            </a:avLst>
          </a:prstGeom>
          <a:solidFill>
            <a:srgbClr val="EF9C82"/>
          </a:solidFill>
          <a:ln/>
        </p:spPr>
        <p:txBody>
          <a:bodyPr/>
          <a:lstStyle/>
          <a:p>
            <a:endParaRPr lang="en-US"/>
          </a:p>
        </p:txBody>
      </p:sp>
      <p:sp>
        <p:nvSpPr>
          <p:cNvPr id="62" name="Shape 18">
            <a:extLst>
              <a:ext uri="{FF2B5EF4-FFF2-40B4-BE49-F238E27FC236}">
                <a16:creationId xmlns:a16="http://schemas.microsoft.com/office/drawing/2014/main" id="{71C3194C-6DB3-C655-8F8F-68BA2C6595D6}"/>
              </a:ext>
            </a:extLst>
          </p:cNvPr>
          <p:cNvSpPr/>
          <p:nvPr/>
        </p:nvSpPr>
        <p:spPr>
          <a:xfrm>
            <a:off x="3657600" y="3835360"/>
            <a:ext cx="360521" cy="360521"/>
          </a:xfrm>
          <a:prstGeom prst="roundRect">
            <a:avLst>
              <a:gd name="adj" fmla="val 253633"/>
            </a:avLst>
          </a:prstGeom>
          <a:solidFill>
            <a:srgbClr val="EF9C82"/>
          </a:solidFill>
          <a:ln/>
        </p:spPr>
        <p:txBody>
          <a:bodyPr/>
          <a:lstStyle/>
          <a:p>
            <a:endParaRPr lang="en-US"/>
          </a:p>
        </p:txBody>
      </p:sp>
      <p:sp>
        <p:nvSpPr>
          <p:cNvPr id="63" name="Text 19">
            <a:extLst>
              <a:ext uri="{FF2B5EF4-FFF2-40B4-BE49-F238E27FC236}">
                <a16:creationId xmlns:a16="http://schemas.microsoft.com/office/drawing/2014/main" id="{45BA7A25-0A74-B8B2-A16A-4506E0EB75AD}"/>
              </a:ext>
            </a:extLst>
          </p:cNvPr>
          <p:cNvSpPr/>
          <p:nvPr/>
        </p:nvSpPr>
        <p:spPr>
          <a:xfrm>
            <a:off x="3765709" y="3925490"/>
            <a:ext cx="144185" cy="180261"/>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Quattrocento" pitchFamily="34" charset="0"/>
                <a:ea typeface="Quattrocento" pitchFamily="34" charset="-122"/>
                <a:cs typeface="Quattrocento" pitchFamily="34" charset="-120"/>
              </a:rPr>
              <a:t>3</a:t>
            </a:r>
            <a:endParaRPr lang="en-US" sz="1100" dirty="0"/>
          </a:p>
        </p:txBody>
      </p:sp>
      <p:sp>
        <p:nvSpPr>
          <p:cNvPr id="64" name="Text 20">
            <a:extLst>
              <a:ext uri="{FF2B5EF4-FFF2-40B4-BE49-F238E27FC236}">
                <a16:creationId xmlns:a16="http://schemas.microsoft.com/office/drawing/2014/main" id="{484CC9CC-06D7-E1D0-BEED-7CE95746D519}"/>
              </a:ext>
            </a:extLst>
          </p:cNvPr>
          <p:cNvSpPr/>
          <p:nvPr/>
        </p:nvSpPr>
        <p:spPr>
          <a:xfrm>
            <a:off x="556022" y="4316015"/>
            <a:ext cx="1413986" cy="176808"/>
          </a:xfrm>
          <a:prstGeom prst="rect">
            <a:avLst/>
          </a:prstGeom>
          <a:noFill/>
          <a:ln/>
        </p:spPr>
        <p:txBody>
          <a:bodyPr wrap="none" lIns="0" tIns="0" rIns="0" bIns="0" rtlCol="0" anchor="t"/>
          <a:lstStyle/>
          <a:p>
            <a:pPr marL="0" indent="0" algn="l">
              <a:lnSpc>
                <a:spcPts val="1350"/>
              </a:lnSpc>
              <a:buNone/>
            </a:pPr>
            <a:r>
              <a:rPr lang="en-US" sz="1400" dirty="0">
                <a:solidFill>
                  <a:srgbClr val="F9EEE7"/>
                </a:solidFill>
                <a:latin typeface="Quattrocento" pitchFamily="34" charset="0"/>
                <a:ea typeface="Quattrocento" pitchFamily="34" charset="-122"/>
                <a:cs typeface="Quattrocento" pitchFamily="34" charset="-120"/>
              </a:rPr>
              <a:t>Build Credibility</a:t>
            </a:r>
            <a:endParaRPr lang="en-US" sz="1400" dirty="0"/>
          </a:p>
        </p:txBody>
      </p:sp>
      <p:sp>
        <p:nvSpPr>
          <p:cNvPr id="65" name="Text 21">
            <a:extLst>
              <a:ext uri="{FF2B5EF4-FFF2-40B4-BE49-F238E27FC236}">
                <a16:creationId xmlns:a16="http://schemas.microsoft.com/office/drawing/2014/main" id="{3549A935-E5EA-337A-CCCD-8DF7EDF2DFFB}"/>
              </a:ext>
            </a:extLst>
          </p:cNvPr>
          <p:cNvSpPr/>
          <p:nvPr/>
        </p:nvSpPr>
        <p:spPr>
          <a:xfrm>
            <a:off x="556022" y="4564856"/>
            <a:ext cx="6563678" cy="192167"/>
          </a:xfrm>
          <a:prstGeom prst="rect">
            <a:avLst/>
          </a:prstGeom>
          <a:noFill/>
          <a:ln/>
        </p:spPr>
        <p:txBody>
          <a:bodyPr wrap="none" lIns="0" tIns="0" rIns="0" bIns="0" rtlCol="0" anchor="t"/>
          <a:lstStyle/>
          <a:p>
            <a:pPr marL="0" indent="0" algn="l">
              <a:lnSpc>
                <a:spcPts val="1500"/>
              </a:lnSpc>
              <a:buNone/>
            </a:pPr>
            <a:r>
              <a:rPr lang="en-US" sz="1600" dirty="0">
                <a:solidFill>
                  <a:srgbClr val="F9EEE7"/>
                </a:solidFill>
                <a:latin typeface="Quattrocento" pitchFamily="34" charset="0"/>
                <a:ea typeface="Quattrocento" pitchFamily="34" charset="-122"/>
                <a:cs typeface="Quattrocento" pitchFamily="34" charset="-120"/>
              </a:rPr>
              <a:t>Build credibility through technical expertise and maintenance quality.</a:t>
            </a:r>
            <a:endParaRPr lang="en-US" sz="1600" dirty="0"/>
          </a:p>
        </p:txBody>
      </p:sp>
      <p:sp>
        <p:nvSpPr>
          <p:cNvPr id="66" name="Shape 22">
            <a:extLst>
              <a:ext uri="{FF2B5EF4-FFF2-40B4-BE49-F238E27FC236}">
                <a16:creationId xmlns:a16="http://schemas.microsoft.com/office/drawing/2014/main" id="{2B024A0A-2264-0D57-502E-22E1F8DA03FB}"/>
              </a:ext>
            </a:extLst>
          </p:cNvPr>
          <p:cNvSpPr/>
          <p:nvPr/>
        </p:nvSpPr>
        <p:spPr>
          <a:xfrm>
            <a:off x="7375208" y="4015621"/>
            <a:ext cx="6834545" cy="876776"/>
          </a:xfrm>
          <a:prstGeom prst="roundRect">
            <a:avLst>
              <a:gd name="adj" fmla="val 8343"/>
            </a:avLst>
          </a:prstGeom>
          <a:solidFill>
            <a:srgbClr val="123332"/>
          </a:solidFill>
          <a:ln/>
        </p:spPr>
        <p:txBody>
          <a:bodyPr/>
          <a:lstStyle/>
          <a:p>
            <a:endParaRPr lang="en-US"/>
          </a:p>
        </p:txBody>
      </p:sp>
      <p:sp>
        <p:nvSpPr>
          <p:cNvPr id="67" name="Shape 23">
            <a:extLst>
              <a:ext uri="{FF2B5EF4-FFF2-40B4-BE49-F238E27FC236}">
                <a16:creationId xmlns:a16="http://schemas.microsoft.com/office/drawing/2014/main" id="{544A25B6-9938-35E3-8ECB-A150928F8441}"/>
              </a:ext>
            </a:extLst>
          </p:cNvPr>
          <p:cNvSpPr/>
          <p:nvPr/>
        </p:nvSpPr>
        <p:spPr>
          <a:xfrm>
            <a:off x="7375208" y="4000381"/>
            <a:ext cx="6834545" cy="60960"/>
          </a:xfrm>
          <a:prstGeom prst="roundRect">
            <a:avLst>
              <a:gd name="adj" fmla="val 29575"/>
            </a:avLst>
          </a:prstGeom>
          <a:solidFill>
            <a:srgbClr val="EF9C82"/>
          </a:solidFill>
          <a:ln/>
        </p:spPr>
        <p:txBody>
          <a:bodyPr/>
          <a:lstStyle/>
          <a:p>
            <a:endParaRPr lang="en-US"/>
          </a:p>
        </p:txBody>
      </p:sp>
      <p:sp>
        <p:nvSpPr>
          <p:cNvPr id="68" name="Shape 24">
            <a:extLst>
              <a:ext uri="{FF2B5EF4-FFF2-40B4-BE49-F238E27FC236}">
                <a16:creationId xmlns:a16="http://schemas.microsoft.com/office/drawing/2014/main" id="{DE173856-9ADF-1856-3410-064D933FFC35}"/>
              </a:ext>
            </a:extLst>
          </p:cNvPr>
          <p:cNvSpPr/>
          <p:nvPr/>
        </p:nvSpPr>
        <p:spPr>
          <a:xfrm>
            <a:off x="10612160" y="3835360"/>
            <a:ext cx="360521" cy="360521"/>
          </a:xfrm>
          <a:prstGeom prst="roundRect">
            <a:avLst>
              <a:gd name="adj" fmla="val 253633"/>
            </a:avLst>
          </a:prstGeom>
          <a:solidFill>
            <a:srgbClr val="EF9C82"/>
          </a:solidFill>
          <a:ln/>
        </p:spPr>
        <p:txBody>
          <a:bodyPr/>
          <a:lstStyle/>
          <a:p>
            <a:endParaRPr lang="en-US"/>
          </a:p>
        </p:txBody>
      </p:sp>
      <p:sp>
        <p:nvSpPr>
          <p:cNvPr id="69" name="Text 25">
            <a:extLst>
              <a:ext uri="{FF2B5EF4-FFF2-40B4-BE49-F238E27FC236}">
                <a16:creationId xmlns:a16="http://schemas.microsoft.com/office/drawing/2014/main" id="{60D2F94B-CD62-0FC2-2D10-82390589B0DD}"/>
              </a:ext>
            </a:extLst>
          </p:cNvPr>
          <p:cNvSpPr/>
          <p:nvPr/>
        </p:nvSpPr>
        <p:spPr>
          <a:xfrm>
            <a:off x="10720268" y="3925490"/>
            <a:ext cx="144185" cy="180261"/>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Quattrocento" pitchFamily="34" charset="0"/>
                <a:ea typeface="Quattrocento" pitchFamily="34" charset="-122"/>
                <a:cs typeface="Quattrocento" pitchFamily="34" charset="-120"/>
              </a:rPr>
              <a:t>4</a:t>
            </a:r>
            <a:endParaRPr lang="en-US" sz="1100" dirty="0"/>
          </a:p>
        </p:txBody>
      </p:sp>
      <p:sp>
        <p:nvSpPr>
          <p:cNvPr id="70" name="Text 26">
            <a:extLst>
              <a:ext uri="{FF2B5EF4-FFF2-40B4-BE49-F238E27FC236}">
                <a16:creationId xmlns:a16="http://schemas.microsoft.com/office/drawing/2014/main" id="{0EA85F13-9770-DA5C-0AD5-94E9107722FB}"/>
              </a:ext>
            </a:extLst>
          </p:cNvPr>
          <p:cNvSpPr/>
          <p:nvPr/>
        </p:nvSpPr>
        <p:spPr>
          <a:xfrm>
            <a:off x="7510582" y="4316015"/>
            <a:ext cx="1413986" cy="176808"/>
          </a:xfrm>
          <a:prstGeom prst="rect">
            <a:avLst/>
          </a:prstGeom>
          <a:noFill/>
          <a:ln/>
        </p:spPr>
        <p:txBody>
          <a:bodyPr wrap="none" lIns="0" tIns="0" rIns="0" bIns="0" rtlCol="0" anchor="t"/>
          <a:lstStyle/>
          <a:p>
            <a:pPr marL="0" indent="0" algn="l">
              <a:lnSpc>
                <a:spcPts val="1350"/>
              </a:lnSpc>
              <a:buNone/>
            </a:pPr>
            <a:r>
              <a:rPr lang="en-US" dirty="0">
                <a:solidFill>
                  <a:srgbClr val="F9EEE7"/>
                </a:solidFill>
                <a:latin typeface="Quattrocento" pitchFamily="34" charset="0"/>
                <a:ea typeface="Quattrocento" pitchFamily="34" charset="-122"/>
                <a:cs typeface="Quattrocento" pitchFamily="34" charset="-120"/>
              </a:rPr>
              <a:t>Drive Inquiries</a:t>
            </a:r>
            <a:endParaRPr lang="en-US" dirty="0"/>
          </a:p>
        </p:txBody>
      </p:sp>
      <p:sp>
        <p:nvSpPr>
          <p:cNvPr id="71" name="Text 27">
            <a:extLst>
              <a:ext uri="{FF2B5EF4-FFF2-40B4-BE49-F238E27FC236}">
                <a16:creationId xmlns:a16="http://schemas.microsoft.com/office/drawing/2014/main" id="{A5EB5423-C619-819D-8FF0-BECB04D55094}"/>
              </a:ext>
            </a:extLst>
          </p:cNvPr>
          <p:cNvSpPr/>
          <p:nvPr/>
        </p:nvSpPr>
        <p:spPr>
          <a:xfrm>
            <a:off x="7510582" y="4564856"/>
            <a:ext cx="6563797" cy="192167"/>
          </a:xfrm>
          <a:prstGeom prst="rect">
            <a:avLst/>
          </a:prstGeom>
          <a:noFill/>
          <a:ln/>
        </p:spPr>
        <p:txBody>
          <a:bodyPr wrap="none" lIns="0" tIns="0" rIns="0" bIns="0" rtlCol="0" anchor="t"/>
          <a:lstStyle/>
          <a:p>
            <a:pPr marL="0" indent="0" algn="l">
              <a:lnSpc>
                <a:spcPts val="1500"/>
              </a:lnSpc>
              <a:buNone/>
            </a:pPr>
            <a:r>
              <a:rPr lang="en-US" dirty="0">
                <a:solidFill>
                  <a:srgbClr val="F9EEE7"/>
                </a:solidFill>
                <a:latin typeface="Quattrocento" pitchFamily="34" charset="0"/>
                <a:ea typeface="Quattrocento" pitchFamily="34" charset="-122"/>
                <a:cs typeface="Quattrocento" pitchFamily="34" charset="-120"/>
              </a:rPr>
              <a:t>Grow direct sales inquiries through social media and WhatsApp.</a:t>
            </a:r>
            <a:endParaRPr lang="en-US" dirty="0"/>
          </a:p>
        </p:txBody>
      </p:sp>
      <p:pic>
        <p:nvPicPr>
          <p:cNvPr id="72" name="Picture 2" descr="May be an image of ‎text that says '‎Kp PONEsolutiona POWER selutiona تقف . إنها من أغلى معداتك الصناعية معداتك وحماية لطاق استقرار لضمان الأمثل الحل New Cairo 8 01551655076 01029662962 5th Settlement- South Investors Area Plus Mall- B2/208‎'‎">
            <a:extLst>
              <a:ext uri="{FF2B5EF4-FFF2-40B4-BE49-F238E27FC236}">
                <a16:creationId xmlns:a16="http://schemas.microsoft.com/office/drawing/2014/main" id="{1196AF3A-91F9-93BC-E531-B3AF9BCF9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47" y="5125998"/>
            <a:ext cx="2797619" cy="267087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descr="May be an image of ‎text that says '‎י#ן POWER POWERSalutions Salutions الجودة تفصيلة كلل افي كاملة وشفافية أمانة امانة للمشكلة دقيق تشخیص وموثوقة أصلية غيار قطع 01551655076 01029662962 9 New Cairo 5th Settlement South Investors Area Area-Plus Plus Mall- B2/208‎'‎">
            <a:extLst>
              <a:ext uri="{FF2B5EF4-FFF2-40B4-BE49-F238E27FC236}">
                <a16:creationId xmlns:a16="http://schemas.microsoft.com/office/drawing/2014/main" id="{FB3A3343-046E-9C27-D7B3-343CAE438C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6703" y="5125998"/>
            <a:ext cx="3055434" cy="2833320"/>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May be an image of ‎text that says '‎مجرد البيع بداية بداي POWER + alutiena New Cairo 5th Settlement- South Investors InvestorsArea- SouthInvestorsArea-PlusMall-B2 Area Plus Mall B2/208 01551655076 01029662962‎'‎">
            <a:extLst>
              <a:ext uri="{FF2B5EF4-FFF2-40B4-BE49-F238E27FC236}">
                <a16:creationId xmlns:a16="http://schemas.microsoft.com/office/drawing/2014/main" id="{369C72BD-D0DE-E9D6-A4B5-7689718644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8043" y="4907638"/>
            <a:ext cx="2889230" cy="2889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78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8">
            <a:extLst>
              <a:ext uri="{FF2B5EF4-FFF2-40B4-BE49-F238E27FC236}">
                <a16:creationId xmlns:a16="http://schemas.microsoft.com/office/drawing/2014/main" id="{4D5F0AAD-564B-0B27-994F-5B287D3E062B}"/>
              </a:ext>
            </a:extLst>
          </p:cNvPr>
          <p:cNvSpPr/>
          <p:nvPr/>
        </p:nvSpPr>
        <p:spPr>
          <a:xfrm>
            <a:off x="554463" y="999554"/>
            <a:ext cx="1696760" cy="212050"/>
          </a:xfrm>
          <a:prstGeom prst="rect">
            <a:avLst/>
          </a:prstGeom>
          <a:noFill/>
          <a:ln/>
        </p:spPr>
        <p:txBody>
          <a:bodyPr wrap="none" lIns="0" tIns="0" rIns="0" bIns="0" rtlCol="0" anchor="t"/>
          <a:lstStyle/>
          <a:p>
            <a:pPr marL="0" indent="0" algn="l">
              <a:lnSpc>
                <a:spcPts val="1650"/>
              </a:lnSpc>
              <a:buNone/>
            </a:pPr>
            <a:r>
              <a:rPr lang="en-US" sz="2000" dirty="0">
                <a:solidFill>
                  <a:srgbClr val="FFD9BE"/>
                </a:solidFill>
                <a:latin typeface="Quattrocento" pitchFamily="34" charset="0"/>
                <a:ea typeface="Quattrocento" pitchFamily="34" charset="-122"/>
                <a:cs typeface="Quattrocento" pitchFamily="34" charset="-120"/>
              </a:rPr>
              <a:t>Marketing Channels:</a:t>
            </a:r>
            <a:endParaRPr lang="en-US" sz="2000" dirty="0"/>
          </a:p>
        </p:txBody>
      </p:sp>
      <p:sp>
        <p:nvSpPr>
          <p:cNvPr id="3" name="Text 29">
            <a:extLst>
              <a:ext uri="{FF2B5EF4-FFF2-40B4-BE49-F238E27FC236}">
                <a16:creationId xmlns:a16="http://schemas.microsoft.com/office/drawing/2014/main" id="{FF3A6D98-8306-5234-0503-DE094A39F3F6}"/>
              </a:ext>
            </a:extLst>
          </p:cNvPr>
          <p:cNvSpPr/>
          <p:nvPr/>
        </p:nvSpPr>
        <p:spPr>
          <a:xfrm>
            <a:off x="554463" y="1391865"/>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Facebook / Instagram (brand visibility &amp; product posts)</a:t>
            </a:r>
            <a:endParaRPr lang="en-US" sz="2000" dirty="0"/>
          </a:p>
        </p:txBody>
      </p:sp>
      <p:sp>
        <p:nvSpPr>
          <p:cNvPr id="4" name="Text 30">
            <a:extLst>
              <a:ext uri="{FF2B5EF4-FFF2-40B4-BE49-F238E27FC236}">
                <a16:creationId xmlns:a16="http://schemas.microsoft.com/office/drawing/2014/main" id="{E75EC236-62B0-F703-BFBA-223C5BC4B8FE}"/>
              </a:ext>
            </a:extLst>
          </p:cNvPr>
          <p:cNvSpPr/>
          <p:nvPr/>
        </p:nvSpPr>
        <p:spPr>
          <a:xfrm>
            <a:off x="554463" y="1626061"/>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LinkedIn (B2B networking &amp; industry credibility)</a:t>
            </a:r>
            <a:endParaRPr lang="en-US" sz="2000" dirty="0"/>
          </a:p>
        </p:txBody>
      </p:sp>
      <p:sp>
        <p:nvSpPr>
          <p:cNvPr id="5" name="Text 31">
            <a:extLst>
              <a:ext uri="{FF2B5EF4-FFF2-40B4-BE49-F238E27FC236}">
                <a16:creationId xmlns:a16="http://schemas.microsoft.com/office/drawing/2014/main" id="{328D7B9A-EF98-1BBA-2DA0-84D5E0584402}"/>
              </a:ext>
            </a:extLst>
          </p:cNvPr>
          <p:cNvSpPr/>
          <p:nvPr/>
        </p:nvSpPr>
        <p:spPr>
          <a:xfrm>
            <a:off x="554463" y="1860256"/>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WhatsApp Business (direct communication and support)</a:t>
            </a:r>
            <a:endParaRPr lang="en-US" sz="2000" dirty="0"/>
          </a:p>
        </p:txBody>
      </p:sp>
      <p:sp>
        <p:nvSpPr>
          <p:cNvPr id="6" name="Text 32">
            <a:extLst>
              <a:ext uri="{FF2B5EF4-FFF2-40B4-BE49-F238E27FC236}">
                <a16:creationId xmlns:a16="http://schemas.microsoft.com/office/drawing/2014/main" id="{B28C1885-FD1D-1AB3-621D-A52AE1CBC0BB}"/>
              </a:ext>
            </a:extLst>
          </p:cNvPr>
          <p:cNvSpPr/>
          <p:nvPr/>
        </p:nvSpPr>
        <p:spPr>
          <a:xfrm>
            <a:off x="554463" y="2094452"/>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YouTube / Reels (tutorials and demo videos)</a:t>
            </a:r>
            <a:endParaRPr lang="en-US" sz="2000" dirty="0"/>
          </a:p>
        </p:txBody>
      </p:sp>
      <p:sp>
        <p:nvSpPr>
          <p:cNvPr id="7" name="Text 33">
            <a:extLst>
              <a:ext uri="{FF2B5EF4-FFF2-40B4-BE49-F238E27FC236}">
                <a16:creationId xmlns:a16="http://schemas.microsoft.com/office/drawing/2014/main" id="{B70FF767-04B5-7DD7-761F-B362C3C6BCAB}"/>
              </a:ext>
            </a:extLst>
          </p:cNvPr>
          <p:cNvSpPr/>
          <p:nvPr/>
        </p:nvSpPr>
        <p:spPr>
          <a:xfrm>
            <a:off x="554463" y="2466880"/>
            <a:ext cx="1696760" cy="212050"/>
          </a:xfrm>
          <a:prstGeom prst="rect">
            <a:avLst/>
          </a:prstGeom>
          <a:noFill/>
          <a:ln/>
        </p:spPr>
        <p:txBody>
          <a:bodyPr wrap="none" lIns="0" tIns="0" rIns="0" bIns="0" rtlCol="0" anchor="t"/>
          <a:lstStyle/>
          <a:p>
            <a:pPr marL="0" indent="0" algn="l">
              <a:lnSpc>
                <a:spcPts val="1650"/>
              </a:lnSpc>
              <a:buNone/>
            </a:pPr>
            <a:r>
              <a:rPr lang="en-US" sz="2000" dirty="0">
                <a:solidFill>
                  <a:srgbClr val="FFD9BE"/>
                </a:solidFill>
                <a:latin typeface="Quattrocento" pitchFamily="34" charset="0"/>
                <a:ea typeface="Quattrocento" pitchFamily="34" charset="-122"/>
                <a:cs typeface="Quattrocento" pitchFamily="34" charset="-120"/>
              </a:rPr>
              <a:t>Tone of Voice:</a:t>
            </a:r>
            <a:endParaRPr lang="en-US" sz="2000" dirty="0"/>
          </a:p>
        </p:txBody>
      </p:sp>
      <p:sp>
        <p:nvSpPr>
          <p:cNvPr id="8" name="Text 34">
            <a:extLst>
              <a:ext uri="{FF2B5EF4-FFF2-40B4-BE49-F238E27FC236}">
                <a16:creationId xmlns:a16="http://schemas.microsoft.com/office/drawing/2014/main" id="{46B2389B-E277-63D8-8D3E-727ABFC2E159}"/>
              </a:ext>
            </a:extLst>
          </p:cNvPr>
          <p:cNvSpPr/>
          <p:nvPr/>
        </p:nvSpPr>
        <p:spPr>
          <a:xfrm>
            <a:off x="554463" y="2859191"/>
            <a:ext cx="13789104" cy="192167"/>
          </a:xfrm>
          <a:prstGeom prst="rect">
            <a:avLst/>
          </a:prstGeom>
          <a:noFill/>
          <a:ln/>
        </p:spPr>
        <p:txBody>
          <a:bodyPr wrap="none" lIns="0" tIns="0" rIns="0" bIns="0" rtlCol="0" anchor="t"/>
          <a:lstStyle/>
          <a:p>
            <a:pPr marL="0" indent="0" algn="l">
              <a:lnSpc>
                <a:spcPts val="1500"/>
              </a:lnSpc>
              <a:buNone/>
            </a:pPr>
            <a:r>
              <a:rPr lang="en-US" sz="2000" dirty="0">
                <a:solidFill>
                  <a:srgbClr val="F9EEE7"/>
                </a:solidFill>
                <a:latin typeface="Quattrocento" pitchFamily="34" charset="0"/>
                <a:ea typeface="Quattrocento" pitchFamily="34" charset="-122"/>
                <a:cs typeface="Quattrocento" pitchFamily="34" charset="-120"/>
              </a:rPr>
              <a:t>Technical, trustworthy, supportive, and informative.</a:t>
            </a:r>
            <a:endParaRPr lang="en-US" sz="2000" dirty="0"/>
          </a:p>
        </p:txBody>
      </p:sp>
      <p:sp>
        <p:nvSpPr>
          <p:cNvPr id="9" name="Text 35">
            <a:extLst>
              <a:ext uri="{FF2B5EF4-FFF2-40B4-BE49-F238E27FC236}">
                <a16:creationId xmlns:a16="http://schemas.microsoft.com/office/drawing/2014/main" id="{94323571-4F2A-22FD-4302-A75A675BB84D}"/>
              </a:ext>
            </a:extLst>
          </p:cNvPr>
          <p:cNvSpPr/>
          <p:nvPr/>
        </p:nvSpPr>
        <p:spPr>
          <a:xfrm>
            <a:off x="554463" y="3231618"/>
            <a:ext cx="2625447" cy="212050"/>
          </a:xfrm>
          <a:prstGeom prst="rect">
            <a:avLst/>
          </a:prstGeom>
          <a:noFill/>
          <a:ln/>
        </p:spPr>
        <p:txBody>
          <a:bodyPr wrap="none" lIns="0" tIns="0" rIns="0" bIns="0" rtlCol="0" anchor="t"/>
          <a:lstStyle/>
          <a:p>
            <a:pPr marL="0" indent="0" algn="l">
              <a:lnSpc>
                <a:spcPts val="1650"/>
              </a:lnSpc>
              <a:buNone/>
            </a:pPr>
            <a:r>
              <a:rPr lang="en-US" sz="2000" dirty="0">
                <a:solidFill>
                  <a:srgbClr val="FFD9BE"/>
                </a:solidFill>
                <a:latin typeface="Quattrocento" pitchFamily="34" charset="0"/>
                <a:ea typeface="Quattrocento" pitchFamily="34" charset="-122"/>
                <a:cs typeface="Quattrocento" pitchFamily="34" charset="-120"/>
              </a:rPr>
              <a:t>Key Performance Indicators (KPIs):</a:t>
            </a:r>
            <a:endParaRPr lang="en-US" sz="2000" dirty="0"/>
          </a:p>
        </p:txBody>
      </p:sp>
      <p:sp>
        <p:nvSpPr>
          <p:cNvPr id="10" name="Text 36">
            <a:extLst>
              <a:ext uri="{FF2B5EF4-FFF2-40B4-BE49-F238E27FC236}">
                <a16:creationId xmlns:a16="http://schemas.microsoft.com/office/drawing/2014/main" id="{62111229-79B1-628F-326B-EBBEB38F5D7B}"/>
              </a:ext>
            </a:extLst>
          </p:cNvPr>
          <p:cNvSpPr/>
          <p:nvPr/>
        </p:nvSpPr>
        <p:spPr>
          <a:xfrm>
            <a:off x="554463" y="3623929"/>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Follower &amp; engagement growth</a:t>
            </a:r>
            <a:endParaRPr lang="en-US" sz="2000" dirty="0"/>
          </a:p>
        </p:txBody>
      </p:sp>
      <p:sp>
        <p:nvSpPr>
          <p:cNvPr id="11" name="Text 37">
            <a:extLst>
              <a:ext uri="{FF2B5EF4-FFF2-40B4-BE49-F238E27FC236}">
                <a16:creationId xmlns:a16="http://schemas.microsoft.com/office/drawing/2014/main" id="{3C00CBAA-1F5D-D543-B6E7-47B8539F60C3}"/>
              </a:ext>
            </a:extLst>
          </p:cNvPr>
          <p:cNvSpPr/>
          <p:nvPr/>
        </p:nvSpPr>
        <p:spPr>
          <a:xfrm>
            <a:off x="554463" y="3858125"/>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Inquiries / Leads from social media</a:t>
            </a:r>
            <a:endParaRPr lang="en-US" sz="2000" dirty="0"/>
          </a:p>
        </p:txBody>
      </p:sp>
      <p:sp>
        <p:nvSpPr>
          <p:cNvPr id="12" name="Text 38">
            <a:extLst>
              <a:ext uri="{FF2B5EF4-FFF2-40B4-BE49-F238E27FC236}">
                <a16:creationId xmlns:a16="http://schemas.microsoft.com/office/drawing/2014/main" id="{C49AD210-3E93-7B82-6400-D94741B76B75}"/>
              </a:ext>
            </a:extLst>
          </p:cNvPr>
          <p:cNvSpPr/>
          <p:nvPr/>
        </p:nvSpPr>
        <p:spPr>
          <a:xfrm>
            <a:off x="554463" y="4092321"/>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Conversion to sales or maintenance requests</a:t>
            </a:r>
            <a:endParaRPr lang="en-US" sz="2000" dirty="0"/>
          </a:p>
        </p:txBody>
      </p:sp>
      <p:sp>
        <p:nvSpPr>
          <p:cNvPr id="13" name="Text 39">
            <a:extLst>
              <a:ext uri="{FF2B5EF4-FFF2-40B4-BE49-F238E27FC236}">
                <a16:creationId xmlns:a16="http://schemas.microsoft.com/office/drawing/2014/main" id="{268C7550-53C3-1232-2F0F-C1A4A1A87873}"/>
              </a:ext>
            </a:extLst>
          </p:cNvPr>
          <p:cNvSpPr/>
          <p:nvPr/>
        </p:nvSpPr>
        <p:spPr>
          <a:xfrm>
            <a:off x="554463" y="4326517"/>
            <a:ext cx="13789104" cy="192167"/>
          </a:xfrm>
          <a:prstGeom prst="rect">
            <a:avLst/>
          </a:prstGeom>
          <a:noFill/>
          <a:ln/>
        </p:spPr>
        <p:txBody>
          <a:bodyPr wrap="none" lIns="0" tIns="0" rIns="0" bIns="0" rtlCol="0" anchor="t"/>
          <a:lstStyle/>
          <a:p>
            <a:pPr marL="342900" indent="-342900" algn="l">
              <a:lnSpc>
                <a:spcPts val="1500"/>
              </a:lnSpc>
              <a:buSzPct val="100000"/>
              <a:buChar char="•"/>
            </a:pPr>
            <a:r>
              <a:rPr lang="en-US" sz="2000" dirty="0">
                <a:solidFill>
                  <a:srgbClr val="F9EEE7"/>
                </a:solidFill>
                <a:latin typeface="Quattrocento" pitchFamily="34" charset="0"/>
                <a:ea typeface="Quattrocento" pitchFamily="34" charset="-122"/>
                <a:cs typeface="Quattrocento" pitchFamily="34" charset="-120"/>
              </a:rPr>
              <a:t>Brand mentions and awareness level</a:t>
            </a:r>
            <a:endParaRPr lang="en-US" sz="2000" dirty="0"/>
          </a:p>
        </p:txBody>
      </p:sp>
      <p:sp>
        <p:nvSpPr>
          <p:cNvPr id="15" name="TextBox 14">
            <a:extLst>
              <a:ext uri="{FF2B5EF4-FFF2-40B4-BE49-F238E27FC236}">
                <a16:creationId xmlns:a16="http://schemas.microsoft.com/office/drawing/2014/main" id="{07A5BBCF-9E59-6EE3-9802-720BB8A5445D}"/>
              </a:ext>
            </a:extLst>
          </p:cNvPr>
          <p:cNvSpPr txBox="1"/>
          <p:nvPr/>
        </p:nvSpPr>
        <p:spPr>
          <a:xfrm>
            <a:off x="468352" y="339999"/>
            <a:ext cx="7315200" cy="461280"/>
          </a:xfrm>
          <a:prstGeom prst="rect">
            <a:avLst/>
          </a:prstGeom>
          <a:noFill/>
        </p:spPr>
        <p:txBody>
          <a:bodyPr wrap="square">
            <a:spAutoFit/>
          </a:bodyPr>
          <a:lstStyle/>
          <a:p>
            <a:pPr marL="0" indent="0" algn="l">
              <a:lnSpc>
                <a:spcPts val="2750"/>
              </a:lnSpc>
              <a:buNone/>
            </a:pPr>
            <a:r>
              <a:rPr lang="en-US" sz="2800" dirty="0">
                <a:solidFill>
                  <a:srgbClr val="FFD9BE"/>
                </a:solidFill>
                <a:latin typeface="Quattrocento" pitchFamily="34" charset="0"/>
                <a:ea typeface="Quattrocento" pitchFamily="34" charset="-122"/>
                <a:cs typeface="Quattrocento" pitchFamily="34" charset="-120"/>
              </a:rPr>
              <a:t>Marketing Plan &amp; Objectives</a:t>
            </a:r>
            <a:endParaRPr lang="en-US" sz="2800" dirty="0"/>
          </a:p>
        </p:txBody>
      </p:sp>
      <p:pic>
        <p:nvPicPr>
          <p:cNvPr id="16" name="Picture 6" descr="May be an image of ‎text that says '‎(PF=1) القدرة معامل معا القدرة مهدرة؟ تكلفة أم حقيقية كفاءة Available PF PF1.0 1.0 Actual PF 0.65 MISMATCH ሌቃ POWER olu luti lone New Cairo 5th NewCairo-SthSettlement- Settlement ScuthInwestarsArea-PusMol-82208 South Investors rea outhInvestorsArea -PlusMall Plus PlusMall Mall B2/208 01551655076 01029662962‎'‎">
            <a:extLst>
              <a:ext uri="{FF2B5EF4-FFF2-40B4-BE49-F238E27FC236}">
                <a16:creationId xmlns:a16="http://schemas.microsoft.com/office/drawing/2014/main" id="{9DEB693D-1CB4-1B7E-23D0-46D96A59D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575" y="4964733"/>
            <a:ext cx="3075296" cy="307529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ay be an image of ‎text that says '‎تایوان العالم في لوجيا التكنو عاصمة G GIGABYTE A ASUS POWER Sulul ulutions 9 msi New NewCairo-5tSettlement- Cairo 5th Settlement- South Investors Area Plus PlusMal Mall B2/208 01551655076 01029662962‎'‎">
            <a:extLst>
              <a:ext uri="{FF2B5EF4-FFF2-40B4-BE49-F238E27FC236}">
                <a16:creationId xmlns:a16="http://schemas.microsoft.com/office/drawing/2014/main" id="{6E9CA028-0F5B-DAD4-8CC2-842D81E6D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573" y="4964733"/>
            <a:ext cx="3075296" cy="307529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May be an image of ‎text that says '‎樂 جعة TA TRAP HEEIT NI!TININ ااس اا POWER 6ου solutions ions 豊10101010 NewCairo-5fhSettlerment- New Cairo -5th Settlement South Investors SouthInvestorsArea Area PlusMall- B2/208 : 01551655076 01029662962‎'‎">
            <a:extLst>
              <a:ext uri="{FF2B5EF4-FFF2-40B4-BE49-F238E27FC236}">
                <a16:creationId xmlns:a16="http://schemas.microsoft.com/office/drawing/2014/main" id="{97BB8D78-79CE-6BF4-8AAB-2544E17B4B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71632" y="5053625"/>
            <a:ext cx="3255356" cy="289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115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6">
            <a:extLst>
              <a:ext uri="{FF2B5EF4-FFF2-40B4-BE49-F238E27FC236}">
                <a16:creationId xmlns:a16="http://schemas.microsoft.com/office/drawing/2014/main" id="{C754179E-93CB-3218-C3AD-4E6D9A7A1286}"/>
              </a:ext>
            </a:extLst>
          </p:cNvPr>
          <p:cNvSpPr/>
          <p:nvPr/>
        </p:nvSpPr>
        <p:spPr>
          <a:xfrm>
            <a:off x="494467" y="959818"/>
            <a:ext cx="6750129" cy="423863"/>
          </a:xfrm>
          <a:prstGeom prst="roundRect">
            <a:avLst>
              <a:gd name="adj" fmla="val 480064"/>
            </a:avLst>
          </a:prstGeom>
          <a:solidFill>
            <a:srgbClr val="315251"/>
          </a:solidFill>
          <a:ln/>
        </p:spPr>
        <p:txBody>
          <a:bodyPr/>
          <a:lstStyle/>
          <a:p>
            <a:endParaRPr lang="en-US"/>
          </a:p>
        </p:txBody>
      </p:sp>
      <p:sp>
        <p:nvSpPr>
          <p:cNvPr id="5" name="Text 17">
            <a:extLst>
              <a:ext uri="{FF2B5EF4-FFF2-40B4-BE49-F238E27FC236}">
                <a16:creationId xmlns:a16="http://schemas.microsoft.com/office/drawing/2014/main" id="{CD608B99-E678-FD60-6131-78615FB38931}"/>
              </a:ext>
            </a:extLst>
          </p:cNvPr>
          <p:cNvSpPr/>
          <p:nvPr/>
        </p:nvSpPr>
        <p:spPr>
          <a:xfrm>
            <a:off x="3763566" y="1039232"/>
            <a:ext cx="211931" cy="264914"/>
          </a:xfrm>
          <a:prstGeom prst="rect">
            <a:avLst/>
          </a:prstGeom>
          <a:noFill/>
          <a:ln/>
        </p:spPr>
        <p:txBody>
          <a:bodyPr wrap="none" lIns="0" tIns="0" rIns="0" bIns="0" rtlCol="0" anchor="t"/>
          <a:lstStyle/>
          <a:p>
            <a:pPr marL="0" indent="0" algn="l">
              <a:lnSpc>
                <a:spcPts val="1650"/>
              </a:lnSpc>
              <a:buNone/>
            </a:pPr>
            <a:r>
              <a:rPr lang="en-US" sz="1650" dirty="0">
                <a:solidFill>
                  <a:srgbClr val="F9EEE7"/>
                </a:solidFill>
                <a:latin typeface="Quattrocento" pitchFamily="34" charset="0"/>
                <a:ea typeface="Quattrocento" pitchFamily="34" charset="-122"/>
                <a:cs typeface="Quattrocento" pitchFamily="34" charset="-120"/>
              </a:rPr>
              <a:t>1</a:t>
            </a:r>
            <a:endParaRPr lang="en-US" sz="1650" dirty="0"/>
          </a:p>
        </p:txBody>
      </p:sp>
      <p:sp>
        <p:nvSpPr>
          <p:cNvPr id="6" name="Text 18">
            <a:extLst>
              <a:ext uri="{FF2B5EF4-FFF2-40B4-BE49-F238E27FC236}">
                <a16:creationId xmlns:a16="http://schemas.microsoft.com/office/drawing/2014/main" id="{5BCDE8B5-49FF-4A28-62DF-09A592208DF6}"/>
              </a:ext>
            </a:extLst>
          </p:cNvPr>
          <p:cNvSpPr/>
          <p:nvPr/>
        </p:nvSpPr>
        <p:spPr>
          <a:xfrm>
            <a:off x="635675" y="1524888"/>
            <a:ext cx="1662351" cy="207764"/>
          </a:xfrm>
          <a:prstGeom prst="rect">
            <a:avLst/>
          </a:prstGeom>
          <a:noFill/>
          <a:ln/>
        </p:spPr>
        <p:txBody>
          <a:bodyPr wrap="none" lIns="0" tIns="0" rIns="0" bIns="0" rtlCol="0" anchor="t"/>
          <a:lstStyle/>
          <a:p>
            <a:pPr marL="0" indent="0" algn="l">
              <a:lnSpc>
                <a:spcPts val="1600"/>
              </a:lnSpc>
              <a:buNone/>
            </a:pPr>
            <a:r>
              <a:rPr lang="en-US" sz="1600" dirty="0">
                <a:solidFill>
                  <a:srgbClr val="F9EEE7"/>
                </a:solidFill>
                <a:latin typeface="Quattrocento" pitchFamily="34" charset="0"/>
                <a:ea typeface="Quattrocento" pitchFamily="34" charset="-122"/>
                <a:cs typeface="Quattrocento" pitchFamily="34" charset="-120"/>
              </a:rPr>
              <a:t>Phase 1: Awareness</a:t>
            </a:r>
            <a:endParaRPr lang="en-US" sz="1600" dirty="0"/>
          </a:p>
        </p:txBody>
      </p:sp>
      <p:sp>
        <p:nvSpPr>
          <p:cNvPr id="7" name="Text 19">
            <a:extLst>
              <a:ext uri="{FF2B5EF4-FFF2-40B4-BE49-F238E27FC236}">
                <a16:creationId xmlns:a16="http://schemas.microsoft.com/office/drawing/2014/main" id="{3375CBF1-49F3-3459-4049-831FBDEE912A}"/>
              </a:ext>
            </a:extLst>
          </p:cNvPr>
          <p:cNvSpPr/>
          <p:nvPr/>
        </p:nvSpPr>
        <p:spPr>
          <a:xfrm>
            <a:off x="635675" y="1817425"/>
            <a:ext cx="6467713" cy="226100"/>
          </a:xfrm>
          <a:prstGeom prst="rect">
            <a:avLst/>
          </a:prstGeom>
          <a:noFill/>
          <a:ln/>
        </p:spPr>
        <p:txBody>
          <a:bodyPr wrap="none" lIns="0" tIns="0" rIns="0" bIns="0" rtlCol="0" anchor="t"/>
          <a:lstStyle/>
          <a:p>
            <a:pPr marL="0" indent="0" algn="l">
              <a:lnSpc>
                <a:spcPts val="1750"/>
              </a:lnSpc>
              <a:buNone/>
            </a:pPr>
            <a:r>
              <a:rPr lang="en-US" sz="1600" dirty="0">
                <a:solidFill>
                  <a:srgbClr val="F9EEE7"/>
                </a:solidFill>
                <a:latin typeface="Quattrocento" pitchFamily="34" charset="0"/>
                <a:ea typeface="Quattrocento" pitchFamily="34" charset="-122"/>
                <a:cs typeface="Quattrocento" pitchFamily="34" charset="-120"/>
              </a:rPr>
              <a:t>Introduce HPS and its solutions.</a:t>
            </a:r>
            <a:endParaRPr lang="en-US" sz="1600" dirty="0"/>
          </a:p>
        </p:txBody>
      </p:sp>
      <p:sp>
        <p:nvSpPr>
          <p:cNvPr id="8" name="Shape 20">
            <a:extLst>
              <a:ext uri="{FF2B5EF4-FFF2-40B4-BE49-F238E27FC236}">
                <a16:creationId xmlns:a16="http://schemas.microsoft.com/office/drawing/2014/main" id="{82153BA6-2E52-023A-D9ED-C56E60CE1180}"/>
              </a:ext>
            </a:extLst>
          </p:cNvPr>
          <p:cNvSpPr/>
          <p:nvPr/>
        </p:nvSpPr>
        <p:spPr>
          <a:xfrm>
            <a:off x="7385804" y="959818"/>
            <a:ext cx="6750129" cy="423863"/>
          </a:xfrm>
          <a:prstGeom prst="roundRect">
            <a:avLst>
              <a:gd name="adj" fmla="val 480064"/>
            </a:avLst>
          </a:prstGeom>
          <a:solidFill>
            <a:srgbClr val="315251"/>
          </a:solidFill>
          <a:ln/>
        </p:spPr>
        <p:txBody>
          <a:bodyPr/>
          <a:lstStyle/>
          <a:p>
            <a:endParaRPr lang="en-US"/>
          </a:p>
        </p:txBody>
      </p:sp>
      <p:sp>
        <p:nvSpPr>
          <p:cNvPr id="9" name="Text 21">
            <a:extLst>
              <a:ext uri="{FF2B5EF4-FFF2-40B4-BE49-F238E27FC236}">
                <a16:creationId xmlns:a16="http://schemas.microsoft.com/office/drawing/2014/main" id="{8142FE8C-88C5-5CAC-B527-BBF860976BF7}"/>
              </a:ext>
            </a:extLst>
          </p:cNvPr>
          <p:cNvSpPr/>
          <p:nvPr/>
        </p:nvSpPr>
        <p:spPr>
          <a:xfrm>
            <a:off x="10654903" y="1039232"/>
            <a:ext cx="211931" cy="264914"/>
          </a:xfrm>
          <a:prstGeom prst="rect">
            <a:avLst/>
          </a:prstGeom>
          <a:noFill/>
          <a:ln/>
        </p:spPr>
        <p:txBody>
          <a:bodyPr wrap="none" lIns="0" tIns="0" rIns="0" bIns="0" rtlCol="0" anchor="t"/>
          <a:lstStyle/>
          <a:p>
            <a:pPr marL="0" indent="0" algn="l">
              <a:lnSpc>
                <a:spcPts val="1650"/>
              </a:lnSpc>
              <a:buNone/>
            </a:pPr>
            <a:r>
              <a:rPr lang="en-US" sz="1650" dirty="0">
                <a:solidFill>
                  <a:srgbClr val="F9EEE7"/>
                </a:solidFill>
                <a:latin typeface="Quattrocento" pitchFamily="34" charset="0"/>
                <a:ea typeface="Quattrocento" pitchFamily="34" charset="-122"/>
                <a:cs typeface="Quattrocento" pitchFamily="34" charset="-120"/>
              </a:rPr>
              <a:t>2</a:t>
            </a:r>
            <a:endParaRPr lang="en-US" sz="1650" dirty="0"/>
          </a:p>
        </p:txBody>
      </p:sp>
      <p:sp>
        <p:nvSpPr>
          <p:cNvPr id="10" name="Text 22">
            <a:extLst>
              <a:ext uri="{FF2B5EF4-FFF2-40B4-BE49-F238E27FC236}">
                <a16:creationId xmlns:a16="http://schemas.microsoft.com/office/drawing/2014/main" id="{9393A0C7-E945-E859-0289-5BDF9F280776}"/>
              </a:ext>
            </a:extLst>
          </p:cNvPr>
          <p:cNvSpPr/>
          <p:nvPr/>
        </p:nvSpPr>
        <p:spPr>
          <a:xfrm>
            <a:off x="7527012" y="1524888"/>
            <a:ext cx="1696045" cy="207764"/>
          </a:xfrm>
          <a:prstGeom prst="rect">
            <a:avLst/>
          </a:prstGeom>
          <a:noFill/>
          <a:ln/>
        </p:spPr>
        <p:txBody>
          <a:bodyPr wrap="none" lIns="0" tIns="0" rIns="0" bIns="0" rtlCol="0" anchor="t"/>
          <a:lstStyle/>
          <a:p>
            <a:pPr marL="0" indent="0" algn="l">
              <a:lnSpc>
                <a:spcPts val="1600"/>
              </a:lnSpc>
              <a:buNone/>
            </a:pPr>
            <a:r>
              <a:rPr lang="en-US" sz="1600" dirty="0">
                <a:solidFill>
                  <a:srgbClr val="F9EEE7"/>
                </a:solidFill>
                <a:latin typeface="Quattrocento" pitchFamily="34" charset="0"/>
                <a:ea typeface="Quattrocento" pitchFamily="34" charset="-122"/>
                <a:cs typeface="Quattrocento" pitchFamily="34" charset="-120"/>
              </a:rPr>
              <a:t>Phase 2: Consideration</a:t>
            </a:r>
            <a:endParaRPr lang="en-US" sz="1600" dirty="0"/>
          </a:p>
        </p:txBody>
      </p:sp>
      <p:sp>
        <p:nvSpPr>
          <p:cNvPr id="11" name="Text 23">
            <a:extLst>
              <a:ext uri="{FF2B5EF4-FFF2-40B4-BE49-F238E27FC236}">
                <a16:creationId xmlns:a16="http://schemas.microsoft.com/office/drawing/2014/main" id="{4A80058D-4C83-A643-E4E4-A187D2EDB732}"/>
              </a:ext>
            </a:extLst>
          </p:cNvPr>
          <p:cNvSpPr/>
          <p:nvPr/>
        </p:nvSpPr>
        <p:spPr>
          <a:xfrm>
            <a:off x="7527012" y="1817425"/>
            <a:ext cx="6467713" cy="226100"/>
          </a:xfrm>
          <a:prstGeom prst="rect">
            <a:avLst/>
          </a:prstGeom>
          <a:noFill/>
          <a:ln/>
        </p:spPr>
        <p:txBody>
          <a:bodyPr wrap="none" lIns="0" tIns="0" rIns="0" bIns="0" rtlCol="0" anchor="t"/>
          <a:lstStyle/>
          <a:p>
            <a:pPr marL="0" indent="0" algn="l">
              <a:lnSpc>
                <a:spcPts val="1750"/>
              </a:lnSpc>
              <a:buNone/>
            </a:pPr>
            <a:r>
              <a:rPr lang="en-US" sz="1600" dirty="0">
                <a:solidFill>
                  <a:srgbClr val="F9EEE7"/>
                </a:solidFill>
                <a:latin typeface="Quattrocento" pitchFamily="34" charset="0"/>
                <a:ea typeface="Quattrocento" pitchFamily="34" charset="-122"/>
                <a:cs typeface="Quattrocento" pitchFamily="34" charset="-120"/>
              </a:rPr>
              <a:t>Compare eko+ to imported devices through educational content.</a:t>
            </a:r>
            <a:endParaRPr lang="en-US" sz="1600" dirty="0"/>
          </a:p>
        </p:txBody>
      </p:sp>
      <p:sp>
        <p:nvSpPr>
          <p:cNvPr id="12" name="Shape 24">
            <a:extLst>
              <a:ext uri="{FF2B5EF4-FFF2-40B4-BE49-F238E27FC236}">
                <a16:creationId xmlns:a16="http://schemas.microsoft.com/office/drawing/2014/main" id="{E3328A0E-7FDF-DDC5-7BFB-3A00DE6AEBEB}"/>
              </a:ext>
            </a:extLst>
          </p:cNvPr>
          <p:cNvSpPr/>
          <p:nvPr/>
        </p:nvSpPr>
        <p:spPr>
          <a:xfrm>
            <a:off x="494467" y="2325941"/>
            <a:ext cx="6750129" cy="423863"/>
          </a:xfrm>
          <a:prstGeom prst="roundRect">
            <a:avLst>
              <a:gd name="adj" fmla="val 480064"/>
            </a:avLst>
          </a:prstGeom>
          <a:solidFill>
            <a:srgbClr val="315251"/>
          </a:solidFill>
          <a:ln/>
        </p:spPr>
        <p:txBody>
          <a:bodyPr/>
          <a:lstStyle/>
          <a:p>
            <a:endParaRPr lang="en-US"/>
          </a:p>
        </p:txBody>
      </p:sp>
      <p:sp>
        <p:nvSpPr>
          <p:cNvPr id="13" name="Text 25">
            <a:extLst>
              <a:ext uri="{FF2B5EF4-FFF2-40B4-BE49-F238E27FC236}">
                <a16:creationId xmlns:a16="http://schemas.microsoft.com/office/drawing/2014/main" id="{AB53BFFC-0AF3-182D-35F9-0685A947068F}"/>
              </a:ext>
            </a:extLst>
          </p:cNvPr>
          <p:cNvSpPr/>
          <p:nvPr/>
        </p:nvSpPr>
        <p:spPr>
          <a:xfrm>
            <a:off x="3763566" y="2405355"/>
            <a:ext cx="211931" cy="264914"/>
          </a:xfrm>
          <a:prstGeom prst="rect">
            <a:avLst/>
          </a:prstGeom>
          <a:noFill/>
          <a:ln/>
        </p:spPr>
        <p:txBody>
          <a:bodyPr wrap="none" lIns="0" tIns="0" rIns="0" bIns="0" rtlCol="0" anchor="t"/>
          <a:lstStyle/>
          <a:p>
            <a:pPr marL="0" indent="0" algn="l">
              <a:lnSpc>
                <a:spcPts val="1650"/>
              </a:lnSpc>
              <a:buNone/>
            </a:pPr>
            <a:r>
              <a:rPr lang="en-US" sz="1650" dirty="0">
                <a:solidFill>
                  <a:srgbClr val="F9EEE7"/>
                </a:solidFill>
                <a:latin typeface="Quattrocento" pitchFamily="34" charset="0"/>
                <a:ea typeface="Quattrocento" pitchFamily="34" charset="-122"/>
                <a:cs typeface="Quattrocento" pitchFamily="34" charset="-120"/>
              </a:rPr>
              <a:t>3</a:t>
            </a:r>
            <a:endParaRPr lang="en-US" sz="1650" dirty="0"/>
          </a:p>
        </p:txBody>
      </p:sp>
      <p:sp>
        <p:nvSpPr>
          <p:cNvPr id="14" name="Text 26">
            <a:extLst>
              <a:ext uri="{FF2B5EF4-FFF2-40B4-BE49-F238E27FC236}">
                <a16:creationId xmlns:a16="http://schemas.microsoft.com/office/drawing/2014/main" id="{02B1BC6B-EE0A-7C57-98D2-73F936A1E188}"/>
              </a:ext>
            </a:extLst>
          </p:cNvPr>
          <p:cNvSpPr/>
          <p:nvPr/>
        </p:nvSpPr>
        <p:spPr>
          <a:xfrm>
            <a:off x="635675" y="2891011"/>
            <a:ext cx="1662351" cy="207764"/>
          </a:xfrm>
          <a:prstGeom prst="rect">
            <a:avLst/>
          </a:prstGeom>
          <a:noFill/>
          <a:ln/>
        </p:spPr>
        <p:txBody>
          <a:bodyPr wrap="none" lIns="0" tIns="0" rIns="0" bIns="0" rtlCol="0" anchor="t"/>
          <a:lstStyle/>
          <a:p>
            <a:pPr marL="0" indent="0" algn="l">
              <a:lnSpc>
                <a:spcPts val="1600"/>
              </a:lnSpc>
              <a:buNone/>
            </a:pPr>
            <a:r>
              <a:rPr lang="en-US" sz="1600" dirty="0">
                <a:solidFill>
                  <a:srgbClr val="F9EEE7"/>
                </a:solidFill>
                <a:latin typeface="Quattrocento" pitchFamily="34" charset="0"/>
                <a:ea typeface="Quattrocento" pitchFamily="34" charset="-122"/>
                <a:cs typeface="Quattrocento" pitchFamily="34" charset="-120"/>
              </a:rPr>
              <a:t>Phase 3: Conversion</a:t>
            </a:r>
            <a:endParaRPr lang="en-US" sz="1600" dirty="0"/>
          </a:p>
        </p:txBody>
      </p:sp>
      <p:sp>
        <p:nvSpPr>
          <p:cNvPr id="15" name="Text 27">
            <a:extLst>
              <a:ext uri="{FF2B5EF4-FFF2-40B4-BE49-F238E27FC236}">
                <a16:creationId xmlns:a16="http://schemas.microsoft.com/office/drawing/2014/main" id="{78266DC2-D86B-7C7C-0095-4BE2687E66E3}"/>
              </a:ext>
            </a:extLst>
          </p:cNvPr>
          <p:cNvSpPr/>
          <p:nvPr/>
        </p:nvSpPr>
        <p:spPr>
          <a:xfrm>
            <a:off x="635675" y="3183548"/>
            <a:ext cx="6467713" cy="226100"/>
          </a:xfrm>
          <a:prstGeom prst="rect">
            <a:avLst/>
          </a:prstGeom>
          <a:noFill/>
          <a:ln/>
        </p:spPr>
        <p:txBody>
          <a:bodyPr wrap="none" lIns="0" tIns="0" rIns="0" bIns="0" rtlCol="0" anchor="t"/>
          <a:lstStyle/>
          <a:p>
            <a:pPr marL="0" indent="0" algn="l">
              <a:lnSpc>
                <a:spcPts val="1750"/>
              </a:lnSpc>
              <a:buNone/>
            </a:pPr>
            <a:r>
              <a:rPr lang="en-US" sz="1600" dirty="0">
                <a:solidFill>
                  <a:srgbClr val="F9EEE7"/>
                </a:solidFill>
                <a:latin typeface="Quattrocento" pitchFamily="34" charset="0"/>
                <a:ea typeface="Quattrocento" pitchFamily="34" charset="-122"/>
                <a:cs typeface="Quattrocento" pitchFamily="34" charset="-120"/>
              </a:rPr>
              <a:t>Highlight offers, maintenance benefits, and contact channels.</a:t>
            </a:r>
            <a:endParaRPr lang="en-US" sz="1600" dirty="0"/>
          </a:p>
        </p:txBody>
      </p:sp>
      <p:sp>
        <p:nvSpPr>
          <p:cNvPr id="16" name="Shape 28">
            <a:extLst>
              <a:ext uri="{FF2B5EF4-FFF2-40B4-BE49-F238E27FC236}">
                <a16:creationId xmlns:a16="http://schemas.microsoft.com/office/drawing/2014/main" id="{68259CCA-A3F2-8204-1A9E-07BABEF74CD2}"/>
              </a:ext>
            </a:extLst>
          </p:cNvPr>
          <p:cNvSpPr/>
          <p:nvPr/>
        </p:nvSpPr>
        <p:spPr>
          <a:xfrm>
            <a:off x="7385804" y="2325941"/>
            <a:ext cx="6750129" cy="423863"/>
          </a:xfrm>
          <a:prstGeom prst="roundRect">
            <a:avLst>
              <a:gd name="adj" fmla="val 480064"/>
            </a:avLst>
          </a:prstGeom>
          <a:solidFill>
            <a:srgbClr val="315251"/>
          </a:solidFill>
          <a:ln/>
        </p:spPr>
        <p:txBody>
          <a:bodyPr/>
          <a:lstStyle/>
          <a:p>
            <a:endParaRPr lang="en-US"/>
          </a:p>
        </p:txBody>
      </p:sp>
      <p:sp>
        <p:nvSpPr>
          <p:cNvPr id="17" name="Text 29">
            <a:extLst>
              <a:ext uri="{FF2B5EF4-FFF2-40B4-BE49-F238E27FC236}">
                <a16:creationId xmlns:a16="http://schemas.microsoft.com/office/drawing/2014/main" id="{0E38D973-F5DE-0C43-78DF-DB440ECF6E8D}"/>
              </a:ext>
            </a:extLst>
          </p:cNvPr>
          <p:cNvSpPr/>
          <p:nvPr/>
        </p:nvSpPr>
        <p:spPr>
          <a:xfrm>
            <a:off x="10654903" y="2405355"/>
            <a:ext cx="211931" cy="264914"/>
          </a:xfrm>
          <a:prstGeom prst="rect">
            <a:avLst/>
          </a:prstGeom>
          <a:noFill/>
          <a:ln/>
        </p:spPr>
        <p:txBody>
          <a:bodyPr wrap="none" lIns="0" tIns="0" rIns="0" bIns="0" rtlCol="0" anchor="t"/>
          <a:lstStyle/>
          <a:p>
            <a:pPr marL="0" indent="0" algn="l">
              <a:lnSpc>
                <a:spcPts val="1650"/>
              </a:lnSpc>
              <a:buNone/>
            </a:pPr>
            <a:r>
              <a:rPr lang="en-US" sz="1650" dirty="0">
                <a:solidFill>
                  <a:srgbClr val="F9EEE7"/>
                </a:solidFill>
                <a:latin typeface="Quattrocento" pitchFamily="34" charset="0"/>
                <a:ea typeface="Quattrocento" pitchFamily="34" charset="-122"/>
                <a:cs typeface="Quattrocento" pitchFamily="34" charset="-120"/>
              </a:rPr>
              <a:t>4</a:t>
            </a:r>
            <a:endParaRPr lang="en-US" sz="1650" dirty="0"/>
          </a:p>
        </p:txBody>
      </p:sp>
      <p:sp>
        <p:nvSpPr>
          <p:cNvPr id="18" name="Text 30">
            <a:extLst>
              <a:ext uri="{FF2B5EF4-FFF2-40B4-BE49-F238E27FC236}">
                <a16:creationId xmlns:a16="http://schemas.microsoft.com/office/drawing/2014/main" id="{0E74486A-9CB7-EA66-2154-A36D39786F7B}"/>
              </a:ext>
            </a:extLst>
          </p:cNvPr>
          <p:cNvSpPr/>
          <p:nvPr/>
        </p:nvSpPr>
        <p:spPr>
          <a:xfrm>
            <a:off x="7527012" y="2891011"/>
            <a:ext cx="1662351" cy="207764"/>
          </a:xfrm>
          <a:prstGeom prst="rect">
            <a:avLst/>
          </a:prstGeom>
          <a:noFill/>
          <a:ln/>
        </p:spPr>
        <p:txBody>
          <a:bodyPr wrap="none" lIns="0" tIns="0" rIns="0" bIns="0" rtlCol="0" anchor="t"/>
          <a:lstStyle/>
          <a:p>
            <a:pPr marL="0" indent="0" algn="l">
              <a:lnSpc>
                <a:spcPts val="1600"/>
              </a:lnSpc>
              <a:buNone/>
            </a:pPr>
            <a:r>
              <a:rPr lang="en-US" sz="1600" dirty="0">
                <a:solidFill>
                  <a:srgbClr val="F9EEE7"/>
                </a:solidFill>
                <a:latin typeface="Quattrocento" pitchFamily="34" charset="0"/>
                <a:ea typeface="Quattrocento" pitchFamily="34" charset="-122"/>
                <a:cs typeface="Quattrocento" pitchFamily="34" charset="-120"/>
              </a:rPr>
              <a:t>Phase 4: Retention</a:t>
            </a:r>
            <a:endParaRPr lang="en-US" sz="1600" dirty="0"/>
          </a:p>
        </p:txBody>
      </p:sp>
      <p:sp>
        <p:nvSpPr>
          <p:cNvPr id="19" name="Text 31">
            <a:extLst>
              <a:ext uri="{FF2B5EF4-FFF2-40B4-BE49-F238E27FC236}">
                <a16:creationId xmlns:a16="http://schemas.microsoft.com/office/drawing/2014/main" id="{1ADC4CDD-02B1-D204-6B82-8F3E8A72B708}"/>
              </a:ext>
            </a:extLst>
          </p:cNvPr>
          <p:cNvSpPr/>
          <p:nvPr/>
        </p:nvSpPr>
        <p:spPr>
          <a:xfrm>
            <a:off x="7527012" y="3183548"/>
            <a:ext cx="6467713" cy="226100"/>
          </a:xfrm>
          <a:prstGeom prst="rect">
            <a:avLst/>
          </a:prstGeom>
          <a:noFill/>
          <a:ln/>
        </p:spPr>
        <p:txBody>
          <a:bodyPr wrap="none" lIns="0" tIns="0" rIns="0" bIns="0" rtlCol="0" anchor="t"/>
          <a:lstStyle/>
          <a:p>
            <a:pPr marL="0" indent="0" algn="l">
              <a:lnSpc>
                <a:spcPts val="1750"/>
              </a:lnSpc>
              <a:buNone/>
            </a:pPr>
            <a:r>
              <a:rPr lang="en-US" sz="1600" dirty="0">
                <a:solidFill>
                  <a:srgbClr val="F9EEE7"/>
                </a:solidFill>
                <a:latin typeface="Quattrocento" pitchFamily="34" charset="0"/>
                <a:ea typeface="Quattrocento" pitchFamily="34" charset="-122"/>
                <a:cs typeface="Quattrocento" pitchFamily="34" charset="-120"/>
              </a:rPr>
              <a:t>Feature client reviews and after-sales success stories.</a:t>
            </a:r>
            <a:endParaRPr lang="en-US" sz="1600" dirty="0"/>
          </a:p>
        </p:txBody>
      </p:sp>
      <p:sp>
        <p:nvSpPr>
          <p:cNvPr id="21" name="TextBox 20">
            <a:extLst>
              <a:ext uri="{FF2B5EF4-FFF2-40B4-BE49-F238E27FC236}">
                <a16:creationId xmlns:a16="http://schemas.microsoft.com/office/drawing/2014/main" id="{0D01143F-C019-CBE1-B017-6141BB70B5FA}"/>
              </a:ext>
            </a:extLst>
          </p:cNvPr>
          <p:cNvSpPr txBox="1"/>
          <p:nvPr/>
        </p:nvSpPr>
        <p:spPr>
          <a:xfrm>
            <a:off x="635675" y="440358"/>
            <a:ext cx="7315200" cy="384336"/>
          </a:xfrm>
          <a:prstGeom prst="rect">
            <a:avLst/>
          </a:prstGeom>
          <a:noFill/>
        </p:spPr>
        <p:txBody>
          <a:bodyPr wrap="square">
            <a:spAutoFit/>
          </a:bodyPr>
          <a:lstStyle/>
          <a:p>
            <a:pPr marL="0" indent="0" algn="l">
              <a:lnSpc>
                <a:spcPts val="1950"/>
              </a:lnSpc>
              <a:buNone/>
            </a:pPr>
            <a:r>
              <a:rPr lang="en-US" sz="2800" dirty="0">
                <a:solidFill>
                  <a:srgbClr val="FFD9BE"/>
                </a:solidFill>
                <a:latin typeface="Quattrocento" pitchFamily="34" charset="0"/>
                <a:ea typeface="Quattrocento" pitchFamily="34" charset="-122"/>
                <a:cs typeface="Quattrocento" pitchFamily="34" charset="-120"/>
              </a:rPr>
              <a:t>Campaign Phases:</a:t>
            </a:r>
            <a:endParaRPr lang="en-US" sz="2800" dirty="0"/>
          </a:p>
        </p:txBody>
      </p:sp>
      <p:pic>
        <p:nvPicPr>
          <p:cNvPr id="24" name="Picture 4" descr="May be an image of ‎text that says '‎י#ן POWER POWERSalutions Salutions الجودة تفصيلة كلل افي كاملة وشفافية أمانة امانة للمشكلة دقيق تشخیص وموثوقة أصلية غيار قطع 01551655076 01029662962 9 New Cairo 5th Settlement South Investors Area Area-Plus Plus Mall- B2/208‎'‎">
            <a:extLst>
              <a:ext uri="{FF2B5EF4-FFF2-40B4-BE49-F238E27FC236}">
                <a16:creationId xmlns:a16="http://schemas.microsoft.com/office/drawing/2014/main" id="{D7EC4D26-0BD1-B0FD-737D-E10FB4305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739" y="3843392"/>
            <a:ext cx="2229801" cy="206770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May be an image of ‎text that says '‎Kp PONEsolutiona POWER selutiona تقف . إنها من أغلى معداتك الصناعية معداتك وحماية لطاق استقرار لضمان الأمثل الحل New Cairo 8 01551655076 01029662962 5th Settlement- South Investors Area Plus Mall- B2/208‎'‎">
            <a:extLst>
              <a:ext uri="{FF2B5EF4-FFF2-40B4-BE49-F238E27FC236}">
                <a16:creationId xmlns:a16="http://schemas.microsoft.com/office/drawing/2014/main" id="{F3C23F66-F2E3-1C75-E1D0-8B522A4BA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1074" y="3575466"/>
            <a:ext cx="2229801" cy="212877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May be an image of ‎text that says '‎مجرد البيع بداية بداي POWER + alutiena New Cairo 5th Settlement- South Investors InvestorsArea- SouthInvestorsArea-PlusMall-B2 Area Plus Mall B2/208 01551655076 01029662962‎'‎">
            <a:extLst>
              <a:ext uri="{FF2B5EF4-FFF2-40B4-BE49-F238E27FC236}">
                <a16:creationId xmlns:a16="http://schemas.microsoft.com/office/drawing/2014/main" id="{F237B53E-A9FA-C8C3-1B18-6BF8990134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8253" y="3526995"/>
            <a:ext cx="2051542" cy="205154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May be an image of ‎text that says '‎樂 جعة TA TRAP HEEIT NI!TININ ااس اا POWER 6ου solutions ions 豊10101010 NewCairo-5fhSettlerment- New Cairo -5th Settlement South Investors SouthInvestorsArea Area PlusMall- B2/208 : 01551655076 01029662962‎'‎">
            <a:extLst>
              <a:ext uri="{FF2B5EF4-FFF2-40B4-BE49-F238E27FC236}">
                <a16:creationId xmlns:a16="http://schemas.microsoft.com/office/drawing/2014/main" id="{68729C78-12B2-9A25-3D56-150408339C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0406" y="5970482"/>
            <a:ext cx="2209134" cy="220913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May be an image of ‎text that says '‎(PF=1) القدرة معامل معا القدرة مهدرة؟ تكلفة أم حقيقية كفاءة Available PF PF1.0 1.0 Actual PF 0.65 MISMATCH ሌቃ POWER olu luti lone New Cairo 5th NewCairo-SthSettlement- Settlement ScuthInwestarsArea-PusMol-82208 South Investors rea outhInvestorsArea -PlusMall Plus PlusMall Mall B2/208 01551655076 01029662962‎'‎">
            <a:extLst>
              <a:ext uri="{FF2B5EF4-FFF2-40B4-BE49-F238E27FC236}">
                <a16:creationId xmlns:a16="http://schemas.microsoft.com/office/drawing/2014/main" id="{1828B884-9355-5986-3723-F198A6C433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1074" y="5930654"/>
            <a:ext cx="2229801" cy="222980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May be an image of ‎text that says '‎تایوان العالم في لوجيا التكنو عاصمة G GIGABYTE A ASUS POWER Sulul ulutions 9 msi New NewCairo-5tSettlement- Cairo 5th Settlement- South Investors Area Plus PlusMal Mall B2/208 01551655076 01029662962‎'‎">
            <a:extLst>
              <a:ext uri="{FF2B5EF4-FFF2-40B4-BE49-F238E27FC236}">
                <a16:creationId xmlns:a16="http://schemas.microsoft.com/office/drawing/2014/main" id="{FF6AE0A6-34E6-460D-7BD5-36EC12FCC2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69318" y="6098470"/>
            <a:ext cx="2130477" cy="2130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748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647B68-D0D4-CB99-C038-CB8D00D5A57F}"/>
              </a:ext>
            </a:extLst>
          </p:cNvPr>
          <p:cNvPicPr>
            <a:picLocks noChangeAspect="1"/>
          </p:cNvPicPr>
          <p:nvPr/>
        </p:nvPicPr>
        <p:blipFill>
          <a:blip r:embed="rId2"/>
          <a:stretch>
            <a:fillRect/>
          </a:stretch>
        </p:blipFill>
        <p:spPr>
          <a:xfrm>
            <a:off x="-74427" y="0"/>
            <a:ext cx="14704828" cy="8229600"/>
          </a:xfrm>
          <a:prstGeom prst="rect">
            <a:avLst/>
          </a:prstGeom>
        </p:spPr>
      </p:pic>
    </p:spTree>
    <p:extLst>
      <p:ext uri="{BB962C8B-B14F-4D97-AF65-F5344CB8AC3E}">
        <p14:creationId xmlns:p14="http://schemas.microsoft.com/office/powerpoint/2010/main" val="2917497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135D3D16-DE3A-4E87-4833-63B8BE33CB26}"/>
              </a:ext>
            </a:extLst>
          </p:cNvPr>
          <p:cNvPicPr>
            <a:picLocks noChangeAspect="1"/>
          </p:cNvPicPr>
          <p:nvPr/>
        </p:nvPicPr>
        <p:blipFill>
          <a:blip r:embed="rId2"/>
          <a:stretch>
            <a:fillRect/>
          </a:stretch>
        </p:blipFill>
        <p:spPr>
          <a:xfrm>
            <a:off x="0" y="36819"/>
            <a:ext cx="14630400" cy="8155962"/>
          </a:xfrm>
          <a:prstGeom prst="rect">
            <a:avLst/>
          </a:prstGeom>
        </p:spPr>
      </p:pic>
    </p:spTree>
    <p:extLst>
      <p:ext uri="{BB962C8B-B14F-4D97-AF65-F5344CB8AC3E}">
        <p14:creationId xmlns:p14="http://schemas.microsoft.com/office/powerpoint/2010/main" val="1893721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3332"/>
        </a:solidFill>
        <a:effectLst/>
      </p:bgPr>
    </p:bg>
    <p:spTree>
      <p:nvGrpSpPr>
        <p:cNvPr id="1" name="Shape 644"/>
        <p:cNvGrpSpPr/>
        <p:nvPr/>
      </p:nvGrpSpPr>
      <p:grpSpPr>
        <a:xfrm>
          <a:off x="0" y="0"/>
          <a:ext cx="0" cy="0"/>
          <a:chOff x="0" y="0"/>
          <a:chExt cx="0" cy="0"/>
        </a:xfrm>
      </p:grpSpPr>
      <p:sp>
        <p:nvSpPr>
          <p:cNvPr id="645" name="Google Shape;645;p24"/>
          <p:cNvSpPr/>
          <p:nvPr/>
        </p:nvSpPr>
        <p:spPr>
          <a:xfrm>
            <a:off x="-609600" y="-274320"/>
            <a:ext cx="16972015" cy="9418435"/>
          </a:xfrm>
          <a:prstGeom prst="rect">
            <a:avLst/>
          </a:prstGeom>
          <a:solidFill>
            <a:schemeClr val="dk1">
              <a:alpha val="40000"/>
            </a:schemeClr>
          </a:solidFill>
          <a:ln>
            <a:noFill/>
          </a:ln>
        </p:spPr>
        <p:txBody>
          <a:bodyPr spcFirstLastPara="1" wrap="square" lIns="73140" tIns="36560" rIns="73140" bIns="36560" anchor="ctr" anchorCtr="0">
            <a:noAutofit/>
          </a:bodyPr>
          <a:lstStyle/>
          <a:p>
            <a:pPr algn="ctr"/>
            <a:endParaRPr sz="1440">
              <a:solidFill>
                <a:schemeClr val="lt1"/>
              </a:solidFill>
              <a:latin typeface="Calibri"/>
              <a:ea typeface="Calibri"/>
              <a:cs typeface="Calibri"/>
              <a:sym typeface="Calibri"/>
            </a:endParaRPr>
          </a:p>
        </p:txBody>
      </p:sp>
      <p:sp>
        <p:nvSpPr>
          <p:cNvPr id="646" name="Google Shape;646;p24"/>
          <p:cNvSpPr txBox="1"/>
          <p:nvPr/>
        </p:nvSpPr>
        <p:spPr>
          <a:xfrm>
            <a:off x="-243840" y="1499712"/>
            <a:ext cx="17160766" cy="9418436"/>
          </a:xfrm>
          <a:prstGeom prst="rect">
            <a:avLst/>
          </a:prstGeom>
          <a:noFill/>
          <a:ln>
            <a:noFill/>
          </a:ln>
        </p:spPr>
        <p:txBody>
          <a:bodyPr spcFirstLastPara="1" wrap="square" lIns="40640" tIns="40640" rIns="40640" bIns="40640" anchor="ctr" anchorCtr="0">
            <a:noAutofit/>
          </a:bodyPr>
          <a:lstStyle/>
          <a:p>
            <a:pPr algn="ctr">
              <a:lnSpc>
                <a:spcPct val="147722"/>
              </a:lnSpc>
            </a:pPr>
            <a:endParaRPr sz="1440">
              <a:solidFill>
                <a:schemeClr val="dk1"/>
              </a:solidFill>
              <a:latin typeface="Calibri"/>
              <a:ea typeface="Calibri"/>
              <a:cs typeface="Calibri"/>
              <a:sym typeface="Calibri"/>
            </a:endParaRPr>
          </a:p>
        </p:txBody>
      </p:sp>
      <p:sp>
        <p:nvSpPr>
          <p:cNvPr id="647" name="Google Shape;647;p24"/>
          <p:cNvSpPr/>
          <p:nvPr/>
        </p:nvSpPr>
        <p:spPr>
          <a:xfrm>
            <a:off x="-304799" y="-213360"/>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3">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648" name="Google Shape;648;p24"/>
          <p:cNvSpPr/>
          <p:nvPr/>
        </p:nvSpPr>
        <p:spPr>
          <a:xfrm>
            <a:off x="13888190" y="-152400"/>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3">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649" name="Google Shape;649;p24"/>
          <p:cNvSpPr/>
          <p:nvPr/>
        </p:nvSpPr>
        <p:spPr>
          <a:xfrm>
            <a:off x="13705310" y="7467600"/>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3">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650" name="Google Shape;650;p24"/>
          <p:cNvSpPr/>
          <p:nvPr/>
        </p:nvSpPr>
        <p:spPr>
          <a:xfrm>
            <a:off x="-304799" y="7480406"/>
            <a:ext cx="1047010" cy="1084474"/>
          </a:xfrm>
          <a:custGeom>
            <a:avLst/>
            <a:gdLst/>
            <a:ahLst/>
            <a:cxnLst/>
            <a:rect l="l" t="t" r="r" b="b"/>
            <a:pathLst>
              <a:path w="1308763" h="1355592" extrusionOk="0">
                <a:moveTo>
                  <a:pt x="0" y="0"/>
                </a:moveTo>
                <a:lnTo>
                  <a:pt x="1308763" y="0"/>
                </a:lnTo>
                <a:lnTo>
                  <a:pt x="1308763" y="1355592"/>
                </a:lnTo>
                <a:lnTo>
                  <a:pt x="0" y="1355592"/>
                </a:lnTo>
                <a:lnTo>
                  <a:pt x="0" y="0"/>
                </a:lnTo>
                <a:close/>
              </a:path>
            </a:pathLst>
          </a:custGeom>
          <a:blipFill rotWithShape="1">
            <a:blip r:embed="rId3">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grpSp>
        <p:nvGrpSpPr>
          <p:cNvPr id="651" name="Google Shape;651;p24"/>
          <p:cNvGrpSpPr/>
          <p:nvPr/>
        </p:nvGrpSpPr>
        <p:grpSpPr>
          <a:xfrm>
            <a:off x="2889002" y="1165769"/>
            <a:ext cx="8546332" cy="5774262"/>
            <a:chOff x="3611252" y="1457211"/>
            <a:chExt cx="10682915" cy="7217827"/>
          </a:xfrm>
        </p:grpSpPr>
        <p:sp>
          <p:nvSpPr>
            <p:cNvPr id="652" name="Google Shape;652;p24"/>
            <p:cNvSpPr/>
            <p:nvPr/>
          </p:nvSpPr>
          <p:spPr>
            <a:xfrm>
              <a:off x="10668000" y="4560238"/>
              <a:ext cx="3626167" cy="4114800"/>
            </a:xfrm>
            <a:custGeom>
              <a:avLst/>
              <a:gdLst/>
              <a:ahLst/>
              <a:cxnLst/>
              <a:rect l="l" t="t" r="r" b="b"/>
              <a:pathLst>
                <a:path w="3626167" h="4114800" extrusionOk="0">
                  <a:moveTo>
                    <a:pt x="0" y="0"/>
                  </a:moveTo>
                  <a:lnTo>
                    <a:pt x="3626168" y="0"/>
                  </a:lnTo>
                  <a:lnTo>
                    <a:pt x="3626168" y="4114800"/>
                  </a:lnTo>
                  <a:lnTo>
                    <a:pt x="0" y="4114800"/>
                  </a:lnTo>
                  <a:lnTo>
                    <a:pt x="0" y="0"/>
                  </a:lnTo>
                  <a:close/>
                </a:path>
              </a:pathLst>
            </a:custGeom>
            <a:blipFill rotWithShape="1">
              <a:blip r:embed="rId4">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sp>
          <p:nvSpPr>
            <p:cNvPr id="653" name="Google Shape;653;p24"/>
            <p:cNvSpPr/>
            <p:nvPr/>
          </p:nvSpPr>
          <p:spPr>
            <a:xfrm>
              <a:off x="3611252" y="1457211"/>
              <a:ext cx="5450066" cy="4114800"/>
            </a:xfrm>
            <a:custGeom>
              <a:avLst/>
              <a:gdLst/>
              <a:ahLst/>
              <a:cxnLst/>
              <a:rect l="l" t="t" r="r" b="b"/>
              <a:pathLst>
                <a:path w="5450066" h="4114800" extrusionOk="0">
                  <a:moveTo>
                    <a:pt x="0" y="0"/>
                  </a:moveTo>
                  <a:lnTo>
                    <a:pt x="5450066" y="0"/>
                  </a:lnTo>
                  <a:lnTo>
                    <a:pt x="5450066" y="4114800"/>
                  </a:lnTo>
                  <a:lnTo>
                    <a:pt x="0" y="4114800"/>
                  </a:lnTo>
                  <a:lnTo>
                    <a:pt x="0" y="0"/>
                  </a:lnTo>
                  <a:close/>
                </a:path>
              </a:pathLst>
            </a:custGeom>
            <a:blipFill rotWithShape="1">
              <a:blip r:embed="rId5">
                <a:alphaModFix/>
              </a:blip>
              <a:stretch>
                <a:fillRect/>
              </a:stretch>
            </a:blipFill>
            <a:ln>
              <a:noFill/>
            </a:ln>
          </p:spPr>
          <p:txBody>
            <a:bodyPr spcFirstLastPara="1" wrap="square" lIns="73140" tIns="36560" rIns="73140" bIns="36560" anchor="t" anchorCtr="0">
              <a:noAutofit/>
            </a:bodyPr>
            <a:lstStyle/>
            <a:p>
              <a:endParaRPr sz="1440">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2492</Words>
  <Application>Microsoft Office PowerPoint</Application>
  <PresentationFormat>Custom</PresentationFormat>
  <Paragraphs>410</Paragraphs>
  <Slides>28</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Times New Roman</vt:lpstr>
      <vt:lpstr>Arial Rounded</vt:lpstr>
      <vt:lpstr>Calibri</vt:lpstr>
      <vt:lpstr>Aptos Narrow</vt:lpstr>
      <vt:lpstr>Arial</vt:lpstr>
      <vt:lpstr>Arial Rounded MT Bold</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Yozzefff</dc:creator>
  <cp:lastModifiedBy>Abdalrahaman Abdalaty</cp:lastModifiedBy>
  <cp:revision>7</cp:revision>
  <dcterms:created xsi:type="dcterms:W3CDTF">2025-11-06T23:49:10Z</dcterms:created>
  <dcterms:modified xsi:type="dcterms:W3CDTF">2025-11-13T16:45:56Z</dcterms:modified>
</cp:coreProperties>
</file>